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image" Target="../media/image-3-21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0" y="0"/>
            <a:ext cx="12191695" cy="142646"/>
          </a:xfrm>
          <a:prstGeom prst="rect">
            <a:avLst/>
          </a:prstGeom>
          <a:solidFill>
            <a:srgbClr val="8B1538"/>
          </a:solidFill>
          <a:ln/>
        </p:spPr>
      </p:sp>
      <p:sp>
        <p:nvSpPr>
          <p:cNvPr id="5" name="Shape 3"/>
          <p:cNvSpPr/>
          <p:nvPr/>
        </p:nvSpPr>
        <p:spPr>
          <a:xfrm>
            <a:off x="9810598" y="4476902"/>
            <a:ext cx="2857500" cy="2857500"/>
          </a:xfrm>
          <a:prstGeom prst="ellipse">
            <a:avLst/>
          </a:prstGeom>
          <a:solidFill>
            <a:srgbClr val="8B1538">
              <a:alpha val="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-476402" y="952805"/>
            <a:ext cx="1904695" cy="1904695"/>
          </a:xfrm>
          <a:prstGeom prst="ellipse">
            <a:avLst/>
          </a:prstGeom>
          <a:solidFill>
            <a:srgbClr val="8B1538">
              <a:alpha val="3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-44" r="-44" t="0" b="0"/>
          <a:stretch/>
        </p:blipFill>
        <p:spPr>
          <a:xfrm>
            <a:off x="4882896" y="430682"/>
            <a:ext cx="514807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828800" y="5698541"/>
            <a:ext cx="853409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Shape 6"/>
          <p:cNvSpPr/>
          <p:nvPr/>
        </p:nvSpPr>
        <p:spPr>
          <a:xfrm>
            <a:off x="4668012" y="6013094"/>
            <a:ext cx="9144" cy="53309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Shape 7"/>
          <p:cNvSpPr/>
          <p:nvPr/>
        </p:nvSpPr>
        <p:spPr>
          <a:xfrm>
            <a:off x="7512710" y="6013094"/>
            <a:ext cx="9144" cy="53309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549494" y="278892"/>
            <a:ext cx="20199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GROUPE</a:t>
            </a:r>
            <a:endParaRPr lang="en-US" sz="2700" dirty="0"/>
          </a:p>
        </p:txBody>
      </p:sp>
      <p:sp>
        <p:nvSpPr>
          <p:cNvPr id="12" name="Text 9"/>
          <p:cNvSpPr txBox="1"/>
          <p:nvPr/>
        </p:nvSpPr>
        <p:spPr>
          <a:xfrm>
            <a:off x="5549494" y="621792"/>
            <a:ext cx="192481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RISHOM</a:t>
            </a:r>
            <a:endParaRPr lang="en-US" sz="2700" dirty="0"/>
          </a:p>
        </p:txBody>
      </p:sp>
      <p:sp>
        <p:nvSpPr>
          <p:cNvPr id="13" name="Text 10"/>
          <p:cNvSpPr txBox="1"/>
          <p:nvPr/>
        </p:nvSpPr>
        <p:spPr>
          <a:xfrm>
            <a:off x="2249424" y="1621231"/>
            <a:ext cx="8125358" cy="2124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8B15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Organigrammes Stratégiques &amp; Structures Organisationnelles</a:t>
            </a:r>
            <a:endParaRPr lang="en-US" sz="4500" dirty="0"/>
          </a:p>
        </p:txBody>
      </p:sp>
      <p:sp>
        <p:nvSpPr>
          <p:cNvPr id="14" name="Text 11"/>
          <p:cNvSpPr txBox="1"/>
          <p:nvPr/>
        </p:nvSpPr>
        <p:spPr>
          <a:xfrm>
            <a:off x="2948940" y="4279392"/>
            <a:ext cx="6467551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Architecture de gouvernance et des entités opérationnelles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5327294" y="4669841"/>
            <a:ext cx="168615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Vision 2026-2030</a:t>
            </a:r>
            <a:endParaRPr lang="en-US" sz="15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rcRect l="-1648" r="-1648" t="0" b="0"/>
          <a:stretch/>
        </p:blipFill>
        <p:spPr>
          <a:xfrm>
            <a:off x="3161081" y="6013094"/>
            <a:ext cx="171907" cy="190195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2679192" y="6322162"/>
            <a:ext cx="12573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Décembre 2025</a:t>
            </a:r>
            <a:endParaRPr lang="en-US" sz="12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995721" y="6013094"/>
            <a:ext cx="190195" cy="19019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220310" y="6322162"/>
            <a:ext cx="185806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www.rishom-group.com</a:t>
            </a:r>
            <a:endParaRPr lang="en-US" sz="12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845906" y="6013094"/>
            <a:ext cx="190195" cy="19019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092440" y="6322162"/>
            <a:ext cx="18196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rishombf@outlook.com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72807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7280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985602" y="105156"/>
            <a:ext cx="1400861" cy="924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8B15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8B1538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86814"/>
            <a:ext cx="1127729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647395"/>
            <a:ext cx="75895" cy="304495"/>
          </a:xfrm>
          <a:prstGeom prst="roundRect">
            <a:avLst>
              <a:gd name="adj" fmla="val 301206"/>
            </a:avLst>
          </a:prstGeom>
          <a:solidFill>
            <a:srgbClr val="8B153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5" b="-45"/>
          <a:stretch/>
        </p:blipFill>
        <p:spPr>
          <a:xfrm>
            <a:off x="5315407" y="2751430"/>
            <a:ext cx="256946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686654" y="2713025"/>
            <a:ext cx="50292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Entités Stratégiques Complémentaires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315407" y="3247034"/>
            <a:ext cx="3114446" cy="1324051"/>
          </a:xfrm>
          <a:prstGeom prst="roundRect">
            <a:avLst>
              <a:gd name="adj" fmla="val 39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315407" y="3247034"/>
            <a:ext cx="38405" cy="1324051"/>
          </a:xfrm>
          <a:prstGeom prst="rect">
            <a:avLst/>
          </a:prstGeom>
          <a:solidFill>
            <a:srgbClr val="8B1538"/>
          </a:solidFill>
          <a:ln/>
        </p:spPr>
      </p:sp>
      <p:sp>
        <p:nvSpPr>
          <p:cNvPr id="12" name="Shape 9"/>
          <p:cNvSpPr/>
          <p:nvPr/>
        </p:nvSpPr>
        <p:spPr>
          <a:xfrm>
            <a:off x="8620049" y="3247034"/>
            <a:ext cx="3114446" cy="1324051"/>
          </a:xfrm>
          <a:prstGeom prst="roundRect">
            <a:avLst>
              <a:gd name="adj" fmla="val 39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620049" y="3247034"/>
            <a:ext cx="38405" cy="1324051"/>
          </a:xfrm>
          <a:prstGeom prst="rect">
            <a:avLst/>
          </a:prstGeom>
          <a:solidFill>
            <a:srgbClr val="8B1538"/>
          </a:solidFill>
          <a:ln/>
        </p:spPr>
      </p:sp>
      <p:sp>
        <p:nvSpPr>
          <p:cNvPr id="14" name="Shape 11"/>
          <p:cNvSpPr/>
          <p:nvPr/>
        </p:nvSpPr>
        <p:spPr>
          <a:xfrm>
            <a:off x="5315407" y="4756709"/>
            <a:ext cx="3114446" cy="1324051"/>
          </a:xfrm>
          <a:prstGeom prst="roundRect">
            <a:avLst>
              <a:gd name="adj" fmla="val 39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315407" y="4756709"/>
            <a:ext cx="38405" cy="1324051"/>
          </a:xfrm>
          <a:prstGeom prst="rect">
            <a:avLst/>
          </a:prstGeom>
          <a:solidFill>
            <a:srgbClr val="8B1538"/>
          </a:solidFill>
          <a:ln/>
        </p:spPr>
      </p:sp>
      <p:sp>
        <p:nvSpPr>
          <p:cNvPr id="16" name="Shape 13"/>
          <p:cNvSpPr/>
          <p:nvPr/>
        </p:nvSpPr>
        <p:spPr>
          <a:xfrm>
            <a:off x="8620049" y="4756709"/>
            <a:ext cx="3114446" cy="1324051"/>
          </a:xfrm>
          <a:prstGeom prst="roundRect">
            <a:avLst>
              <a:gd name="adj" fmla="val 39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620049" y="4756709"/>
            <a:ext cx="38405" cy="1324051"/>
          </a:xfrm>
          <a:prstGeom prst="rect">
            <a:avLst/>
          </a:prstGeom>
          <a:solidFill>
            <a:srgbClr val="8B153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85800" y="590702"/>
            <a:ext cx="4963363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INTRODUCTION GÉNÉRALE</a:t>
            </a:r>
            <a:endParaRPr lang="en-US" sz="27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1067105"/>
            <a:ext cx="507766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Vision, Mission et Structure Globale du Groupe RISHOM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5544007" y="3465576"/>
            <a:ext cx="95737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RIC SARL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544007" y="3770986"/>
            <a:ext cx="22960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RISHOM INVESTMENT &amp; CONSULTING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5544007" y="4008730"/>
            <a:ext cx="244327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Cabinet d'excellence dédié au conseil, audit, assistance comptable et fiscale.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8848649" y="3465576"/>
            <a:ext cx="115763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RISHOM BF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8848649" y="3770986"/>
            <a:ext cx="14859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RISHOM BURKINA FASO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8848649" y="4008730"/>
            <a:ext cx="255757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Conglomérat commercial multisectoriel (Véhicules, BTP, Mines, Import/Export).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5544007" y="4975250"/>
            <a:ext cx="596189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REV'I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5544007" y="5280660"/>
            <a:ext cx="8961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SOCIÉTÉ REV'I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5544007" y="5518404"/>
            <a:ext cx="2767889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Agrobusiness : Production agricole, pisciculture, aliments bétail et eau potable.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8848649" y="4975250"/>
            <a:ext cx="519379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RBA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8848649" y="5280660"/>
            <a:ext cx="17812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RISHOM BUSINESS ACADEMY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8848649" y="5518404"/>
            <a:ext cx="2777033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Institution de formation continue certifiante et école des métiers techniques.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57200" y="1876349"/>
            <a:ext cx="4476902" cy="5038344"/>
          </a:xfrm>
          <a:prstGeom prst="roundRect">
            <a:avLst>
              <a:gd name="adj" fmla="val 521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39700" dist="38100" dir="5400000">
              <a:srgbClr val="000000">
                <a:alpha val="5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4086454" y="1505102"/>
            <a:ext cx="1218895" cy="1218895"/>
          </a:xfrm>
          <a:prstGeom prst="roundRect">
            <a:avLst>
              <a:gd name="adj" fmla="val 75019"/>
            </a:avLst>
          </a:prstGeom>
          <a:solidFill>
            <a:srgbClr val="8B1538">
              <a:alpha val="5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771754" y="2190902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8B1538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rcRect l="-1282" r="-1282" t="0" b="0"/>
          <a:stretch/>
        </p:blipFill>
        <p:spPr>
          <a:xfrm>
            <a:off x="890626" y="2324405"/>
            <a:ext cx="219456" cy="190195"/>
          </a:xfrm>
          <a:prstGeom prst="rect">
            <a:avLst/>
          </a:prstGeom>
        </p:spPr>
      </p:pic>
      <p:sp>
        <p:nvSpPr>
          <p:cNvPr id="36" name="Text 32"/>
          <p:cNvSpPr txBox="1"/>
          <p:nvPr/>
        </p:nvSpPr>
        <p:spPr>
          <a:xfrm>
            <a:off x="1380744" y="2276856"/>
            <a:ext cx="23820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Vision Stratégique</a:t>
            </a:r>
            <a:endParaRPr lang="en-US" sz="1800" dirty="0"/>
          </a:p>
        </p:txBody>
      </p:sp>
      <p:sp>
        <p:nvSpPr>
          <p:cNvPr id="37" name="Text 33"/>
          <p:cNvSpPr txBox="1"/>
          <p:nvPr/>
        </p:nvSpPr>
        <p:spPr>
          <a:xfrm>
            <a:off x="771754" y="2819095"/>
            <a:ext cx="3881628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 Groupe RISHOM s'impose comme un acteur économique majeur au Burkina Faso et dans la sous-région ouest-africaine.</a:t>
            </a:r>
            <a:endParaRPr lang="en-US" sz="1300" dirty="0"/>
          </a:p>
        </p:txBody>
      </p:sp>
      <p:sp>
        <p:nvSpPr>
          <p:cNvPr id="38" name="Text 34"/>
          <p:cNvSpPr txBox="1"/>
          <p:nvPr/>
        </p:nvSpPr>
        <p:spPr>
          <a:xfrm>
            <a:off x="771754" y="3807562"/>
            <a:ext cx="3857854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Notre structure repose sur une approche intégrée et diversifiée, conçue pour couvrir l'ensemble des besoins du marché.</a:t>
            </a:r>
            <a:endParaRPr lang="en-US" sz="1200" dirty="0"/>
          </a:p>
        </p:txBody>
      </p:sp>
      <p:sp>
        <p:nvSpPr>
          <p:cNvPr id="39" name="Shape 35"/>
          <p:cNvSpPr/>
          <p:nvPr/>
        </p:nvSpPr>
        <p:spPr>
          <a:xfrm>
            <a:off x="771754" y="5179162"/>
            <a:ext cx="384779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0" name="Text 36"/>
          <p:cNvSpPr txBox="1"/>
          <p:nvPr/>
        </p:nvSpPr>
        <p:spPr>
          <a:xfrm>
            <a:off x="771754" y="4864608"/>
            <a:ext cx="13670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Objectifs Clés</a:t>
            </a:r>
            <a:endParaRPr lang="en-US" sz="1300" dirty="0"/>
          </a:p>
        </p:txBody>
      </p:sp>
      <p:sp>
        <p:nvSpPr>
          <p:cNvPr id="41" name="Text 37"/>
          <p:cNvSpPr txBox="1"/>
          <p:nvPr/>
        </p:nvSpPr>
        <p:spPr>
          <a:xfrm>
            <a:off x="771754" y="5341010"/>
            <a:ext cx="28867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Excellence opérationnelle &amp; Innovation</a:t>
            </a:r>
            <a:endParaRPr lang="en-US" sz="1200" dirty="0"/>
          </a:p>
        </p:txBody>
      </p:sp>
      <p:sp>
        <p:nvSpPr>
          <p:cNvPr id="42" name="Text 38"/>
          <p:cNvSpPr txBox="1"/>
          <p:nvPr/>
        </p:nvSpPr>
        <p:spPr>
          <a:xfrm>
            <a:off x="771754" y="5683910"/>
            <a:ext cx="20866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Digitalisation des processus</a:t>
            </a:r>
            <a:endParaRPr lang="en-US" sz="1200" dirty="0"/>
          </a:p>
        </p:txBody>
      </p:sp>
      <p:sp>
        <p:nvSpPr>
          <p:cNvPr id="43" name="Text 39"/>
          <p:cNvSpPr txBox="1"/>
          <p:nvPr/>
        </p:nvSpPr>
        <p:spPr>
          <a:xfrm>
            <a:off x="771754" y="6026810"/>
            <a:ext cx="2276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Expansion régionale (CEDEAO)</a:t>
            </a:r>
            <a:endParaRPr lang="en-US" sz="1200" dirty="0"/>
          </a:p>
        </p:txBody>
      </p:sp>
      <p:sp>
        <p:nvSpPr>
          <p:cNvPr id="44" name="Text 40"/>
          <p:cNvSpPr txBox="1"/>
          <p:nvPr/>
        </p:nvSpPr>
        <p:spPr>
          <a:xfrm>
            <a:off x="771754" y="6369710"/>
            <a:ext cx="2296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Développement durable &amp; RSE</a:t>
            </a:r>
            <a:endParaRPr lang="en-US" sz="1200" dirty="0"/>
          </a:p>
        </p:txBody>
      </p:sp>
      <p:pic>
        <p:nvPicPr>
          <p:cNvPr id="45" name="Image 2" descr="preencoded.png">    </p:cNvPr>
          <p:cNvPicPr>
            <a:picLocks noChangeAspect="1"/>
          </p:cNvPicPr>
          <p:nvPr/>
        </p:nvPicPr>
        <p:blipFill>
          <a:blip r:embed="rId3">
            <a:alphaModFix amt="80000"/>
          </a:blip>
          <a:srcRect l="0" r="0" t="0" b="0"/>
          <a:stretch/>
        </p:blipFill>
        <p:spPr>
          <a:xfrm>
            <a:off x="8048549" y="3437230"/>
            <a:ext cx="190195" cy="190195"/>
          </a:xfrm>
          <a:prstGeom prst="rect">
            <a:avLst/>
          </a:prstGeom>
        </p:spPr>
      </p:pic>
      <p:pic>
        <p:nvPicPr>
          <p:cNvPr id="46" name="Image 3" descr="preencoded.png">    </p:cNvPr>
          <p:cNvPicPr>
            <a:picLocks noChangeAspect="1"/>
          </p:cNvPicPr>
          <p:nvPr/>
        </p:nvPicPr>
        <p:blipFill>
          <a:blip r:embed="rId4">
            <a:alphaModFix amt="80000"/>
          </a:blip>
          <a:srcRect l="0" r="0" t="0" b="0"/>
          <a:stretch/>
        </p:blipFill>
        <p:spPr>
          <a:xfrm>
            <a:off x="11306556" y="3437230"/>
            <a:ext cx="237744" cy="190195"/>
          </a:xfrm>
          <a:prstGeom prst="rect">
            <a:avLst/>
          </a:prstGeom>
        </p:spPr>
      </p:pic>
      <p:pic>
        <p:nvPicPr>
          <p:cNvPr id="47" name="Image 4" descr="preencoded.png">    </p:cNvPr>
          <p:cNvPicPr>
            <a:picLocks noChangeAspect="1"/>
          </p:cNvPicPr>
          <p:nvPr/>
        </p:nvPicPr>
        <p:blipFill>
          <a:blip r:embed="rId5">
            <a:alphaModFix amt="80000"/>
          </a:blip>
          <a:srcRect l="0" r="0" t="0" b="0"/>
          <a:stretch/>
        </p:blipFill>
        <p:spPr>
          <a:xfrm>
            <a:off x="8048549" y="4946904"/>
            <a:ext cx="190195" cy="190195"/>
          </a:xfrm>
          <a:prstGeom prst="rect">
            <a:avLst/>
          </a:prstGeom>
        </p:spPr>
      </p:pic>
      <p:pic>
        <p:nvPicPr>
          <p:cNvPr id="48" name="Image 5" descr="preencoded.png">    </p:cNvPr>
          <p:cNvPicPr>
            <a:picLocks noChangeAspect="1"/>
          </p:cNvPicPr>
          <p:nvPr/>
        </p:nvPicPr>
        <p:blipFill>
          <a:blip r:embed="rId6">
            <a:alphaModFix amt="80000"/>
          </a:blip>
          <a:srcRect l="0" r="0" t="0" b="0"/>
          <a:stretch/>
        </p:blipFill>
        <p:spPr>
          <a:xfrm>
            <a:off x="11306556" y="4946904"/>
            <a:ext cx="237744" cy="190195"/>
          </a:xfrm>
          <a:prstGeom prst="rect">
            <a:avLst/>
          </a:prstGeom>
        </p:spPr>
      </p:pic>
      <p:sp>
        <p:nvSpPr>
          <p:cNvPr id="49" name="Shape 41"/>
          <p:cNvSpPr/>
          <p:nvPr/>
        </p:nvSpPr>
        <p:spPr>
          <a:xfrm>
            <a:off x="457200" y="6979615"/>
            <a:ext cx="112772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0" name="Text 42"/>
          <p:cNvSpPr txBox="1"/>
          <p:nvPr/>
        </p:nvSpPr>
        <p:spPr>
          <a:xfrm>
            <a:off x="457200" y="7055510"/>
            <a:ext cx="13816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Groupe RISHOM © 2025</a:t>
            </a:r>
            <a:endParaRPr lang="en-US" sz="900" dirty="0"/>
          </a:p>
        </p:txBody>
      </p:sp>
      <p:sp>
        <p:nvSpPr>
          <p:cNvPr id="51" name="Text 43"/>
          <p:cNvSpPr txBox="1"/>
          <p:nvPr/>
        </p:nvSpPr>
        <p:spPr>
          <a:xfrm>
            <a:off x="10502798" y="7055510"/>
            <a:ext cx="13240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 Confidentiel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972654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97265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837469" y="105156"/>
            <a:ext cx="1552651" cy="924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8B15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8B1538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34110"/>
            <a:ext cx="1127729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629107"/>
            <a:ext cx="75895" cy="304495"/>
          </a:xfrm>
          <a:prstGeom prst="roundRect">
            <a:avLst>
              <a:gd name="adj" fmla="val 301206"/>
            </a:avLst>
          </a:prstGeom>
          <a:solidFill>
            <a:srgbClr val="8B153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599846"/>
            <a:ext cx="431048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ARCHITECTURE DU GROUPE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009498"/>
            <a:ext cx="35679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Organisation Hiérarchique et Fonctionnelle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86246" y="3225089"/>
            <a:ext cx="19202" cy="304495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1" name="Shape 9"/>
          <p:cNvSpPr/>
          <p:nvPr/>
        </p:nvSpPr>
        <p:spPr>
          <a:xfrm>
            <a:off x="6086246" y="4882896"/>
            <a:ext cx="19202" cy="304495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2" name="Shape 10"/>
          <p:cNvSpPr/>
          <p:nvPr/>
        </p:nvSpPr>
        <p:spPr>
          <a:xfrm>
            <a:off x="1303020" y="4939589"/>
            <a:ext cx="9592056" cy="190195"/>
          </a:xfrm>
          <a:prstGeom prst="roundRect">
            <a:avLst>
              <a:gd name="adj" fmla="val 288462"/>
            </a:avLst>
          </a:prstGeom>
          <a:noFill/>
          <a:ln w="25400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7578547"/>
            <a:ext cx="112772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" y="7654442"/>
            <a:ext cx="13816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Groupe RISHOM © 2025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8712403" y="7654442"/>
            <a:ext cx="31153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Flux de Gouvernance : Stratégie ➝ Support ➝ Opérations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218895" y="3530498"/>
            <a:ext cx="9753905" cy="1123798"/>
          </a:xfrm>
          <a:prstGeom prst="roundRect">
            <a:avLst>
              <a:gd name="adj" fmla="val 8275"/>
            </a:avLst>
          </a:prstGeom>
          <a:solidFill>
            <a:srgbClr val="F5F5F5">
              <a:alpha val="50000"/>
            </a:srgbClr>
          </a:solidFill>
          <a:ln w="25400">
            <a:solidFill>
              <a:srgbClr val="DDDD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54373" y="3434486"/>
            <a:ext cx="3486607" cy="209398"/>
          </a:xfrm>
          <a:prstGeom prst="roundRect">
            <a:avLst>
              <a:gd name="adj" fmla="val 43668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478731" y="3444545"/>
            <a:ext cx="333938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NIVEAU 2 : FONCTIONS SUPPORT MUTUALISÉES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390802" y="3777386"/>
            <a:ext cx="2238451" cy="705002"/>
          </a:xfrm>
          <a:prstGeom prst="roundRect">
            <a:avLst>
              <a:gd name="adj" fmla="val 70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433218" y="3901745"/>
            <a:ext cx="152705" cy="152705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948586" y="4167835"/>
            <a:ext cx="12243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Finance &amp; Admin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781044" y="3777386"/>
            <a:ext cx="2238451" cy="705002"/>
          </a:xfrm>
          <a:prstGeom prst="roundRect">
            <a:avLst>
              <a:gd name="adj" fmla="val 70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180" b="-180"/>
          <a:stretch/>
        </p:blipFill>
        <p:spPr>
          <a:xfrm>
            <a:off x="4805172" y="3901745"/>
            <a:ext cx="190195" cy="152705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4174236" y="4167835"/>
            <a:ext cx="15581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Ressources Humaines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6172200" y="3777386"/>
            <a:ext cx="2238451" cy="705002"/>
          </a:xfrm>
          <a:prstGeom prst="roundRect">
            <a:avLst>
              <a:gd name="adj" fmla="val 70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180" b="-180"/>
          <a:stretch/>
        </p:blipFill>
        <p:spPr>
          <a:xfrm>
            <a:off x="7196328" y="3901745"/>
            <a:ext cx="190195" cy="152705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6930238" y="4167835"/>
            <a:ext cx="82478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 &amp; Digital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8563356" y="3777386"/>
            <a:ext cx="2238451" cy="705002"/>
          </a:xfrm>
          <a:prstGeom prst="roundRect">
            <a:avLst>
              <a:gd name="adj" fmla="val 70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605772" y="3901745"/>
            <a:ext cx="152705" cy="152705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9102852" y="4167835"/>
            <a:ext cx="12627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 &amp; Marketing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4673498" y="1571854"/>
            <a:ext cx="2848356" cy="1505102"/>
          </a:xfrm>
          <a:prstGeom prst="roundRect">
            <a:avLst>
              <a:gd name="adj" fmla="val 3076"/>
            </a:avLst>
          </a:prstGeom>
          <a:solidFill>
            <a:srgbClr val="FFFFFF"/>
          </a:solidFill>
          <a:ln w="25400">
            <a:solidFill>
              <a:srgbClr val="8B1538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4692701" y="1591056"/>
            <a:ext cx="2809951" cy="362102"/>
          </a:xfrm>
          <a:prstGeom prst="roundRect">
            <a:avLst>
              <a:gd name="adj" fmla="val 53163"/>
            </a:avLst>
          </a:prstGeom>
          <a:solidFill>
            <a:srgbClr val="8B1538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093208" y="1702613"/>
            <a:ext cx="133502" cy="133502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5303520" y="1676095"/>
            <a:ext cx="190378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NIVEAU 1 : GOUVERNANCE</a:t>
            </a:r>
            <a:endParaRPr lang="en-US" sz="1000" dirty="0"/>
          </a:p>
        </p:txBody>
      </p:sp>
      <p:sp>
        <p:nvSpPr>
          <p:cNvPr id="35" name="Text 28"/>
          <p:cNvSpPr txBox="1"/>
          <p:nvPr/>
        </p:nvSpPr>
        <p:spPr>
          <a:xfrm>
            <a:off x="5183734" y="2120494"/>
            <a:ext cx="19723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HOLDING RISHOM</a:t>
            </a:r>
            <a:endParaRPr lang="en-US" sz="1500" dirty="0"/>
          </a:p>
        </p:txBody>
      </p:sp>
      <p:sp>
        <p:nvSpPr>
          <p:cNvPr id="36" name="Text 29"/>
          <p:cNvSpPr txBox="1"/>
          <p:nvPr/>
        </p:nvSpPr>
        <p:spPr>
          <a:xfrm>
            <a:off x="5259629" y="2405786"/>
            <a:ext cx="17766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Direction Générale Groupe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5279746" y="2672791"/>
            <a:ext cx="657454" cy="228600"/>
          </a:xfrm>
          <a:prstGeom prst="roundRect">
            <a:avLst>
              <a:gd name="adj" fmla="val 66667"/>
            </a:avLst>
          </a:prstGeom>
          <a:solidFill>
            <a:srgbClr val="F3F4F6"/>
          </a:solidFill>
          <a:ln/>
        </p:spPr>
      </p:sp>
      <p:sp>
        <p:nvSpPr>
          <p:cNvPr id="38" name="Text 31"/>
          <p:cNvSpPr txBox="1"/>
          <p:nvPr/>
        </p:nvSpPr>
        <p:spPr>
          <a:xfrm>
            <a:off x="5355641" y="2701138"/>
            <a:ext cx="5907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Stratégie</a:t>
            </a:r>
            <a:endParaRPr lang="en-US" sz="900" dirty="0"/>
          </a:p>
        </p:txBody>
      </p:sp>
      <p:sp>
        <p:nvSpPr>
          <p:cNvPr id="39" name="Shape 32"/>
          <p:cNvSpPr/>
          <p:nvPr/>
        </p:nvSpPr>
        <p:spPr>
          <a:xfrm>
            <a:off x="6003950" y="2672791"/>
            <a:ext cx="418795" cy="228600"/>
          </a:xfrm>
          <a:prstGeom prst="roundRect">
            <a:avLst>
              <a:gd name="adj" fmla="val 66667"/>
            </a:avLst>
          </a:prstGeom>
          <a:solidFill>
            <a:srgbClr val="F3F4F6"/>
          </a:solidFill>
          <a:ln/>
        </p:spPr>
      </p:sp>
      <p:sp>
        <p:nvSpPr>
          <p:cNvPr id="40" name="Text 33"/>
          <p:cNvSpPr txBox="1"/>
          <p:nvPr/>
        </p:nvSpPr>
        <p:spPr>
          <a:xfrm>
            <a:off x="6080760" y="2701138"/>
            <a:ext cx="3529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M&amp;A</a:t>
            </a:r>
            <a:endParaRPr lang="en-US" sz="900" dirty="0"/>
          </a:p>
        </p:txBody>
      </p:sp>
      <p:sp>
        <p:nvSpPr>
          <p:cNvPr id="41" name="Shape 34"/>
          <p:cNvSpPr/>
          <p:nvPr/>
        </p:nvSpPr>
        <p:spPr>
          <a:xfrm>
            <a:off x="6498641" y="2672791"/>
            <a:ext cx="418795" cy="228600"/>
          </a:xfrm>
          <a:prstGeom prst="roundRect">
            <a:avLst>
              <a:gd name="adj" fmla="val 66667"/>
            </a:avLst>
          </a:prstGeom>
          <a:solidFill>
            <a:srgbClr val="F3F4F6"/>
          </a:solidFill>
          <a:ln/>
        </p:spPr>
      </p:sp>
      <p:sp>
        <p:nvSpPr>
          <p:cNvPr id="42" name="Text 35"/>
          <p:cNvSpPr txBox="1"/>
          <p:nvPr/>
        </p:nvSpPr>
        <p:spPr>
          <a:xfrm>
            <a:off x="6574536" y="2701138"/>
            <a:ext cx="3529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</a:t>
            </a:r>
            <a:endParaRPr lang="en-US" sz="900" dirty="0"/>
          </a:p>
        </p:txBody>
      </p:sp>
      <p:sp>
        <p:nvSpPr>
          <p:cNvPr id="43" name="Shape 36"/>
          <p:cNvSpPr/>
          <p:nvPr/>
        </p:nvSpPr>
        <p:spPr>
          <a:xfrm>
            <a:off x="4338828" y="5273345"/>
            <a:ext cx="3514954" cy="237744"/>
          </a:xfrm>
          <a:prstGeom prst="roundRect">
            <a:avLst>
              <a:gd name="adj" fmla="val 384615"/>
            </a:avLst>
          </a:prstGeom>
          <a:solidFill>
            <a:srgbClr val="F3F4F6"/>
          </a:solidFill>
          <a:ln/>
        </p:spPr>
      </p:sp>
      <p:sp>
        <p:nvSpPr>
          <p:cNvPr id="44" name="Text 37"/>
          <p:cNvSpPr txBox="1"/>
          <p:nvPr/>
        </p:nvSpPr>
        <p:spPr>
          <a:xfrm>
            <a:off x="4491533" y="5310835"/>
            <a:ext cx="32964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NIVEAU 3 : ENTITÉS OPÉRATIONNELLES AUTONOMES</a:t>
            </a:r>
            <a:endParaRPr lang="en-US" sz="900" dirty="0"/>
          </a:p>
        </p:txBody>
      </p:sp>
      <p:sp>
        <p:nvSpPr>
          <p:cNvPr id="45" name="Shape 38"/>
          <p:cNvSpPr/>
          <p:nvPr/>
        </p:nvSpPr>
        <p:spPr>
          <a:xfrm>
            <a:off x="457200" y="5644591"/>
            <a:ext cx="2648102" cy="2018995"/>
          </a:xfrm>
          <a:prstGeom prst="roundRect">
            <a:avLst>
              <a:gd name="adj" fmla="val 17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6" name="Shape 39"/>
          <p:cNvSpPr/>
          <p:nvPr/>
        </p:nvSpPr>
        <p:spPr>
          <a:xfrm>
            <a:off x="457200" y="5644591"/>
            <a:ext cx="2648102" cy="38405"/>
          </a:xfrm>
          <a:prstGeom prst="rect">
            <a:avLst/>
          </a:prstGeom>
          <a:solidFill>
            <a:srgbClr val="8B1538"/>
          </a:solidFill>
          <a:ln/>
        </p:spPr>
      </p:sp>
      <p:sp>
        <p:nvSpPr>
          <p:cNvPr id="47" name="Shape 40"/>
          <p:cNvSpPr/>
          <p:nvPr/>
        </p:nvSpPr>
        <p:spPr>
          <a:xfrm>
            <a:off x="1552651" y="5834786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3F4F6"/>
          </a:solidFill>
          <a:ln/>
        </p:spPr>
      </p:sp>
      <p:pic>
        <p:nvPicPr>
          <p:cNvPr id="48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686154" y="5968289"/>
            <a:ext cx="190195" cy="190195"/>
          </a:xfrm>
          <a:prstGeom prst="rect">
            <a:avLst/>
          </a:prstGeom>
        </p:spPr>
      </p:pic>
      <p:sp>
        <p:nvSpPr>
          <p:cNvPr id="49" name="Text 41"/>
          <p:cNvSpPr txBox="1"/>
          <p:nvPr/>
        </p:nvSpPr>
        <p:spPr>
          <a:xfrm>
            <a:off x="1368857" y="6435547"/>
            <a:ext cx="95737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RIC SARL</a:t>
            </a:r>
            <a:endParaRPr lang="en-US" sz="1300" dirty="0"/>
          </a:p>
        </p:txBody>
      </p:sp>
      <p:sp>
        <p:nvSpPr>
          <p:cNvPr id="50" name="Text 42"/>
          <p:cNvSpPr txBox="1"/>
          <p:nvPr/>
        </p:nvSpPr>
        <p:spPr>
          <a:xfrm>
            <a:off x="1299362" y="6701638"/>
            <a:ext cx="10579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CONSEIL &amp; AUDIT</a:t>
            </a:r>
            <a:endParaRPr lang="en-US" sz="900" dirty="0"/>
          </a:p>
        </p:txBody>
      </p:sp>
      <p:pic>
        <p:nvPicPr>
          <p:cNvPr id="51" name="Image 6" descr="preencoded.png">    </p:cNvPr>
          <p:cNvPicPr>
            <a:picLocks noChangeAspect="1"/>
          </p:cNvPicPr>
          <p:nvPr/>
        </p:nvPicPr>
        <p:blipFill>
          <a:blip r:embed="rId7"/>
          <a:srcRect l="-2571" r="-2571" t="0" b="0"/>
          <a:stretch/>
        </p:blipFill>
        <p:spPr>
          <a:xfrm>
            <a:off x="761695" y="6992417"/>
            <a:ext cx="105156" cy="114300"/>
          </a:xfrm>
          <a:prstGeom prst="rect">
            <a:avLst/>
          </a:prstGeom>
        </p:spPr>
      </p:pic>
      <p:sp>
        <p:nvSpPr>
          <p:cNvPr id="52" name="Text 43"/>
          <p:cNvSpPr txBox="1"/>
          <p:nvPr/>
        </p:nvSpPr>
        <p:spPr>
          <a:xfrm>
            <a:off x="905256" y="6968642"/>
            <a:ext cx="9720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Audit &amp; Contrôle</a:t>
            </a:r>
            <a:endParaRPr lang="en-US" sz="900" dirty="0"/>
          </a:p>
        </p:txBody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rcRect l="-2571" r="-2571" t="0" b="0"/>
          <a:stretch/>
        </p:blipFill>
        <p:spPr>
          <a:xfrm>
            <a:off x="761695" y="7182612"/>
            <a:ext cx="105156" cy="114300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905256" y="7158838"/>
            <a:ext cx="10287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Gestion &amp; Conseil</a:t>
            </a:r>
            <a:endParaRPr lang="en-US" sz="900" dirty="0"/>
          </a:p>
        </p:txBody>
      </p:sp>
      <p:pic>
        <p:nvPicPr>
          <p:cNvPr id="55" name="Image 8" descr="preencoded.png">    </p:cNvPr>
          <p:cNvPicPr>
            <a:picLocks noChangeAspect="1"/>
          </p:cNvPicPr>
          <p:nvPr/>
        </p:nvPicPr>
        <p:blipFill>
          <a:blip r:embed="rId9"/>
          <a:srcRect l="-2571" r="-2571" t="0" b="0"/>
          <a:stretch/>
        </p:blipFill>
        <p:spPr>
          <a:xfrm>
            <a:off x="761695" y="7373722"/>
            <a:ext cx="105156" cy="114300"/>
          </a:xfrm>
          <a:prstGeom prst="rect">
            <a:avLst/>
          </a:prstGeom>
        </p:spPr>
      </p:pic>
      <p:sp>
        <p:nvSpPr>
          <p:cNvPr id="56" name="Text 45"/>
          <p:cNvSpPr txBox="1"/>
          <p:nvPr/>
        </p:nvSpPr>
        <p:spPr>
          <a:xfrm>
            <a:off x="905256" y="7349947"/>
            <a:ext cx="4572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Études</a:t>
            </a:r>
            <a:endParaRPr lang="en-US" sz="900" dirty="0"/>
          </a:p>
        </p:txBody>
      </p:sp>
      <p:sp>
        <p:nvSpPr>
          <p:cNvPr id="57" name="Shape 46"/>
          <p:cNvSpPr/>
          <p:nvPr/>
        </p:nvSpPr>
        <p:spPr>
          <a:xfrm>
            <a:off x="3333902" y="5644591"/>
            <a:ext cx="2648102" cy="2018995"/>
          </a:xfrm>
          <a:prstGeom prst="roundRect">
            <a:avLst>
              <a:gd name="adj" fmla="val 17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58" name="Shape 47"/>
          <p:cNvSpPr/>
          <p:nvPr/>
        </p:nvSpPr>
        <p:spPr>
          <a:xfrm>
            <a:off x="3333902" y="5644591"/>
            <a:ext cx="2648102" cy="38405"/>
          </a:xfrm>
          <a:prstGeom prst="rect">
            <a:avLst/>
          </a:prstGeom>
          <a:solidFill>
            <a:srgbClr val="8B1538"/>
          </a:solidFill>
          <a:ln/>
        </p:spPr>
      </p:sp>
      <p:sp>
        <p:nvSpPr>
          <p:cNvPr id="59" name="Shape 48"/>
          <p:cNvSpPr/>
          <p:nvPr/>
        </p:nvSpPr>
        <p:spPr>
          <a:xfrm>
            <a:off x="4429354" y="5834786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3F4F6"/>
          </a:solidFill>
          <a:ln/>
        </p:spPr>
      </p:sp>
      <p:pic>
        <p:nvPicPr>
          <p:cNvPr id="60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4539082" y="5968289"/>
            <a:ext cx="237744" cy="190195"/>
          </a:xfrm>
          <a:prstGeom prst="rect">
            <a:avLst/>
          </a:prstGeom>
        </p:spPr>
      </p:pic>
      <p:sp>
        <p:nvSpPr>
          <p:cNvPr id="61" name="Text 49"/>
          <p:cNvSpPr txBox="1"/>
          <p:nvPr/>
        </p:nvSpPr>
        <p:spPr>
          <a:xfrm>
            <a:off x="4144061" y="6435547"/>
            <a:ext cx="115763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RISHOM BF</a:t>
            </a:r>
            <a:endParaRPr lang="en-US" sz="1300" dirty="0"/>
          </a:p>
        </p:txBody>
      </p:sp>
      <p:sp>
        <p:nvSpPr>
          <p:cNvPr id="62" name="Text 50"/>
          <p:cNvSpPr txBox="1"/>
          <p:nvPr/>
        </p:nvSpPr>
        <p:spPr>
          <a:xfrm>
            <a:off x="4334256" y="6701638"/>
            <a:ext cx="7342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COMMERCE</a:t>
            </a:r>
            <a:endParaRPr lang="en-US" sz="900" dirty="0"/>
          </a:p>
        </p:txBody>
      </p:sp>
      <p:pic>
        <p:nvPicPr>
          <p:cNvPr id="63" name="Image 10" descr="preencoded.png">    </p:cNvPr>
          <p:cNvPicPr>
            <a:picLocks noChangeAspect="1"/>
          </p:cNvPicPr>
          <p:nvPr/>
        </p:nvPicPr>
        <p:blipFill>
          <a:blip r:embed="rId11"/>
          <a:srcRect l="-2571" r="-2571" t="0" b="0"/>
          <a:stretch/>
        </p:blipFill>
        <p:spPr>
          <a:xfrm>
            <a:off x="3638398" y="6992417"/>
            <a:ext cx="105156" cy="114300"/>
          </a:xfrm>
          <a:prstGeom prst="rect">
            <a:avLst/>
          </a:prstGeom>
        </p:spPr>
      </p:pic>
      <p:sp>
        <p:nvSpPr>
          <p:cNvPr id="64" name="Text 51"/>
          <p:cNvSpPr txBox="1"/>
          <p:nvPr/>
        </p:nvSpPr>
        <p:spPr>
          <a:xfrm>
            <a:off x="3781044" y="6968642"/>
            <a:ext cx="9436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Véhicules &amp; BTP</a:t>
            </a:r>
            <a:endParaRPr lang="en-US" sz="900" dirty="0"/>
          </a:p>
        </p:txBody>
      </p:sp>
      <p:pic>
        <p:nvPicPr>
          <p:cNvPr id="65" name="Image 11" descr="preencoded.png">    </p:cNvPr>
          <p:cNvPicPr>
            <a:picLocks noChangeAspect="1"/>
          </p:cNvPicPr>
          <p:nvPr/>
        </p:nvPicPr>
        <p:blipFill>
          <a:blip r:embed="rId12"/>
          <a:srcRect l="-2571" r="-2571" t="0" b="0"/>
          <a:stretch/>
        </p:blipFill>
        <p:spPr>
          <a:xfrm>
            <a:off x="3638398" y="7182612"/>
            <a:ext cx="105156" cy="114300"/>
          </a:xfrm>
          <a:prstGeom prst="rect">
            <a:avLst/>
          </a:prstGeom>
        </p:spPr>
      </p:pic>
      <p:sp>
        <p:nvSpPr>
          <p:cNvPr id="66" name="Text 52"/>
          <p:cNvSpPr txBox="1"/>
          <p:nvPr/>
        </p:nvSpPr>
        <p:spPr>
          <a:xfrm>
            <a:off x="3781044" y="7158838"/>
            <a:ext cx="9528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Mines &amp; Énergie</a:t>
            </a:r>
            <a:endParaRPr lang="en-US" sz="900" dirty="0"/>
          </a:p>
        </p:txBody>
      </p:sp>
      <p:pic>
        <p:nvPicPr>
          <p:cNvPr id="67" name="Image 12" descr="preencoded.png">    </p:cNvPr>
          <p:cNvPicPr>
            <a:picLocks noChangeAspect="1"/>
          </p:cNvPicPr>
          <p:nvPr/>
        </p:nvPicPr>
        <p:blipFill>
          <a:blip r:embed="rId13"/>
          <a:srcRect l="-2571" r="-2571" t="0" b="0"/>
          <a:stretch/>
        </p:blipFill>
        <p:spPr>
          <a:xfrm>
            <a:off x="3638398" y="7373722"/>
            <a:ext cx="105156" cy="114300"/>
          </a:xfrm>
          <a:prstGeom prst="rect">
            <a:avLst/>
          </a:prstGeom>
        </p:spPr>
      </p:pic>
      <p:sp>
        <p:nvSpPr>
          <p:cNvPr id="68" name="Text 53"/>
          <p:cNvSpPr txBox="1"/>
          <p:nvPr/>
        </p:nvSpPr>
        <p:spPr>
          <a:xfrm>
            <a:off x="3781044" y="7349947"/>
            <a:ext cx="9052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Import / Export</a:t>
            </a:r>
            <a:endParaRPr lang="en-US" sz="900" dirty="0"/>
          </a:p>
        </p:txBody>
      </p:sp>
      <p:sp>
        <p:nvSpPr>
          <p:cNvPr id="69" name="Shape 54"/>
          <p:cNvSpPr/>
          <p:nvPr/>
        </p:nvSpPr>
        <p:spPr>
          <a:xfrm>
            <a:off x="6210605" y="5644591"/>
            <a:ext cx="2648102" cy="2018995"/>
          </a:xfrm>
          <a:prstGeom prst="roundRect">
            <a:avLst>
              <a:gd name="adj" fmla="val 17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70" name="Shape 55"/>
          <p:cNvSpPr/>
          <p:nvPr/>
        </p:nvSpPr>
        <p:spPr>
          <a:xfrm>
            <a:off x="6210605" y="5644591"/>
            <a:ext cx="2648102" cy="38405"/>
          </a:xfrm>
          <a:prstGeom prst="rect">
            <a:avLst/>
          </a:prstGeom>
          <a:solidFill>
            <a:srgbClr val="8B1538"/>
          </a:solidFill>
          <a:ln/>
        </p:spPr>
      </p:sp>
      <p:sp>
        <p:nvSpPr>
          <p:cNvPr id="71" name="Shape 56"/>
          <p:cNvSpPr/>
          <p:nvPr/>
        </p:nvSpPr>
        <p:spPr>
          <a:xfrm>
            <a:off x="7306056" y="5834786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3F4F6"/>
          </a:solidFill>
          <a:ln/>
        </p:spPr>
      </p:sp>
      <p:pic>
        <p:nvPicPr>
          <p:cNvPr id="72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7438644" y="5968289"/>
            <a:ext cx="190195" cy="190195"/>
          </a:xfrm>
          <a:prstGeom prst="rect">
            <a:avLst/>
          </a:prstGeom>
        </p:spPr>
      </p:pic>
      <p:sp>
        <p:nvSpPr>
          <p:cNvPr id="73" name="Text 57"/>
          <p:cNvSpPr txBox="1"/>
          <p:nvPr/>
        </p:nvSpPr>
        <p:spPr>
          <a:xfrm>
            <a:off x="7302398" y="6435547"/>
            <a:ext cx="596189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REV'I</a:t>
            </a:r>
            <a:endParaRPr lang="en-US" sz="1300" dirty="0"/>
          </a:p>
        </p:txBody>
      </p:sp>
      <p:sp>
        <p:nvSpPr>
          <p:cNvPr id="74" name="Text 58"/>
          <p:cNvSpPr txBox="1"/>
          <p:nvPr/>
        </p:nvSpPr>
        <p:spPr>
          <a:xfrm>
            <a:off x="7104888" y="6701638"/>
            <a:ext cx="9528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AGROBUSINESS</a:t>
            </a:r>
            <a:endParaRPr lang="en-US" sz="900" dirty="0"/>
          </a:p>
        </p:txBody>
      </p:sp>
      <p:pic>
        <p:nvPicPr>
          <p:cNvPr id="75" name="Image 14" descr="preencoded.png">    </p:cNvPr>
          <p:cNvPicPr>
            <a:picLocks noChangeAspect="1"/>
          </p:cNvPicPr>
          <p:nvPr/>
        </p:nvPicPr>
        <p:blipFill>
          <a:blip r:embed="rId15"/>
          <a:srcRect l="-2571" r="-2571" t="0" b="0"/>
          <a:stretch/>
        </p:blipFill>
        <p:spPr>
          <a:xfrm>
            <a:off x="6515100" y="6992417"/>
            <a:ext cx="105156" cy="114300"/>
          </a:xfrm>
          <a:prstGeom prst="rect">
            <a:avLst/>
          </a:prstGeom>
        </p:spPr>
      </p:pic>
      <p:sp>
        <p:nvSpPr>
          <p:cNvPr id="76" name="Text 59"/>
          <p:cNvSpPr txBox="1"/>
          <p:nvPr/>
        </p:nvSpPr>
        <p:spPr>
          <a:xfrm>
            <a:off x="6657746" y="6968642"/>
            <a:ext cx="11338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Production Agricole</a:t>
            </a:r>
            <a:endParaRPr lang="en-US" sz="900" dirty="0"/>
          </a:p>
        </p:txBody>
      </p:sp>
      <p:pic>
        <p:nvPicPr>
          <p:cNvPr id="77" name="Image 15" descr="preencoded.png">    </p:cNvPr>
          <p:cNvPicPr>
            <a:picLocks noChangeAspect="1"/>
          </p:cNvPicPr>
          <p:nvPr/>
        </p:nvPicPr>
        <p:blipFill>
          <a:blip r:embed="rId16"/>
          <a:srcRect l="-2571" r="-2571" t="0" b="0"/>
          <a:stretch/>
        </p:blipFill>
        <p:spPr>
          <a:xfrm>
            <a:off x="6515100" y="7182612"/>
            <a:ext cx="105156" cy="114300"/>
          </a:xfrm>
          <a:prstGeom prst="rect">
            <a:avLst/>
          </a:prstGeom>
        </p:spPr>
      </p:pic>
      <p:sp>
        <p:nvSpPr>
          <p:cNvPr id="78" name="Text 60"/>
          <p:cNvSpPr txBox="1"/>
          <p:nvPr/>
        </p:nvSpPr>
        <p:spPr>
          <a:xfrm>
            <a:off x="6657746" y="7158838"/>
            <a:ext cx="7050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Pisciculture</a:t>
            </a:r>
            <a:endParaRPr lang="en-US" sz="900" dirty="0"/>
          </a:p>
        </p:txBody>
      </p:sp>
      <p:pic>
        <p:nvPicPr>
          <p:cNvPr id="79" name="Image 16" descr="preencoded.png">    </p:cNvPr>
          <p:cNvPicPr>
            <a:picLocks noChangeAspect="1"/>
          </p:cNvPicPr>
          <p:nvPr/>
        </p:nvPicPr>
        <p:blipFill>
          <a:blip r:embed="rId17"/>
          <a:srcRect l="-2571" r="-2571" t="0" b="0"/>
          <a:stretch/>
        </p:blipFill>
        <p:spPr>
          <a:xfrm>
            <a:off x="6515100" y="7373722"/>
            <a:ext cx="105156" cy="114300"/>
          </a:xfrm>
          <a:prstGeom prst="rect">
            <a:avLst/>
          </a:prstGeom>
        </p:spPr>
      </p:pic>
      <p:sp>
        <p:nvSpPr>
          <p:cNvPr id="80" name="Text 61"/>
          <p:cNvSpPr txBox="1"/>
          <p:nvPr/>
        </p:nvSpPr>
        <p:spPr>
          <a:xfrm>
            <a:off x="6657746" y="7349947"/>
            <a:ext cx="7242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Eau Potable</a:t>
            </a:r>
            <a:endParaRPr lang="en-US" sz="900" dirty="0"/>
          </a:p>
        </p:txBody>
      </p:sp>
      <p:sp>
        <p:nvSpPr>
          <p:cNvPr id="81" name="Shape 62"/>
          <p:cNvSpPr/>
          <p:nvPr/>
        </p:nvSpPr>
        <p:spPr>
          <a:xfrm>
            <a:off x="9087307" y="5644591"/>
            <a:ext cx="2648102" cy="2018995"/>
          </a:xfrm>
          <a:prstGeom prst="roundRect">
            <a:avLst>
              <a:gd name="adj" fmla="val 17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82" name="Shape 63"/>
          <p:cNvSpPr/>
          <p:nvPr/>
        </p:nvSpPr>
        <p:spPr>
          <a:xfrm>
            <a:off x="9087307" y="5644591"/>
            <a:ext cx="2648102" cy="38405"/>
          </a:xfrm>
          <a:prstGeom prst="rect">
            <a:avLst/>
          </a:prstGeom>
          <a:solidFill>
            <a:srgbClr val="8B1538"/>
          </a:solidFill>
          <a:ln/>
        </p:spPr>
      </p:sp>
      <p:sp>
        <p:nvSpPr>
          <p:cNvPr id="83" name="Shape 64"/>
          <p:cNvSpPr/>
          <p:nvPr/>
        </p:nvSpPr>
        <p:spPr>
          <a:xfrm>
            <a:off x="10181844" y="5834786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3F4F6"/>
          </a:solidFill>
          <a:ln/>
        </p:spPr>
      </p:sp>
      <p:pic>
        <p:nvPicPr>
          <p:cNvPr id="84" name="Image 17" descr="preencoded.png">    </p:cNvPr>
          <p:cNvPicPr>
            <a:picLocks noChangeAspect="1"/>
          </p:cNvPicPr>
          <p:nvPr/>
        </p:nvPicPr>
        <p:blipFill>
          <a:blip r:embed="rId18"/>
          <a:srcRect l="0" r="0" t="0" b="0"/>
          <a:stretch/>
        </p:blipFill>
        <p:spPr>
          <a:xfrm>
            <a:off x="10291572" y="5968289"/>
            <a:ext cx="237744" cy="190195"/>
          </a:xfrm>
          <a:prstGeom prst="rect">
            <a:avLst/>
          </a:prstGeom>
        </p:spPr>
      </p:pic>
      <p:sp>
        <p:nvSpPr>
          <p:cNvPr id="85" name="Text 65"/>
          <p:cNvSpPr txBox="1"/>
          <p:nvPr/>
        </p:nvSpPr>
        <p:spPr>
          <a:xfrm>
            <a:off x="9952330" y="6435547"/>
            <a:ext cx="1053389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ACADEMY</a:t>
            </a:r>
            <a:endParaRPr lang="en-US" sz="1300" dirty="0"/>
          </a:p>
        </p:txBody>
      </p:sp>
      <p:sp>
        <p:nvSpPr>
          <p:cNvPr id="86" name="Text 66"/>
          <p:cNvSpPr txBox="1"/>
          <p:nvPr/>
        </p:nvSpPr>
        <p:spPr>
          <a:xfrm>
            <a:off x="10069373" y="6701638"/>
            <a:ext cx="7717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FORMATION</a:t>
            </a:r>
            <a:endParaRPr lang="en-US" sz="900" dirty="0"/>
          </a:p>
        </p:txBody>
      </p:sp>
      <p:pic>
        <p:nvPicPr>
          <p:cNvPr id="87" name="Image 18" descr="preencoded.png">    </p:cNvPr>
          <p:cNvPicPr>
            <a:picLocks noChangeAspect="1"/>
          </p:cNvPicPr>
          <p:nvPr/>
        </p:nvPicPr>
        <p:blipFill>
          <a:blip r:embed="rId19"/>
          <a:srcRect l="-2571" r="-2571" t="0" b="0"/>
          <a:stretch/>
        </p:blipFill>
        <p:spPr>
          <a:xfrm>
            <a:off x="9391802" y="6992417"/>
            <a:ext cx="105156" cy="114300"/>
          </a:xfrm>
          <a:prstGeom prst="rect">
            <a:avLst/>
          </a:prstGeom>
        </p:spPr>
      </p:pic>
      <p:sp>
        <p:nvSpPr>
          <p:cNvPr id="88" name="Text 67"/>
          <p:cNvSpPr txBox="1"/>
          <p:nvPr/>
        </p:nvSpPr>
        <p:spPr>
          <a:xfrm>
            <a:off x="9534449" y="6968642"/>
            <a:ext cx="11530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Formation Continue</a:t>
            </a:r>
            <a:endParaRPr lang="en-US" sz="900" dirty="0"/>
          </a:p>
        </p:txBody>
      </p:sp>
      <p:pic>
        <p:nvPicPr>
          <p:cNvPr id="89" name="Image 19" descr="preencoded.png">    </p:cNvPr>
          <p:cNvPicPr>
            <a:picLocks noChangeAspect="1"/>
          </p:cNvPicPr>
          <p:nvPr/>
        </p:nvPicPr>
        <p:blipFill>
          <a:blip r:embed="rId20"/>
          <a:srcRect l="-2571" r="-2571" t="0" b="0"/>
          <a:stretch/>
        </p:blipFill>
        <p:spPr>
          <a:xfrm>
            <a:off x="9391802" y="7182612"/>
            <a:ext cx="105156" cy="114300"/>
          </a:xfrm>
          <a:prstGeom prst="rect">
            <a:avLst/>
          </a:prstGeom>
        </p:spPr>
      </p:pic>
      <p:sp>
        <p:nvSpPr>
          <p:cNvPr id="90" name="Text 68"/>
          <p:cNvSpPr txBox="1"/>
          <p:nvPr/>
        </p:nvSpPr>
        <p:spPr>
          <a:xfrm>
            <a:off x="9534449" y="7158838"/>
            <a:ext cx="10195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École des Métiers</a:t>
            </a:r>
            <a:endParaRPr lang="en-US" sz="900" dirty="0"/>
          </a:p>
        </p:txBody>
      </p:sp>
      <p:pic>
        <p:nvPicPr>
          <p:cNvPr id="91" name="Image 20" descr="preencoded.png">    </p:cNvPr>
          <p:cNvPicPr>
            <a:picLocks noChangeAspect="1"/>
          </p:cNvPicPr>
          <p:nvPr/>
        </p:nvPicPr>
        <p:blipFill>
          <a:blip r:embed="rId21"/>
          <a:srcRect l="-2571" r="-2571" t="0" b="0"/>
          <a:stretch/>
        </p:blipFill>
        <p:spPr>
          <a:xfrm>
            <a:off x="9391802" y="7373722"/>
            <a:ext cx="105156" cy="114300"/>
          </a:xfrm>
          <a:prstGeom prst="rect">
            <a:avLst/>
          </a:prstGeom>
        </p:spPr>
      </p:pic>
      <p:sp>
        <p:nvSpPr>
          <p:cNvPr id="92" name="Text 69"/>
          <p:cNvSpPr txBox="1"/>
          <p:nvPr/>
        </p:nvSpPr>
        <p:spPr>
          <a:xfrm>
            <a:off x="9534449" y="7349947"/>
            <a:ext cx="7909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Certifications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55173" y="105156"/>
            <a:ext cx="1629461" cy="924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8B15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8B1538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34110"/>
            <a:ext cx="1127729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629107"/>
            <a:ext cx="75895" cy="304495"/>
          </a:xfrm>
          <a:prstGeom prst="roundRect">
            <a:avLst>
              <a:gd name="adj" fmla="val 301206"/>
            </a:avLst>
          </a:prstGeom>
          <a:solidFill>
            <a:srgbClr val="8B1538"/>
          </a:solidFill>
          <a:ln/>
        </p:spPr>
      </p:sp>
      <p:sp>
        <p:nvSpPr>
          <p:cNvPr id="8" name="Shape 6"/>
          <p:cNvSpPr/>
          <p:nvPr/>
        </p:nvSpPr>
        <p:spPr>
          <a:xfrm>
            <a:off x="6086246" y="3613709"/>
            <a:ext cx="19202" cy="228600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599846"/>
            <a:ext cx="4796028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DIRECTION GROUPE (HOLDING)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009498"/>
            <a:ext cx="43680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Structure de Gouvernance &amp; Fonctions Transversales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856232" y="6004865"/>
            <a:ext cx="8486546" cy="323698"/>
          </a:xfrm>
          <a:prstGeom prst="roundRect">
            <a:avLst>
              <a:gd name="adj" fmla="val 282486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018995" y="6090818"/>
            <a:ext cx="152705" cy="152705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2209190" y="6061558"/>
            <a:ext cx="808695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effectif Holding : 15 cadres. Les fonctions support sont mutualisées pour l'ensemble des entités du groupe.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086246" y="2607869"/>
            <a:ext cx="19202" cy="228600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15" name="Shape 12"/>
          <p:cNvSpPr/>
          <p:nvPr/>
        </p:nvSpPr>
        <p:spPr>
          <a:xfrm>
            <a:off x="6096305" y="3110789"/>
            <a:ext cx="1828800" cy="9144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16" name="Shape 13"/>
          <p:cNvSpPr/>
          <p:nvPr/>
        </p:nvSpPr>
        <p:spPr>
          <a:xfrm>
            <a:off x="7925105" y="2836469"/>
            <a:ext cx="2133295" cy="780898"/>
          </a:xfrm>
          <a:prstGeom prst="roundRect">
            <a:avLst>
              <a:gd name="adj" fmla="val 856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8535010" y="2913278"/>
            <a:ext cx="10003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COORDINATION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8163763" y="3112618"/>
            <a:ext cx="175747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Secrétaire Général Groupe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8566099" y="3312871"/>
            <a:ext cx="9720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[À nommer]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1867205" y="3842309"/>
            <a:ext cx="8458200" cy="9144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1" name="Shape 18"/>
          <p:cNvSpPr/>
          <p:nvPr/>
        </p:nvSpPr>
        <p:spPr>
          <a:xfrm>
            <a:off x="1867205" y="3842309"/>
            <a:ext cx="9144" cy="2286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2" name="Shape 19"/>
          <p:cNvSpPr/>
          <p:nvPr/>
        </p:nvSpPr>
        <p:spPr>
          <a:xfrm>
            <a:off x="10315346" y="3842309"/>
            <a:ext cx="9144" cy="2286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3" name="Shape 20"/>
          <p:cNvSpPr/>
          <p:nvPr/>
        </p:nvSpPr>
        <p:spPr>
          <a:xfrm>
            <a:off x="609905" y="4080967"/>
            <a:ext cx="7086600" cy="1772107"/>
          </a:xfrm>
          <a:prstGeom prst="roundRect">
            <a:avLst>
              <a:gd name="adj" fmla="val 3329"/>
            </a:avLst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969971" y="3985870"/>
            <a:ext cx="2371954" cy="190195"/>
          </a:xfrm>
          <a:prstGeom prst="roundRect">
            <a:avLst>
              <a:gd name="adj" fmla="val 2884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80" b="-80"/>
          <a:stretch/>
        </p:blipFill>
        <p:spPr>
          <a:xfrm>
            <a:off x="3093415" y="4018788"/>
            <a:ext cx="142646" cy="114300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3312871" y="3995014"/>
            <a:ext cx="19915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C757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FONCTIONS SUPPORT GROUPE (8)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7925105" y="4080967"/>
            <a:ext cx="3657600" cy="1772107"/>
          </a:xfrm>
          <a:prstGeom prst="roundRect">
            <a:avLst>
              <a:gd name="adj" fmla="val 3329"/>
            </a:avLst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8949233" y="3985870"/>
            <a:ext cx="1609344" cy="190195"/>
          </a:xfrm>
          <a:prstGeom prst="roundRect">
            <a:avLst>
              <a:gd name="adj" fmla="val 2884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072677" y="4018788"/>
            <a:ext cx="114300" cy="114300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9262872" y="3995014"/>
            <a:ext cx="12573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C757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DÉV. &amp; STRATÉGIE (4)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4876495" y="1571854"/>
            <a:ext cx="2438705" cy="961949"/>
          </a:xfrm>
          <a:prstGeom prst="roundRect">
            <a:avLst>
              <a:gd name="adj" fmla="val 5647"/>
            </a:avLst>
          </a:prstGeom>
          <a:solidFill>
            <a:srgbClr val="FFFFFF"/>
          </a:solidFill>
          <a:ln w="25400">
            <a:solidFill>
              <a:srgbClr val="8B1538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8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5943600" y="1666951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8B1538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100" b="-1100"/>
          <a:stretch/>
        </p:blipFill>
        <p:spPr>
          <a:xfrm>
            <a:off x="6038698" y="1752905"/>
            <a:ext cx="114300" cy="133502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5384902" y="2057400"/>
            <a:ext cx="153162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153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GÉRANT / PRÉSIDENT</a:t>
            </a:r>
            <a:endParaRPr lang="en-US" sz="1000" dirty="0"/>
          </a:p>
        </p:txBody>
      </p:sp>
      <p:sp>
        <p:nvSpPr>
          <p:cNvPr id="35" name="Text 29"/>
          <p:cNvSpPr txBox="1"/>
          <p:nvPr/>
        </p:nvSpPr>
        <p:spPr>
          <a:xfrm>
            <a:off x="5213909" y="2253996"/>
            <a:ext cx="186354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Begniamonne Christian BAMA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724205" y="4328770"/>
            <a:ext cx="1628546" cy="647395"/>
          </a:xfrm>
          <a:prstGeom prst="roundRect">
            <a:avLst>
              <a:gd name="adj" fmla="val 12463"/>
            </a:avLst>
          </a:prstGeom>
          <a:solidFill>
            <a:srgbClr val="F8F9FA"/>
          </a:solidFill>
          <a:ln/>
          <a:effectLst>
            <a:outerShdw sx="100000" sy="100000" kx="0" ky="0" algn="bl" rotWithShape="0" blurRad="38100" dist="25400" dir="5400000">
              <a:srgbClr val="000000">
                <a:alpha val="8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724205" y="4328770"/>
            <a:ext cx="28346" cy="647395"/>
          </a:xfrm>
          <a:prstGeom prst="rect">
            <a:avLst/>
          </a:prstGeom>
          <a:solidFill>
            <a:srgbClr val="6C757D"/>
          </a:solidFill>
          <a:ln/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495044" y="4419295"/>
            <a:ext cx="114300" cy="114300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1439266" y="4585716"/>
            <a:ext cx="3145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CFO</a:t>
            </a:r>
            <a:endParaRPr lang="en-US" sz="900" dirty="0"/>
          </a:p>
        </p:txBody>
      </p:sp>
      <p:sp>
        <p:nvSpPr>
          <p:cNvPr id="40" name="Text 33"/>
          <p:cNvSpPr txBox="1"/>
          <p:nvPr/>
        </p:nvSpPr>
        <p:spPr>
          <a:xfrm>
            <a:off x="1287475" y="4737506"/>
            <a:ext cx="6199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Financier</a:t>
            </a:r>
            <a:endParaRPr lang="en-US" sz="900" dirty="0"/>
          </a:p>
        </p:txBody>
      </p:sp>
      <p:sp>
        <p:nvSpPr>
          <p:cNvPr id="41" name="Shape 34"/>
          <p:cNvSpPr/>
          <p:nvPr/>
        </p:nvSpPr>
        <p:spPr>
          <a:xfrm>
            <a:off x="2467051" y="4328770"/>
            <a:ext cx="1628546" cy="647395"/>
          </a:xfrm>
          <a:prstGeom prst="roundRect">
            <a:avLst>
              <a:gd name="adj" fmla="val 12463"/>
            </a:avLst>
          </a:prstGeom>
          <a:solidFill>
            <a:srgbClr val="F8F9FA"/>
          </a:solidFill>
          <a:ln/>
          <a:effectLst>
            <a:outerShdw sx="100000" sy="100000" kx="0" ky="0" algn="bl" rotWithShape="0" blurRad="38100" dist="25400" dir="5400000">
              <a:srgbClr val="000000">
                <a:alpha val="8000"/>
              </a:srgbClr>
            </a:outerShdw>
          </a:effectLst>
        </p:spPr>
      </p:sp>
      <p:sp>
        <p:nvSpPr>
          <p:cNvPr id="42" name="Shape 35"/>
          <p:cNvSpPr/>
          <p:nvPr/>
        </p:nvSpPr>
        <p:spPr>
          <a:xfrm>
            <a:off x="2467051" y="4328770"/>
            <a:ext cx="28346" cy="647395"/>
          </a:xfrm>
          <a:prstGeom prst="rect">
            <a:avLst/>
          </a:prstGeom>
          <a:solidFill>
            <a:srgbClr val="6C757D"/>
          </a:solidFill>
          <a:ln/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rcRect l="-1911" r="-1911" t="0" b="0"/>
          <a:stretch/>
        </p:blipFill>
        <p:spPr>
          <a:xfrm>
            <a:off x="3228746" y="4419295"/>
            <a:ext cx="133502" cy="114300"/>
          </a:xfrm>
          <a:prstGeom prst="rect">
            <a:avLst/>
          </a:prstGeom>
        </p:spPr>
      </p:pic>
      <p:sp>
        <p:nvSpPr>
          <p:cNvPr id="44" name="Text 36"/>
          <p:cNvSpPr txBox="1"/>
          <p:nvPr/>
        </p:nvSpPr>
        <p:spPr>
          <a:xfrm>
            <a:off x="3048610" y="4585716"/>
            <a:ext cx="5815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Contrôle</a:t>
            </a:r>
            <a:endParaRPr lang="en-US" sz="900" dirty="0"/>
          </a:p>
        </p:txBody>
      </p:sp>
      <p:sp>
        <p:nvSpPr>
          <p:cNvPr id="45" name="Text 37"/>
          <p:cNvSpPr txBox="1"/>
          <p:nvPr/>
        </p:nvSpPr>
        <p:spPr>
          <a:xfrm>
            <a:off x="3076956" y="4737506"/>
            <a:ext cx="5239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Gestion</a:t>
            </a:r>
            <a:endParaRPr lang="en-US" sz="900" dirty="0"/>
          </a:p>
        </p:txBody>
      </p:sp>
      <p:sp>
        <p:nvSpPr>
          <p:cNvPr id="46" name="Shape 38"/>
          <p:cNvSpPr/>
          <p:nvPr/>
        </p:nvSpPr>
        <p:spPr>
          <a:xfrm>
            <a:off x="4209898" y="4328770"/>
            <a:ext cx="1628546" cy="647395"/>
          </a:xfrm>
          <a:prstGeom prst="roundRect">
            <a:avLst>
              <a:gd name="adj" fmla="val 12463"/>
            </a:avLst>
          </a:prstGeom>
          <a:solidFill>
            <a:srgbClr val="F8F9FA"/>
          </a:solidFill>
          <a:ln/>
          <a:effectLst>
            <a:outerShdw sx="100000" sy="100000" kx="0" ky="0" algn="bl" rotWithShape="0" blurRad="38100" dist="25400" dir="5400000">
              <a:srgbClr val="000000">
                <a:alpha val="8000"/>
              </a:srgbClr>
            </a:outerShdw>
          </a:effectLst>
        </p:spPr>
      </p:sp>
      <p:sp>
        <p:nvSpPr>
          <p:cNvPr id="47" name="Shape 39"/>
          <p:cNvSpPr/>
          <p:nvPr/>
        </p:nvSpPr>
        <p:spPr>
          <a:xfrm>
            <a:off x="4209898" y="4328770"/>
            <a:ext cx="28346" cy="647395"/>
          </a:xfrm>
          <a:prstGeom prst="rect">
            <a:avLst/>
          </a:prstGeom>
          <a:solidFill>
            <a:srgbClr val="6C757D"/>
          </a:solidFill>
          <a:ln/>
        </p:spPr>
      </p:sp>
      <p:pic>
        <p:nvPicPr>
          <p:cNvPr id="48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80" b="-80"/>
          <a:stretch/>
        </p:blipFill>
        <p:spPr>
          <a:xfrm>
            <a:off x="4967021" y="4419295"/>
            <a:ext cx="142646" cy="114300"/>
          </a:xfrm>
          <a:prstGeom prst="rect">
            <a:avLst/>
          </a:prstGeom>
        </p:spPr>
      </p:pic>
      <p:sp>
        <p:nvSpPr>
          <p:cNvPr id="49" name="Text 40"/>
          <p:cNvSpPr txBox="1"/>
          <p:nvPr/>
        </p:nvSpPr>
        <p:spPr>
          <a:xfrm>
            <a:off x="4767682" y="4585716"/>
            <a:ext cx="6291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Directeur</a:t>
            </a:r>
            <a:endParaRPr lang="en-US" sz="900" dirty="0"/>
          </a:p>
        </p:txBody>
      </p:sp>
      <p:sp>
        <p:nvSpPr>
          <p:cNvPr id="50" name="Text 41"/>
          <p:cNvSpPr txBox="1"/>
          <p:nvPr/>
        </p:nvSpPr>
        <p:spPr>
          <a:xfrm>
            <a:off x="4777740" y="4737506"/>
            <a:ext cx="6099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Juridique</a:t>
            </a:r>
            <a:endParaRPr lang="en-US" sz="900" dirty="0"/>
          </a:p>
        </p:txBody>
      </p:sp>
      <p:sp>
        <p:nvSpPr>
          <p:cNvPr id="51" name="Shape 42"/>
          <p:cNvSpPr/>
          <p:nvPr/>
        </p:nvSpPr>
        <p:spPr>
          <a:xfrm>
            <a:off x="5952744" y="4328770"/>
            <a:ext cx="1628546" cy="647395"/>
          </a:xfrm>
          <a:prstGeom prst="roundRect">
            <a:avLst>
              <a:gd name="adj" fmla="val 12463"/>
            </a:avLst>
          </a:prstGeom>
          <a:solidFill>
            <a:srgbClr val="F8F9FA"/>
          </a:solidFill>
          <a:ln/>
          <a:effectLst>
            <a:outerShdw sx="100000" sy="100000" kx="0" ky="0" algn="bl" rotWithShape="0" blurRad="38100" dist="25400" dir="5400000">
              <a:srgbClr val="000000">
                <a:alpha val="8000"/>
              </a:srgbClr>
            </a:outerShdw>
          </a:effectLst>
        </p:spPr>
      </p:sp>
      <p:sp>
        <p:nvSpPr>
          <p:cNvPr id="52" name="Shape 43"/>
          <p:cNvSpPr/>
          <p:nvPr/>
        </p:nvSpPr>
        <p:spPr>
          <a:xfrm>
            <a:off x="5952744" y="4328770"/>
            <a:ext cx="28346" cy="647395"/>
          </a:xfrm>
          <a:prstGeom prst="rect">
            <a:avLst/>
          </a:prstGeom>
          <a:solidFill>
            <a:srgbClr val="6C757D"/>
          </a:solidFill>
          <a:ln/>
        </p:spPr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80" b="-80"/>
          <a:stretch/>
        </p:blipFill>
        <p:spPr>
          <a:xfrm>
            <a:off x="6710782" y="4419295"/>
            <a:ext cx="142646" cy="114300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6510528" y="4585716"/>
            <a:ext cx="6291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Directeur</a:t>
            </a:r>
            <a:endParaRPr lang="en-US" sz="900" dirty="0"/>
          </a:p>
        </p:txBody>
      </p:sp>
      <p:sp>
        <p:nvSpPr>
          <p:cNvPr id="55" name="Text 45"/>
          <p:cNvSpPr txBox="1"/>
          <p:nvPr/>
        </p:nvSpPr>
        <p:spPr>
          <a:xfrm>
            <a:off x="6699809" y="4737506"/>
            <a:ext cx="2578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RH</a:t>
            </a:r>
            <a:endParaRPr lang="en-US" sz="900" dirty="0"/>
          </a:p>
        </p:txBody>
      </p:sp>
      <p:sp>
        <p:nvSpPr>
          <p:cNvPr id="56" name="Shape 46"/>
          <p:cNvSpPr/>
          <p:nvPr/>
        </p:nvSpPr>
        <p:spPr>
          <a:xfrm>
            <a:off x="724205" y="5090465"/>
            <a:ext cx="1628546" cy="647395"/>
          </a:xfrm>
          <a:prstGeom prst="roundRect">
            <a:avLst>
              <a:gd name="adj" fmla="val 12463"/>
            </a:avLst>
          </a:prstGeom>
          <a:solidFill>
            <a:srgbClr val="F8F9FA"/>
          </a:solidFill>
          <a:ln/>
          <a:effectLst>
            <a:outerShdw sx="100000" sy="100000" kx="0" ky="0" algn="bl" rotWithShape="0" blurRad="38100" dist="25400" dir="5400000">
              <a:srgbClr val="000000">
                <a:alpha val="8000"/>
              </a:srgbClr>
            </a:outerShdw>
          </a:effectLst>
        </p:spPr>
      </p:sp>
      <p:sp>
        <p:nvSpPr>
          <p:cNvPr id="57" name="Shape 47"/>
          <p:cNvSpPr/>
          <p:nvPr/>
        </p:nvSpPr>
        <p:spPr>
          <a:xfrm>
            <a:off x="724205" y="5090465"/>
            <a:ext cx="28346" cy="647395"/>
          </a:xfrm>
          <a:prstGeom prst="rect">
            <a:avLst/>
          </a:prstGeom>
          <a:solidFill>
            <a:srgbClr val="6C757D"/>
          </a:solidFill>
          <a:ln/>
        </p:spPr>
      </p:sp>
      <p:pic>
        <p:nvPicPr>
          <p:cNvPr id="58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1495044" y="5180990"/>
            <a:ext cx="114300" cy="114300"/>
          </a:xfrm>
          <a:prstGeom prst="rect">
            <a:avLst/>
          </a:prstGeom>
        </p:spPr>
      </p:pic>
      <p:sp>
        <p:nvSpPr>
          <p:cNvPr id="59" name="Text 48"/>
          <p:cNvSpPr txBox="1"/>
          <p:nvPr/>
        </p:nvSpPr>
        <p:spPr>
          <a:xfrm>
            <a:off x="1281989" y="5347411"/>
            <a:ext cx="6291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Directeur</a:t>
            </a:r>
            <a:endParaRPr lang="en-US" sz="900" dirty="0"/>
          </a:p>
        </p:txBody>
      </p:sp>
      <p:sp>
        <p:nvSpPr>
          <p:cNvPr id="60" name="Text 49"/>
          <p:cNvSpPr txBox="1"/>
          <p:nvPr/>
        </p:nvSpPr>
        <p:spPr>
          <a:xfrm>
            <a:off x="1424635" y="5500116"/>
            <a:ext cx="3429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</a:t>
            </a:r>
            <a:endParaRPr lang="en-US" sz="900" dirty="0"/>
          </a:p>
        </p:txBody>
      </p:sp>
      <p:sp>
        <p:nvSpPr>
          <p:cNvPr id="61" name="Shape 50"/>
          <p:cNvSpPr/>
          <p:nvPr/>
        </p:nvSpPr>
        <p:spPr>
          <a:xfrm>
            <a:off x="2467051" y="5090465"/>
            <a:ext cx="1628546" cy="647395"/>
          </a:xfrm>
          <a:prstGeom prst="roundRect">
            <a:avLst>
              <a:gd name="adj" fmla="val 12463"/>
            </a:avLst>
          </a:prstGeom>
          <a:solidFill>
            <a:srgbClr val="F8F9FA"/>
          </a:solidFill>
          <a:ln/>
          <a:effectLst>
            <a:outerShdw sx="100000" sy="100000" kx="0" ky="0" algn="bl" rotWithShape="0" blurRad="38100" dist="25400" dir="5400000">
              <a:srgbClr val="000000">
                <a:alpha val="8000"/>
              </a:srgbClr>
            </a:outerShdw>
          </a:effectLst>
        </p:spPr>
      </p:sp>
      <p:sp>
        <p:nvSpPr>
          <p:cNvPr id="62" name="Shape 51"/>
          <p:cNvSpPr/>
          <p:nvPr/>
        </p:nvSpPr>
        <p:spPr>
          <a:xfrm>
            <a:off x="2467051" y="5090465"/>
            <a:ext cx="28346" cy="647395"/>
          </a:xfrm>
          <a:prstGeom prst="rect">
            <a:avLst/>
          </a:prstGeom>
          <a:solidFill>
            <a:srgbClr val="6C757D"/>
          </a:solidFill>
          <a:ln/>
        </p:spPr>
      </p:sp>
      <p:pic>
        <p:nvPicPr>
          <p:cNvPr id="63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80" b="-80"/>
          <a:stretch/>
        </p:blipFill>
        <p:spPr>
          <a:xfrm>
            <a:off x="3224174" y="5180990"/>
            <a:ext cx="142646" cy="114300"/>
          </a:xfrm>
          <a:prstGeom prst="rect">
            <a:avLst/>
          </a:prstGeom>
        </p:spPr>
      </p:pic>
      <p:sp>
        <p:nvSpPr>
          <p:cNvPr id="64" name="Text 52"/>
          <p:cNvSpPr txBox="1"/>
          <p:nvPr/>
        </p:nvSpPr>
        <p:spPr>
          <a:xfrm>
            <a:off x="3194914" y="5347411"/>
            <a:ext cx="2953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CIO</a:t>
            </a:r>
            <a:endParaRPr lang="en-US" sz="900" dirty="0"/>
          </a:p>
        </p:txBody>
      </p:sp>
      <p:sp>
        <p:nvSpPr>
          <p:cNvPr id="65" name="Text 53"/>
          <p:cNvSpPr txBox="1"/>
          <p:nvPr/>
        </p:nvSpPr>
        <p:spPr>
          <a:xfrm>
            <a:off x="3020263" y="5500116"/>
            <a:ext cx="6382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 Groupe</a:t>
            </a:r>
            <a:endParaRPr lang="en-US" sz="900" dirty="0"/>
          </a:p>
        </p:txBody>
      </p:sp>
      <p:sp>
        <p:nvSpPr>
          <p:cNvPr id="66" name="Shape 54"/>
          <p:cNvSpPr/>
          <p:nvPr/>
        </p:nvSpPr>
        <p:spPr>
          <a:xfrm>
            <a:off x="4209898" y="5090465"/>
            <a:ext cx="1628546" cy="647395"/>
          </a:xfrm>
          <a:prstGeom prst="roundRect">
            <a:avLst>
              <a:gd name="adj" fmla="val 12463"/>
            </a:avLst>
          </a:prstGeom>
          <a:solidFill>
            <a:srgbClr val="F8F9FA"/>
          </a:solidFill>
          <a:ln/>
          <a:effectLst>
            <a:outerShdw sx="100000" sy="100000" kx="0" ky="0" algn="bl" rotWithShape="0" blurRad="38100" dist="25400" dir="5400000">
              <a:srgbClr val="000000">
                <a:alpha val="8000"/>
              </a:srgbClr>
            </a:outerShdw>
          </a:effectLst>
        </p:spPr>
      </p:sp>
      <p:sp>
        <p:nvSpPr>
          <p:cNvPr id="67" name="Shape 55"/>
          <p:cNvSpPr/>
          <p:nvPr/>
        </p:nvSpPr>
        <p:spPr>
          <a:xfrm>
            <a:off x="4209898" y="5090465"/>
            <a:ext cx="28346" cy="647395"/>
          </a:xfrm>
          <a:prstGeom prst="rect">
            <a:avLst/>
          </a:prstGeom>
          <a:solidFill>
            <a:srgbClr val="6C757D"/>
          </a:solidFill>
          <a:ln/>
        </p:spPr>
      </p:sp>
      <p:pic>
        <p:nvPicPr>
          <p:cNvPr id="68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4981651" y="5180990"/>
            <a:ext cx="114300" cy="114300"/>
          </a:xfrm>
          <a:prstGeom prst="rect">
            <a:avLst/>
          </a:prstGeom>
        </p:spPr>
      </p:pic>
      <p:sp>
        <p:nvSpPr>
          <p:cNvPr id="69" name="Text 56"/>
          <p:cNvSpPr txBox="1"/>
          <p:nvPr/>
        </p:nvSpPr>
        <p:spPr>
          <a:xfrm>
            <a:off x="4882896" y="5347411"/>
            <a:ext cx="4005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Audit</a:t>
            </a:r>
            <a:endParaRPr lang="en-US" sz="900" dirty="0"/>
          </a:p>
        </p:txBody>
      </p:sp>
      <p:sp>
        <p:nvSpPr>
          <p:cNvPr id="70" name="Text 57"/>
          <p:cNvSpPr txBox="1"/>
          <p:nvPr/>
        </p:nvSpPr>
        <p:spPr>
          <a:xfrm>
            <a:off x="4826203" y="5500116"/>
            <a:ext cx="5148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Interne</a:t>
            </a:r>
            <a:endParaRPr lang="en-US" sz="900" dirty="0"/>
          </a:p>
        </p:txBody>
      </p:sp>
      <p:sp>
        <p:nvSpPr>
          <p:cNvPr id="71" name="Shape 58"/>
          <p:cNvSpPr/>
          <p:nvPr/>
        </p:nvSpPr>
        <p:spPr>
          <a:xfrm>
            <a:off x="5952744" y="5090465"/>
            <a:ext cx="1628546" cy="647395"/>
          </a:xfrm>
          <a:prstGeom prst="roundRect">
            <a:avLst>
              <a:gd name="adj" fmla="val 12463"/>
            </a:avLst>
          </a:prstGeom>
          <a:solidFill>
            <a:srgbClr val="F8F9FA"/>
          </a:solidFill>
          <a:ln/>
          <a:effectLst>
            <a:outerShdw sx="100000" sy="100000" kx="0" ky="0" algn="bl" rotWithShape="0" blurRad="38100" dist="25400" dir="5400000">
              <a:srgbClr val="000000">
                <a:alpha val="8000"/>
              </a:srgbClr>
            </a:outerShdw>
          </a:effectLst>
        </p:spPr>
      </p:sp>
      <p:sp>
        <p:nvSpPr>
          <p:cNvPr id="72" name="Shape 59"/>
          <p:cNvSpPr/>
          <p:nvPr/>
        </p:nvSpPr>
        <p:spPr>
          <a:xfrm>
            <a:off x="5952744" y="5090465"/>
            <a:ext cx="28346" cy="647395"/>
          </a:xfrm>
          <a:prstGeom prst="rect">
            <a:avLst/>
          </a:prstGeom>
          <a:solidFill>
            <a:srgbClr val="6C757D"/>
          </a:solidFill>
          <a:ln/>
        </p:spPr>
      </p:sp>
      <p:pic>
        <p:nvPicPr>
          <p:cNvPr id="73" name="Image 11" descr="preencoded.png">    </p:cNvPr>
          <p:cNvPicPr>
            <a:picLocks noChangeAspect="1"/>
          </p:cNvPicPr>
          <p:nvPr/>
        </p:nvPicPr>
        <p:blipFill>
          <a:blip r:embed="rId12"/>
          <a:srcRect l="-2571" r="-2571" t="0" b="0"/>
          <a:stretch/>
        </p:blipFill>
        <p:spPr>
          <a:xfrm>
            <a:off x="6729070" y="5180990"/>
            <a:ext cx="105156" cy="114300"/>
          </a:xfrm>
          <a:prstGeom prst="rect">
            <a:avLst/>
          </a:prstGeom>
        </p:spPr>
      </p:pic>
      <p:sp>
        <p:nvSpPr>
          <p:cNvPr id="74" name="Text 60"/>
          <p:cNvSpPr txBox="1"/>
          <p:nvPr/>
        </p:nvSpPr>
        <p:spPr>
          <a:xfrm>
            <a:off x="6445606" y="5347411"/>
            <a:ext cx="762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Assistant(e)</a:t>
            </a:r>
            <a:endParaRPr lang="en-US" sz="900" dirty="0"/>
          </a:p>
        </p:txBody>
      </p:sp>
      <p:sp>
        <p:nvSpPr>
          <p:cNvPr id="75" name="Text 61"/>
          <p:cNvSpPr txBox="1"/>
          <p:nvPr/>
        </p:nvSpPr>
        <p:spPr>
          <a:xfrm>
            <a:off x="6517843" y="5500116"/>
            <a:ext cx="6199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Direction</a:t>
            </a:r>
            <a:endParaRPr lang="en-US" sz="900" dirty="0"/>
          </a:p>
        </p:txBody>
      </p:sp>
      <p:sp>
        <p:nvSpPr>
          <p:cNvPr id="76" name="Shape 62"/>
          <p:cNvSpPr/>
          <p:nvPr/>
        </p:nvSpPr>
        <p:spPr>
          <a:xfrm>
            <a:off x="8039405" y="4347058"/>
            <a:ext cx="1657807" cy="647395"/>
          </a:xfrm>
          <a:prstGeom prst="roundRect">
            <a:avLst>
              <a:gd name="adj" fmla="val 12463"/>
            </a:avLst>
          </a:prstGeom>
          <a:solidFill>
            <a:srgbClr val="FFF5F7"/>
          </a:solidFill>
          <a:ln/>
          <a:effectLst>
            <a:outerShdw sx="100000" sy="100000" kx="0" ky="0" algn="bl" rotWithShape="0" blurRad="38100" dist="25400" dir="5400000">
              <a:srgbClr val="000000">
                <a:alpha val="8000"/>
              </a:srgbClr>
            </a:outerShdw>
          </a:effectLst>
        </p:spPr>
      </p:sp>
      <p:sp>
        <p:nvSpPr>
          <p:cNvPr id="77" name="Shape 63"/>
          <p:cNvSpPr/>
          <p:nvPr/>
        </p:nvSpPr>
        <p:spPr>
          <a:xfrm>
            <a:off x="8039405" y="4347058"/>
            <a:ext cx="28346" cy="647395"/>
          </a:xfrm>
          <a:prstGeom prst="rect">
            <a:avLst/>
          </a:prstGeom>
          <a:solidFill>
            <a:srgbClr val="8B1538"/>
          </a:solidFill>
          <a:ln/>
        </p:spPr>
      </p:sp>
      <p:pic>
        <p:nvPicPr>
          <p:cNvPr id="78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8824874" y="4437583"/>
            <a:ext cx="114300" cy="114300"/>
          </a:xfrm>
          <a:prstGeom prst="rect">
            <a:avLst/>
          </a:prstGeom>
        </p:spPr>
      </p:pic>
      <p:sp>
        <p:nvSpPr>
          <p:cNvPr id="79" name="Text 64"/>
          <p:cNvSpPr txBox="1"/>
          <p:nvPr/>
        </p:nvSpPr>
        <p:spPr>
          <a:xfrm>
            <a:off x="8610905" y="4604918"/>
            <a:ext cx="6291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Directeur</a:t>
            </a:r>
            <a:endParaRPr lang="en-US" sz="900" dirty="0"/>
          </a:p>
        </p:txBody>
      </p:sp>
      <p:sp>
        <p:nvSpPr>
          <p:cNvPr id="80" name="Text 65"/>
          <p:cNvSpPr txBox="1"/>
          <p:nvPr/>
        </p:nvSpPr>
        <p:spPr>
          <a:xfrm>
            <a:off x="8622792" y="4756709"/>
            <a:ext cx="6099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Stratégie</a:t>
            </a:r>
            <a:endParaRPr lang="en-US" sz="900" dirty="0"/>
          </a:p>
        </p:txBody>
      </p:sp>
      <p:sp>
        <p:nvSpPr>
          <p:cNvPr id="81" name="Shape 66"/>
          <p:cNvSpPr/>
          <p:nvPr/>
        </p:nvSpPr>
        <p:spPr>
          <a:xfrm>
            <a:off x="9810598" y="4347058"/>
            <a:ext cx="1657807" cy="647395"/>
          </a:xfrm>
          <a:prstGeom prst="roundRect">
            <a:avLst>
              <a:gd name="adj" fmla="val 12463"/>
            </a:avLst>
          </a:prstGeom>
          <a:solidFill>
            <a:srgbClr val="FFF5F7"/>
          </a:solidFill>
          <a:ln/>
          <a:effectLst>
            <a:outerShdw sx="100000" sy="100000" kx="0" ky="0" algn="bl" rotWithShape="0" blurRad="38100" dist="25400" dir="5400000">
              <a:srgbClr val="000000">
                <a:alpha val="8000"/>
              </a:srgbClr>
            </a:outerShdw>
          </a:effectLst>
        </p:spPr>
      </p:sp>
      <p:sp>
        <p:nvSpPr>
          <p:cNvPr id="82" name="Shape 67"/>
          <p:cNvSpPr/>
          <p:nvPr/>
        </p:nvSpPr>
        <p:spPr>
          <a:xfrm>
            <a:off x="9810598" y="4347058"/>
            <a:ext cx="28346" cy="647395"/>
          </a:xfrm>
          <a:prstGeom prst="rect">
            <a:avLst/>
          </a:prstGeom>
          <a:solidFill>
            <a:srgbClr val="8B1538"/>
          </a:solidFill>
          <a:ln/>
        </p:spPr>
      </p:sp>
      <p:pic>
        <p:nvPicPr>
          <p:cNvPr id="83" name="Image 13" descr="preencoded.png">    </p:cNvPr>
          <p:cNvPicPr>
            <a:picLocks noChangeAspect="1"/>
          </p:cNvPicPr>
          <p:nvPr/>
        </p:nvPicPr>
        <p:blipFill>
          <a:blip r:embed="rId14"/>
          <a:srcRect l="-1911" r="-1911" t="0" b="0"/>
          <a:stretch/>
        </p:blipFill>
        <p:spPr>
          <a:xfrm>
            <a:off x="10586923" y="4437583"/>
            <a:ext cx="133502" cy="114300"/>
          </a:xfrm>
          <a:prstGeom prst="rect">
            <a:avLst/>
          </a:prstGeom>
        </p:spPr>
      </p:pic>
      <p:sp>
        <p:nvSpPr>
          <p:cNvPr id="84" name="Text 68"/>
          <p:cNvSpPr txBox="1"/>
          <p:nvPr/>
        </p:nvSpPr>
        <p:spPr>
          <a:xfrm>
            <a:off x="10452506" y="4604918"/>
            <a:ext cx="4956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Projets</a:t>
            </a:r>
            <a:endParaRPr lang="en-US" sz="900" dirty="0"/>
          </a:p>
        </p:txBody>
      </p:sp>
      <p:sp>
        <p:nvSpPr>
          <p:cNvPr id="85" name="Text 69"/>
          <p:cNvSpPr txBox="1"/>
          <p:nvPr/>
        </p:nvSpPr>
        <p:spPr>
          <a:xfrm>
            <a:off x="10292486" y="4756709"/>
            <a:ext cx="8101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Stratégiques</a:t>
            </a:r>
            <a:endParaRPr lang="en-US" sz="900" dirty="0"/>
          </a:p>
        </p:txBody>
      </p:sp>
      <p:sp>
        <p:nvSpPr>
          <p:cNvPr id="86" name="Shape 70"/>
          <p:cNvSpPr/>
          <p:nvPr/>
        </p:nvSpPr>
        <p:spPr>
          <a:xfrm>
            <a:off x="8039405" y="5109667"/>
            <a:ext cx="1657807" cy="647395"/>
          </a:xfrm>
          <a:prstGeom prst="roundRect">
            <a:avLst>
              <a:gd name="adj" fmla="val 12463"/>
            </a:avLst>
          </a:prstGeom>
          <a:solidFill>
            <a:srgbClr val="FFF5F7"/>
          </a:solidFill>
          <a:ln/>
          <a:effectLst>
            <a:outerShdw sx="100000" sy="100000" kx="0" ky="0" algn="bl" rotWithShape="0" blurRad="38100" dist="25400" dir="5400000">
              <a:srgbClr val="000000">
                <a:alpha val="8000"/>
              </a:srgbClr>
            </a:outerShdw>
          </a:effectLst>
        </p:spPr>
      </p:sp>
      <p:sp>
        <p:nvSpPr>
          <p:cNvPr id="87" name="Shape 71"/>
          <p:cNvSpPr/>
          <p:nvPr/>
        </p:nvSpPr>
        <p:spPr>
          <a:xfrm>
            <a:off x="8039405" y="5109667"/>
            <a:ext cx="28346" cy="647395"/>
          </a:xfrm>
          <a:prstGeom prst="rect">
            <a:avLst/>
          </a:prstGeom>
          <a:solidFill>
            <a:srgbClr val="8B1538"/>
          </a:solidFill>
          <a:ln/>
        </p:spPr>
      </p:sp>
      <p:pic>
        <p:nvPicPr>
          <p:cNvPr id="88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8824874" y="5200193"/>
            <a:ext cx="114300" cy="114300"/>
          </a:xfrm>
          <a:prstGeom prst="rect">
            <a:avLst/>
          </a:prstGeom>
        </p:spPr>
      </p:pic>
      <p:sp>
        <p:nvSpPr>
          <p:cNvPr id="89" name="Text 72"/>
          <p:cNvSpPr txBox="1"/>
          <p:nvPr/>
        </p:nvSpPr>
        <p:spPr>
          <a:xfrm>
            <a:off x="8723376" y="5366614"/>
            <a:ext cx="4096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RSE &amp;</a:t>
            </a:r>
            <a:endParaRPr lang="en-US" sz="900" dirty="0"/>
          </a:p>
        </p:txBody>
      </p:sp>
      <p:sp>
        <p:nvSpPr>
          <p:cNvPr id="90" name="Text 73"/>
          <p:cNvSpPr txBox="1"/>
          <p:nvPr/>
        </p:nvSpPr>
        <p:spPr>
          <a:xfrm>
            <a:off x="8594446" y="5519318"/>
            <a:ext cx="6675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Durabilité</a:t>
            </a:r>
            <a:endParaRPr lang="en-US" sz="900" dirty="0"/>
          </a:p>
        </p:txBody>
      </p:sp>
      <p:sp>
        <p:nvSpPr>
          <p:cNvPr id="91" name="Shape 74"/>
          <p:cNvSpPr/>
          <p:nvPr/>
        </p:nvSpPr>
        <p:spPr>
          <a:xfrm>
            <a:off x="9810598" y="5109667"/>
            <a:ext cx="1657807" cy="647395"/>
          </a:xfrm>
          <a:prstGeom prst="roundRect">
            <a:avLst>
              <a:gd name="adj" fmla="val 12463"/>
            </a:avLst>
          </a:prstGeom>
          <a:solidFill>
            <a:srgbClr val="FFF5F7"/>
          </a:solidFill>
          <a:ln/>
          <a:effectLst>
            <a:outerShdw sx="100000" sy="100000" kx="0" ky="0" algn="bl" rotWithShape="0" blurRad="38100" dist="25400" dir="5400000">
              <a:srgbClr val="000000">
                <a:alpha val="8000"/>
              </a:srgbClr>
            </a:outerShdw>
          </a:effectLst>
        </p:spPr>
      </p:sp>
      <p:sp>
        <p:nvSpPr>
          <p:cNvPr id="92" name="Shape 75"/>
          <p:cNvSpPr/>
          <p:nvPr/>
        </p:nvSpPr>
        <p:spPr>
          <a:xfrm>
            <a:off x="9810598" y="5109667"/>
            <a:ext cx="28346" cy="647395"/>
          </a:xfrm>
          <a:prstGeom prst="rect">
            <a:avLst/>
          </a:prstGeom>
          <a:solidFill>
            <a:srgbClr val="8B1538"/>
          </a:solidFill>
          <a:ln/>
        </p:spPr>
      </p:sp>
      <p:pic>
        <p:nvPicPr>
          <p:cNvPr id="93" name="Image 15" descr="preencoded.png">    </p:cNvPr>
          <p:cNvPicPr>
            <a:picLocks noChangeAspect="1"/>
          </p:cNvPicPr>
          <p:nvPr/>
        </p:nvPicPr>
        <p:blipFill>
          <a:blip r:embed="rId16"/>
          <a:srcRect l="-2571" r="-2571" t="0" b="0"/>
          <a:stretch/>
        </p:blipFill>
        <p:spPr>
          <a:xfrm>
            <a:off x="10601554" y="5200193"/>
            <a:ext cx="105156" cy="114300"/>
          </a:xfrm>
          <a:prstGeom prst="rect">
            <a:avLst/>
          </a:prstGeom>
        </p:spPr>
      </p:pic>
      <p:sp>
        <p:nvSpPr>
          <p:cNvPr id="94" name="Text 76"/>
          <p:cNvSpPr txBox="1"/>
          <p:nvPr/>
        </p:nvSpPr>
        <p:spPr>
          <a:xfrm>
            <a:off x="10517429" y="5366614"/>
            <a:ext cx="3621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</a:t>
            </a:r>
            <a:endParaRPr lang="en-US" sz="900" dirty="0"/>
          </a:p>
        </p:txBody>
      </p:sp>
      <p:sp>
        <p:nvSpPr>
          <p:cNvPr id="95" name="Text 77"/>
          <p:cNvSpPr txBox="1"/>
          <p:nvPr/>
        </p:nvSpPr>
        <p:spPr>
          <a:xfrm>
            <a:off x="10438790" y="5519318"/>
            <a:ext cx="5239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Analyst</a:t>
            </a:r>
            <a:endParaRPr lang="en-US" sz="900" dirty="0"/>
          </a:p>
        </p:txBody>
      </p:sp>
      <p:sp>
        <p:nvSpPr>
          <p:cNvPr id="96" name="Shape 78"/>
          <p:cNvSpPr/>
          <p:nvPr/>
        </p:nvSpPr>
        <p:spPr>
          <a:xfrm>
            <a:off x="4876495" y="2836469"/>
            <a:ext cx="2438705" cy="552298"/>
          </a:xfrm>
          <a:prstGeom prst="roundRect">
            <a:avLst>
              <a:gd name="adj" fmla="val 17127"/>
            </a:avLst>
          </a:prstGeom>
          <a:solidFill>
            <a:srgbClr val="FFFFFF"/>
          </a:solidFill>
          <a:ln w="25400">
            <a:solidFill>
              <a:srgbClr val="8B1538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8000"/>
              </a:srgbClr>
            </a:outerShdw>
          </a:effectLst>
        </p:spPr>
      </p:sp>
      <p:sp>
        <p:nvSpPr>
          <p:cNvPr id="97" name="Text 79"/>
          <p:cNvSpPr txBox="1"/>
          <p:nvPr/>
        </p:nvSpPr>
        <p:spPr>
          <a:xfrm>
            <a:off x="5213909" y="2941625"/>
            <a:ext cx="187543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153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Directeur Général Groupe</a:t>
            </a:r>
            <a:endParaRPr lang="en-US" sz="1000" dirty="0"/>
          </a:p>
        </p:txBody>
      </p:sp>
      <p:sp>
        <p:nvSpPr>
          <p:cNvPr id="98" name="Text 80"/>
          <p:cNvSpPr txBox="1"/>
          <p:nvPr/>
        </p:nvSpPr>
        <p:spPr>
          <a:xfrm>
            <a:off x="5755234" y="3128162"/>
            <a:ext cx="77724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[À nommer]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039051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0390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826496" y="105156"/>
            <a:ext cx="1562710" cy="924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8B15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8B1538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91717"/>
            <a:ext cx="1127729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629107"/>
            <a:ext cx="75895" cy="304495"/>
          </a:xfrm>
          <a:prstGeom prst="roundRect">
            <a:avLst>
              <a:gd name="adj" fmla="val 301206"/>
            </a:avLst>
          </a:prstGeom>
          <a:solidFill>
            <a:srgbClr val="8B1538"/>
          </a:solidFill>
          <a:ln/>
        </p:spPr>
      </p:sp>
      <p:sp>
        <p:nvSpPr>
          <p:cNvPr id="8" name="Shape 6"/>
          <p:cNvSpPr/>
          <p:nvPr/>
        </p:nvSpPr>
        <p:spPr>
          <a:xfrm>
            <a:off x="10030054" y="990295"/>
            <a:ext cx="1705356" cy="323698"/>
          </a:xfrm>
          <a:prstGeom prst="roundRect">
            <a:avLst>
              <a:gd name="adj" fmla="val 282486"/>
            </a:avLst>
          </a:prstGeom>
          <a:solidFill>
            <a:srgbClr val="8B1538">
              <a:alpha val="5000"/>
            </a:srgbClr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28546"/>
            <a:ext cx="3610051" cy="2057400"/>
          </a:xfrm>
          <a:prstGeom prst="roundRect">
            <a:avLst>
              <a:gd name="adj" fmla="val 1646"/>
            </a:avLst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" y="1828800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8B1538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3" b="-43"/>
          <a:stretch/>
        </p:blipFill>
        <p:spPr>
          <a:xfrm>
            <a:off x="809244" y="1943100"/>
            <a:ext cx="133502" cy="152705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85800" y="2324405"/>
            <a:ext cx="3181198" cy="9144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-2571" r="-2571" t="0" b="0"/>
          <a:stretch/>
        </p:blipFill>
        <p:spPr>
          <a:xfrm>
            <a:off x="685800" y="2486254"/>
            <a:ext cx="105156" cy="114300"/>
          </a:xfrm>
          <a:prstGeom prst="rect">
            <a:avLst/>
          </a:prstGeom>
        </p:spPr>
      </p:pic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0" b="-80"/>
          <a:stretch/>
        </p:blipFill>
        <p:spPr>
          <a:xfrm>
            <a:off x="685800" y="2752344"/>
            <a:ext cx="142646" cy="114300"/>
          </a:xfrm>
          <a:prstGeom prst="rect">
            <a:avLst/>
          </a:prstGeom>
        </p:spPr>
      </p:pic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80" b="-80"/>
          <a:stretch/>
        </p:blipFill>
        <p:spPr>
          <a:xfrm>
            <a:off x="685800" y="3019349"/>
            <a:ext cx="142646" cy="11430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457200" y="3873398"/>
            <a:ext cx="3610051" cy="2057400"/>
          </a:xfrm>
          <a:prstGeom prst="roundRect">
            <a:avLst>
              <a:gd name="adj" fmla="val 1646"/>
            </a:avLst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57454" y="4091940"/>
            <a:ext cx="237744" cy="190195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3414370" y="4088282"/>
            <a:ext cx="457200" cy="200254"/>
          </a:xfrm>
          <a:prstGeom prst="roundRect">
            <a:avLst>
              <a:gd name="adj" fmla="val 217438"/>
            </a:avLst>
          </a:prstGeom>
          <a:solidFill>
            <a:srgbClr val="8B1538"/>
          </a:solidFill>
          <a:ln/>
        </p:spPr>
      </p:sp>
      <p:sp>
        <p:nvSpPr>
          <p:cNvPr id="19" name="Shape 12"/>
          <p:cNvSpPr/>
          <p:nvPr/>
        </p:nvSpPr>
        <p:spPr>
          <a:xfrm>
            <a:off x="657454" y="4416552"/>
            <a:ext cx="1571854" cy="323698"/>
          </a:xfrm>
          <a:prstGeom prst="roundRect">
            <a:avLst>
              <a:gd name="adj" fmla="val 3323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2298802" y="4416552"/>
            <a:ext cx="1571854" cy="323698"/>
          </a:xfrm>
          <a:prstGeom prst="roundRect">
            <a:avLst>
              <a:gd name="adj" fmla="val 3323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4"/>
          <p:cNvSpPr/>
          <p:nvPr/>
        </p:nvSpPr>
        <p:spPr>
          <a:xfrm>
            <a:off x="657454" y="4816145"/>
            <a:ext cx="1571854" cy="323698"/>
          </a:xfrm>
          <a:prstGeom prst="roundRect">
            <a:avLst>
              <a:gd name="adj" fmla="val 3323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2298802" y="4816145"/>
            <a:ext cx="1571854" cy="323698"/>
          </a:xfrm>
          <a:prstGeom prst="roundRect">
            <a:avLst>
              <a:gd name="adj" fmla="val 3323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4292194" y="1628546"/>
            <a:ext cx="7448702" cy="5181905"/>
          </a:xfrm>
          <a:prstGeom prst="roundRect">
            <a:avLst>
              <a:gd name="adj" fmla="val 260"/>
            </a:avLst>
          </a:prstGeom>
          <a:solidFill>
            <a:srgbClr val="FFFFFF"/>
          </a:solidFill>
          <a:ln/>
        </p:spPr>
      </p:sp>
      <p:sp>
        <p:nvSpPr>
          <p:cNvPr id="24" name="Shape 17"/>
          <p:cNvSpPr/>
          <p:nvPr/>
        </p:nvSpPr>
        <p:spPr>
          <a:xfrm>
            <a:off x="4330598" y="1666951"/>
            <a:ext cx="3610051" cy="1790395"/>
          </a:xfrm>
          <a:prstGeom prst="roundRect">
            <a:avLst>
              <a:gd name="adj" fmla="val 2173"/>
            </a:avLst>
          </a:prstGeom>
          <a:solidFill>
            <a:srgbClr val="FFFFFF"/>
          </a:solidFill>
          <a:ln w="38100">
            <a:solidFill>
              <a:srgbClr val="8B1538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4339742" y="1695298"/>
            <a:ext cx="3590849" cy="400507"/>
          </a:xfrm>
          <a:prstGeom prst="roundRect">
            <a:avLst>
              <a:gd name="adj" fmla="val 43488"/>
            </a:avLst>
          </a:prstGeom>
          <a:solidFill>
            <a:srgbClr val="FAFAFA"/>
          </a:solidFill>
          <a:ln/>
        </p:spPr>
      </p:sp>
      <p:sp>
        <p:nvSpPr>
          <p:cNvPr id="26" name="Shape 19"/>
          <p:cNvSpPr/>
          <p:nvPr/>
        </p:nvSpPr>
        <p:spPr>
          <a:xfrm>
            <a:off x="4339742" y="2086661"/>
            <a:ext cx="3590849" cy="9144"/>
          </a:xfrm>
          <a:prstGeom prst="rect">
            <a:avLst/>
          </a:prstGeom>
          <a:solidFill>
            <a:srgbClr val="F0F0F0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483303" y="1813255"/>
            <a:ext cx="152705" cy="152705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7609637" y="1790395"/>
            <a:ext cx="181051" cy="200254"/>
          </a:xfrm>
          <a:prstGeom prst="roundRect">
            <a:avLst>
              <a:gd name="adj" fmla="val 265816"/>
            </a:avLst>
          </a:prstGeom>
          <a:solidFill>
            <a:srgbClr val="8B1538"/>
          </a:solidFill>
          <a:ln/>
        </p:spPr>
      </p:sp>
      <p:sp>
        <p:nvSpPr>
          <p:cNvPr id="29" name="Shape 21"/>
          <p:cNvSpPr/>
          <p:nvPr/>
        </p:nvSpPr>
        <p:spPr>
          <a:xfrm>
            <a:off x="8089697" y="1666951"/>
            <a:ext cx="3610051" cy="1790395"/>
          </a:xfrm>
          <a:prstGeom prst="roundRect">
            <a:avLst>
              <a:gd name="adj" fmla="val 2173"/>
            </a:avLst>
          </a:prstGeom>
          <a:solidFill>
            <a:srgbClr val="FFFFFF"/>
          </a:solidFill>
          <a:ln w="38100">
            <a:solidFill>
              <a:srgbClr val="8B1538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8099755" y="1695298"/>
            <a:ext cx="3590849" cy="400507"/>
          </a:xfrm>
          <a:prstGeom prst="roundRect">
            <a:avLst>
              <a:gd name="adj" fmla="val 43488"/>
            </a:avLst>
          </a:prstGeom>
          <a:solidFill>
            <a:srgbClr val="FAFAFA"/>
          </a:solidFill>
          <a:ln/>
        </p:spPr>
      </p:sp>
      <p:sp>
        <p:nvSpPr>
          <p:cNvPr id="31" name="Shape 23"/>
          <p:cNvSpPr/>
          <p:nvPr/>
        </p:nvSpPr>
        <p:spPr>
          <a:xfrm>
            <a:off x="8099755" y="2086661"/>
            <a:ext cx="3590849" cy="9144"/>
          </a:xfrm>
          <a:prstGeom prst="rect">
            <a:avLst/>
          </a:prstGeom>
          <a:solidFill>
            <a:srgbClr val="F0F0F0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8242402" y="1813255"/>
            <a:ext cx="152705" cy="152705"/>
          </a:xfrm>
          <a:prstGeom prst="rect">
            <a:avLst/>
          </a:prstGeom>
        </p:spPr>
      </p:pic>
      <p:sp>
        <p:nvSpPr>
          <p:cNvPr id="33" name="Shape 24"/>
          <p:cNvSpPr/>
          <p:nvPr/>
        </p:nvSpPr>
        <p:spPr>
          <a:xfrm>
            <a:off x="11368735" y="1790395"/>
            <a:ext cx="181051" cy="200254"/>
          </a:xfrm>
          <a:prstGeom prst="roundRect">
            <a:avLst>
              <a:gd name="adj" fmla="val 265816"/>
            </a:avLst>
          </a:prstGeom>
          <a:solidFill>
            <a:srgbClr val="8B1538"/>
          </a:solidFill>
          <a:ln/>
        </p:spPr>
      </p:sp>
      <p:sp>
        <p:nvSpPr>
          <p:cNvPr id="34" name="Shape 25"/>
          <p:cNvSpPr/>
          <p:nvPr/>
        </p:nvSpPr>
        <p:spPr>
          <a:xfrm>
            <a:off x="4330598" y="3603650"/>
            <a:ext cx="3610051" cy="1600200"/>
          </a:xfrm>
          <a:prstGeom prst="roundRect">
            <a:avLst>
              <a:gd name="adj" fmla="val 2721"/>
            </a:avLst>
          </a:prstGeom>
          <a:solidFill>
            <a:srgbClr val="FFFFFF"/>
          </a:solidFill>
          <a:ln w="38100">
            <a:solidFill>
              <a:srgbClr val="8B1538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35" name="Shape 26"/>
          <p:cNvSpPr/>
          <p:nvPr/>
        </p:nvSpPr>
        <p:spPr>
          <a:xfrm>
            <a:off x="4339742" y="3631997"/>
            <a:ext cx="3590849" cy="400507"/>
          </a:xfrm>
          <a:prstGeom prst="roundRect">
            <a:avLst>
              <a:gd name="adj" fmla="val 43488"/>
            </a:avLst>
          </a:prstGeom>
          <a:solidFill>
            <a:srgbClr val="FAFAFA"/>
          </a:solidFill>
          <a:ln/>
        </p:spPr>
      </p:sp>
      <p:sp>
        <p:nvSpPr>
          <p:cNvPr id="36" name="Shape 27"/>
          <p:cNvSpPr/>
          <p:nvPr/>
        </p:nvSpPr>
        <p:spPr>
          <a:xfrm>
            <a:off x="4339742" y="4023360"/>
            <a:ext cx="3590849" cy="9144"/>
          </a:xfrm>
          <a:prstGeom prst="rect">
            <a:avLst/>
          </a:prstGeom>
          <a:solidFill>
            <a:srgbClr val="F0F0F0"/>
          </a:solidFill>
          <a:ln/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180" b="-180"/>
          <a:stretch/>
        </p:blipFill>
        <p:spPr>
          <a:xfrm>
            <a:off x="4483303" y="3750869"/>
            <a:ext cx="190195" cy="152705"/>
          </a:xfrm>
          <a:prstGeom prst="rect">
            <a:avLst/>
          </a:prstGeom>
        </p:spPr>
      </p:pic>
      <p:sp>
        <p:nvSpPr>
          <p:cNvPr id="38" name="Shape 28"/>
          <p:cNvSpPr/>
          <p:nvPr/>
        </p:nvSpPr>
        <p:spPr>
          <a:xfrm>
            <a:off x="7609637" y="3728009"/>
            <a:ext cx="181051" cy="200254"/>
          </a:xfrm>
          <a:prstGeom prst="roundRect">
            <a:avLst>
              <a:gd name="adj" fmla="val 265816"/>
            </a:avLst>
          </a:prstGeom>
          <a:solidFill>
            <a:srgbClr val="8B1538"/>
          </a:solidFill>
          <a:ln/>
        </p:spPr>
      </p:sp>
      <p:sp>
        <p:nvSpPr>
          <p:cNvPr id="39" name="Shape 29"/>
          <p:cNvSpPr/>
          <p:nvPr/>
        </p:nvSpPr>
        <p:spPr>
          <a:xfrm>
            <a:off x="8089697" y="3603650"/>
            <a:ext cx="3610051" cy="1600200"/>
          </a:xfrm>
          <a:prstGeom prst="roundRect">
            <a:avLst>
              <a:gd name="adj" fmla="val 2721"/>
            </a:avLst>
          </a:prstGeom>
          <a:solidFill>
            <a:srgbClr val="FFFFFF"/>
          </a:solidFill>
          <a:ln w="38100">
            <a:solidFill>
              <a:srgbClr val="8B1538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40" name="Shape 30"/>
          <p:cNvSpPr/>
          <p:nvPr/>
        </p:nvSpPr>
        <p:spPr>
          <a:xfrm>
            <a:off x="8099755" y="3631997"/>
            <a:ext cx="3590849" cy="400507"/>
          </a:xfrm>
          <a:prstGeom prst="roundRect">
            <a:avLst>
              <a:gd name="adj" fmla="val 43488"/>
            </a:avLst>
          </a:prstGeom>
          <a:solidFill>
            <a:srgbClr val="FAFAFA"/>
          </a:solidFill>
          <a:ln/>
        </p:spPr>
      </p:sp>
      <p:sp>
        <p:nvSpPr>
          <p:cNvPr id="41" name="Shape 31"/>
          <p:cNvSpPr/>
          <p:nvPr/>
        </p:nvSpPr>
        <p:spPr>
          <a:xfrm>
            <a:off x="8099755" y="4023360"/>
            <a:ext cx="3590849" cy="9144"/>
          </a:xfrm>
          <a:prstGeom prst="rect">
            <a:avLst/>
          </a:prstGeom>
          <a:solidFill>
            <a:srgbClr val="F0F0F0"/>
          </a:solidFill>
          <a:ln/>
        </p:spPr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8242402" y="3750869"/>
            <a:ext cx="152705" cy="152705"/>
          </a:xfrm>
          <a:prstGeom prst="rect">
            <a:avLst/>
          </a:prstGeom>
        </p:spPr>
      </p:pic>
      <p:sp>
        <p:nvSpPr>
          <p:cNvPr id="43" name="Shape 32"/>
          <p:cNvSpPr/>
          <p:nvPr/>
        </p:nvSpPr>
        <p:spPr>
          <a:xfrm>
            <a:off x="11368735" y="3728009"/>
            <a:ext cx="181051" cy="200254"/>
          </a:xfrm>
          <a:prstGeom prst="roundRect">
            <a:avLst>
              <a:gd name="adj" fmla="val 265816"/>
            </a:avLst>
          </a:prstGeom>
          <a:solidFill>
            <a:srgbClr val="8B1538"/>
          </a:solidFill>
          <a:ln/>
        </p:spPr>
      </p:sp>
      <p:sp>
        <p:nvSpPr>
          <p:cNvPr id="44" name="Shape 33"/>
          <p:cNvSpPr/>
          <p:nvPr/>
        </p:nvSpPr>
        <p:spPr>
          <a:xfrm>
            <a:off x="4330598" y="5353812"/>
            <a:ext cx="7372807" cy="1419149"/>
          </a:xfrm>
          <a:prstGeom prst="roundRect">
            <a:avLst>
              <a:gd name="adj" fmla="val 3459"/>
            </a:avLst>
          </a:prstGeom>
          <a:solidFill>
            <a:srgbClr val="FFFFFF"/>
          </a:solidFill>
          <a:ln w="38100">
            <a:solidFill>
              <a:srgbClr val="8B1538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45" name="Shape 34"/>
          <p:cNvSpPr/>
          <p:nvPr/>
        </p:nvSpPr>
        <p:spPr>
          <a:xfrm>
            <a:off x="4339742" y="5383073"/>
            <a:ext cx="7353605" cy="400507"/>
          </a:xfrm>
          <a:prstGeom prst="roundRect">
            <a:avLst>
              <a:gd name="adj" fmla="val 43488"/>
            </a:avLst>
          </a:prstGeom>
          <a:solidFill>
            <a:srgbClr val="FAFAFA"/>
          </a:solidFill>
          <a:ln/>
        </p:spPr>
      </p:sp>
      <p:sp>
        <p:nvSpPr>
          <p:cNvPr id="46" name="Shape 35"/>
          <p:cNvSpPr/>
          <p:nvPr/>
        </p:nvSpPr>
        <p:spPr>
          <a:xfrm>
            <a:off x="4339742" y="5774436"/>
            <a:ext cx="7353605" cy="9144"/>
          </a:xfrm>
          <a:prstGeom prst="rect">
            <a:avLst/>
          </a:prstGeom>
          <a:solidFill>
            <a:srgbClr val="F0F0F0"/>
          </a:solidFill>
          <a:ln/>
        </p:spPr>
      </p:sp>
      <p:pic>
        <p:nvPicPr>
          <p:cNvPr id="47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180" b="-180"/>
          <a:stretch/>
        </p:blipFill>
        <p:spPr>
          <a:xfrm>
            <a:off x="4483303" y="5501030"/>
            <a:ext cx="190195" cy="152705"/>
          </a:xfrm>
          <a:prstGeom prst="rect">
            <a:avLst/>
          </a:prstGeom>
        </p:spPr>
      </p:pic>
      <p:sp>
        <p:nvSpPr>
          <p:cNvPr id="48" name="Shape 36"/>
          <p:cNvSpPr/>
          <p:nvPr/>
        </p:nvSpPr>
        <p:spPr>
          <a:xfrm>
            <a:off x="11368735" y="5478170"/>
            <a:ext cx="181051" cy="200254"/>
          </a:xfrm>
          <a:prstGeom prst="roundRect">
            <a:avLst>
              <a:gd name="adj" fmla="val 265816"/>
            </a:avLst>
          </a:prstGeom>
          <a:solidFill>
            <a:srgbClr val="8B1538"/>
          </a:solidFill>
          <a:ln/>
        </p:spPr>
      </p:sp>
      <p:sp>
        <p:nvSpPr>
          <p:cNvPr id="49" name="Text 37"/>
          <p:cNvSpPr txBox="1"/>
          <p:nvPr/>
        </p:nvSpPr>
        <p:spPr>
          <a:xfrm>
            <a:off x="685800" y="599846"/>
            <a:ext cx="558698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RISHOM INVESTMENT &amp; CONSULTING</a:t>
            </a:r>
            <a:endParaRPr lang="en-US" sz="2200" dirty="0"/>
          </a:p>
        </p:txBody>
      </p:sp>
      <p:sp>
        <p:nvSpPr>
          <p:cNvPr id="50" name="Text 38"/>
          <p:cNvSpPr txBox="1"/>
          <p:nvPr/>
        </p:nvSpPr>
        <p:spPr>
          <a:xfrm>
            <a:off x="685800" y="1067105"/>
            <a:ext cx="47292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Structure Organisationnelle et Domaines d'Expertise (RIC)</a:t>
            </a:r>
            <a:endParaRPr lang="en-US" sz="1300" dirty="0"/>
          </a:p>
        </p:txBody>
      </p:sp>
      <p:pic>
        <p:nvPicPr>
          <p:cNvPr id="51" name="Image 10" descr="preencoded.png">    </p:cNvPr>
          <p:cNvPicPr>
            <a:picLocks noChangeAspect="1"/>
          </p:cNvPicPr>
          <p:nvPr/>
        </p:nvPicPr>
        <p:blipFill>
          <a:blip r:embed="rId11"/>
          <a:srcRect l="-1507" r="-1507" t="0" b="0"/>
          <a:stretch/>
        </p:blipFill>
        <p:spPr>
          <a:xfrm>
            <a:off x="10191902" y="1092708"/>
            <a:ext cx="171907" cy="133502"/>
          </a:xfrm>
          <a:prstGeom prst="rect">
            <a:avLst/>
          </a:prstGeom>
        </p:spPr>
      </p:pic>
      <p:sp>
        <p:nvSpPr>
          <p:cNvPr id="52" name="Text 39"/>
          <p:cNvSpPr txBox="1"/>
          <p:nvPr/>
        </p:nvSpPr>
        <p:spPr>
          <a:xfrm>
            <a:off x="10439705" y="1067105"/>
            <a:ext cx="12335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: 37 Experts</a:t>
            </a:r>
            <a:endParaRPr lang="en-US" sz="1000" dirty="0"/>
          </a:p>
        </p:txBody>
      </p:sp>
      <p:sp>
        <p:nvSpPr>
          <p:cNvPr id="53" name="Text 40"/>
          <p:cNvSpPr txBox="1"/>
          <p:nvPr/>
        </p:nvSpPr>
        <p:spPr>
          <a:xfrm>
            <a:off x="1181405" y="1836115"/>
            <a:ext cx="18150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Direction Générale</a:t>
            </a:r>
            <a:endParaRPr lang="en-US" sz="1300" dirty="0"/>
          </a:p>
        </p:txBody>
      </p:sp>
      <p:sp>
        <p:nvSpPr>
          <p:cNvPr id="54" name="Text 41"/>
          <p:cNvSpPr txBox="1"/>
          <p:nvPr/>
        </p:nvSpPr>
        <p:spPr>
          <a:xfrm>
            <a:off x="1181405" y="2040941"/>
            <a:ext cx="14575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PILOTAGE STRATÉGIQUE</a:t>
            </a:r>
            <a:endParaRPr lang="en-US" sz="900" dirty="0"/>
          </a:p>
        </p:txBody>
      </p:sp>
      <p:sp>
        <p:nvSpPr>
          <p:cNvPr id="55" name="Text 42"/>
          <p:cNvSpPr txBox="1"/>
          <p:nvPr/>
        </p:nvSpPr>
        <p:spPr>
          <a:xfrm>
            <a:off x="866851" y="2447849"/>
            <a:ext cx="16148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Directeur Général (DG)</a:t>
            </a:r>
            <a:endParaRPr lang="en-US" sz="1000" dirty="0"/>
          </a:p>
        </p:txBody>
      </p:sp>
      <p:sp>
        <p:nvSpPr>
          <p:cNvPr id="56" name="Text 43"/>
          <p:cNvSpPr txBox="1"/>
          <p:nvPr/>
        </p:nvSpPr>
        <p:spPr>
          <a:xfrm>
            <a:off x="905256" y="2714854"/>
            <a:ext cx="15956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DGA Opérations Conseil</a:t>
            </a:r>
            <a:endParaRPr lang="en-US" sz="1000" dirty="0"/>
          </a:p>
        </p:txBody>
      </p:sp>
      <p:sp>
        <p:nvSpPr>
          <p:cNvPr id="57" name="Text 44"/>
          <p:cNvSpPr txBox="1"/>
          <p:nvPr/>
        </p:nvSpPr>
        <p:spPr>
          <a:xfrm>
            <a:off x="905256" y="2980944"/>
            <a:ext cx="22530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Resp. Développement Commercial</a:t>
            </a:r>
            <a:endParaRPr lang="en-US" sz="1000" dirty="0"/>
          </a:p>
        </p:txBody>
      </p:sp>
      <p:sp>
        <p:nvSpPr>
          <p:cNvPr id="58" name="Text 45"/>
          <p:cNvSpPr txBox="1"/>
          <p:nvPr/>
        </p:nvSpPr>
        <p:spPr>
          <a:xfrm>
            <a:off x="1009498" y="4091940"/>
            <a:ext cx="18580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Support Administratif</a:t>
            </a:r>
            <a:endParaRPr lang="en-US" sz="1200" dirty="0"/>
          </a:p>
        </p:txBody>
      </p:sp>
      <p:sp>
        <p:nvSpPr>
          <p:cNvPr id="59" name="Text 46"/>
          <p:cNvSpPr txBox="1"/>
          <p:nvPr/>
        </p:nvSpPr>
        <p:spPr>
          <a:xfrm>
            <a:off x="3471977" y="4107485"/>
            <a:ext cx="42336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 Pers.</a:t>
            </a:r>
            <a:endParaRPr lang="en-US" sz="800" dirty="0"/>
          </a:p>
        </p:txBody>
      </p:sp>
      <p:sp>
        <p:nvSpPr>
          <p:cNvPr id="60" name="Text 47"/>
          <p:cNvSpPr txBox="1"/>
          <p:nvPr/>
        </p:nvSpPr>
        <p:spPr>
          <a:xfrm>
            <a:off x="1326794" y="4492447"/>
            <a:ext cx="3145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DAF</a:t>
            </a:r>
            <a:endParaRPr lang="en-US" sz="900" dirty="0"/>
          </a:p>
        </p:txBody>
      </p:sp>
      <p:sp>
        <p:nvSpPr>
          <p:cNvPr id="61" name="Text 48"/>
          <p:cNvSpPr txBox="1"/>
          <p:nvPr/>
        </p:nvSpPr>
        <p:spPr>
          <a:xfrm>
            <a:off x="2925166" y="4492447"/>
            <a:ext cx="4005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 / SI</a:t>
            </a:r>
            <a:endParaRPr lang="en-US" sz="900" dirty="0"/>
          </a:p>
        </p:txBody>
      </p:sp>
      <p:sp>
        <p:nvSpPr>
          <p:cNvPr id="62" name="Text 49"/>
          <p:cNvSpPr txBox="1"/>
          <p:nvPr/>
        </p:nvSpPr>
        <p:spPr>
          <a:xfrm>
            <a:off x="1239012" y="4892040"/>
            <a:ext cx="4956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Comm.</a:t>
            </a:r>
            <a:endParaRPr lang="en-US" sz="900" dirty="0"/>
          </a:p>
        </p:txBody>
      </p:sp>
      <p:sp>
        <p:nvSpPr>
          <p:cNvPr id="63" name="Text 50"/>
          <p:cNvSpPr txBox="1"/>
          <p:nvPr/>
        </p:nvSpPr>
        <p:spPr>
          <a:xfrm>
            <a:off x="2876702" y="4892040"/>
            <a:ext cx="4956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Accueil</a:t>
            </a:r>
            <a:endParaRPr lang="en-US" sz="900" dirty="0"/>
          </a:p>
        </p:txBody>
      </p:sp>
      <p:sp>
        <p:nvSpPr>
          <p:cNvPr id="64" name="Text 51"/>
          <p:cNvSpPr txBox="1"/>
          <p:nvPr/>
        </p:nvSpPr>
        <p:spPr>
          <a:xfrm>
            <a:off x="1340510" y="5244998"/>
            <a:ext cx="19339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Fonctions transversales au cabinet</a:t>
            </a:r>
            <a:endParaRPr lang="en-US" sz="900" dirty="0"/>
          </a:p>
        </p:txBody>
      </p:sp>
      <p:sp>
        <p:nvSpPr>
          <p:cNvPr id="65" name="Text 52"/>
          <p:cNvSpPr txBox="1"/>
          <p:nvPr/>
        </p:nvSpPr>
        <p:spPr>
          <a:xfrm>
            <a:off x="617220" y="6270041"/>
            <a:ext cx="339608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"Optimiser vos ressources, concrétiser vos ambitions !"</a:t>
            </a:r>
            <a:endParaRPr lang="en-US" sz="1000" dirty="0"/>
          </a:p>
        </p:txBody>
      </p:sp>
      <p:sp>
        <p:nvSpPr>
          <p:cNvPr id="66" name="Text 53"/>
          <p:cNvSpPr txBox="1"/>
          <p:nvPr/>
        </p:nvSpPr>
        <p:spPr>
          <a:xfrm>
            <a:off x="4711903" y="1804111"/>
            <a:ext cx="14438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A) Audit &amp; Contrôle</a:t>
            </a:r>
            <a:endParaRPr lang="en-US" sz="1000" dirty="0"/>
          </a:p>
        </p:txBody>
      </p:sp>
      <p:sp>
        <p:nvSpPr>
          <p:cNvPr id="67" name="Text 54"/>
          <p:cNvSpPr txBox="1"/>
          <p:nvPr/>
        </p:nvSpPr>
        <p:spPr>
          <a:xfrm>
            <a:off x="7667244" y="1809598"/>
            <a:ext cx="14721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</a:t>
            </a:r>
            <a:endParaRPr lang="en-US" sz="800" dirty="0"/>
          </a:p>
        </p:txBody>
      </p:sp>
      <p:sp>
        <p:nvSpPr>
          <p:cNvPr id="68" name="Text 55"/>
          <p:cNvSpPr txBox="1"/>
          <p:nvPr/>
        </p:nvSpPr>
        <p:spPr>
          <a:xfrm>
            <a:off x="8471002" y="1804111"/>
            <a:ext cx="145298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D) Études &amp; Projets</a:t>
            </a:r>
            <a:endParaRPr lang="en-US" sz="1000" dirty="0"/>
          </a:p>
        </p:txBody>
      </p:sp>
      <p:sp>
        <p:nvSpPr>
          <p:cNvPr id="69" name="Text 56"/>
          <p:cNvSpPr txBox="1"/>
          <p:nvPr/>
        </p:nvSpPr>
        <p:spPr>
          <a:xfrm>
            <a:off x="11426342" y="1809598"/>
            <a:ext cx="14721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</a:t>
            </a:r>
            <a:endParaRPr lang="en-US" sz="800" dirty="0"/>
          </a:p>
        </p:txBody>
      </p:sp>
      <p:sp>
        <p:nvSpPr>
          <p:cNvPr id="70" name="Text 57"/>
          <p:cNvSpPr txBox="1"/>
          <p:nvPr/>
        </p:nvSpPr>
        <p:spPr>
          <a:xfrm>
            <a:off x="4749394" y="3740810"/>
            <a:ext cx="102412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B) Formation</a:t>
            </a:r>
            <a:endParaRPr lang="en-US" sz="1000" dirty="0"/>
          </a:p>
        </p:txBody>
      </p:sp>
      <p:sp>
        <p:nvSpPr>
          <p:cNvPr id="71" name="Text 58"/>
          <p:cNvSpPr txBox="1"/>
          <p:nvPr/>
        </p:nvSpPr>
        <p:spPr>
          <a:xfrm>
            <a:off x="7667244" y="3746297"/>
            <a:ext cx="14721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800" dirty="0"/>
          </a:p>
        </p:txBody>
      </p:sp>
      <p:sp>
        <p:nvSpPr>
          <p:cNvPr id="72" name="Text 59"/>
          <p:cNvSpPr txBox="1"/>
          <p:nvPr/>
        </p:nvSpPr>
        <p:spPr>
          <a:xfrm>
            <a:off x="8471002" y="3740810"/>
            <a:ext cx="150053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C) Gestion &amp; Conseil</a:t>
            </a:r>
            <a:endParaRPr lang="en-US" sz="1000" dirty="0"/>
          </a:p>
        </p:txBody>
      </p:sp>
      <p:sp>
        <p:nvSpPr>
          <p:cNvPr id="73" name="Text 60"/>
          <p:cNvSpPr txBox="1"/>
          <p:nvPr/>
        </p:nvSpPr>
        <p:spPr>
          <a:xfrm>
            <a:off x="11426342" y="3746297"/>
            <a:ext cx="14721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800" dirty="0"/>
          </a:p>
        </p:txBody>
      </p:sp>
      <p:sp>
        <p:nvSpPr>
          <p:cNvPr id="74" name="Text 61"/>
          <p:cNvSpPr txBox="1"/>
          <p:nvPr/>
        </p:nvSpPr>
        <p:spPr>
          <a:xfrm>
            <a:off x="4749394" y="5490972"/>
            <a:ext cx="303397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E) Ressources Humaines (Capital Humain)</a:t>
            </a:r>
            <a:endParaRPr lang="en-US" sz="1000" dirty="0"/>
          </a:p>
        </p:txBody>
      </p:sp>
      <p:sp>
        <p:nvSpPr>
          <p:cNvPr id="75" name="Text 62"/>
          <p:cNvSpPr txBox="1"/>
          <p:nvPr/>
        </p:nvSpPr>
        <p:spPr>
          <a:xfrm>
            <a:off x="11426342" y="5497373"/>
            <a:ext cx="14721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</a:t>
            </a:r>
            <a:endParaRPr lang="en-US" sz="800" dirty="0"/>
          </a:p>
        </p:txBody>
      </p:sp>
      <p:sp>
        <p:nvSpPr>
          <p:cNvPr id="76" name="Text 63"/>
          <p:cNvSpPr txBox="1"/>
          <p:nvPr/>
        </p:nvSpPr>
        <p:spPr>
          <a:xfrm>
            <a:off x="4597603" y="2198218"/>
            <a:ext cx="16486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Directeur Département Audit</a:t>
            </a:r>
            <a:endParaRPr lang="en-US" sz="900" dirty="0"/>
          </a:p>
        </p:txBody>
      </p:sp>
      <p:sp>
        <p:nvSpPr>
          <p:cNvPr id="77" name="Text 64"/>
          <p:cNvSpPr txBox="1"/>
          <p:nvPr/>
        </p:nvSpPr>
        <p:spPr>
          <a:xfrm>
            <a:off x="4597603" y="2384755"/>
            <a:ext cx="14383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Senior Auditeur Financier</a:t>
            </a:r>
            <a:endParaRPr lang="en-US" sz="900" dirty="0"/>
          </a:p>
        </p:txBody>
      </p:sp>
      <p:sp>
        <p:nvSpPr>
          <p:cNvPr id="78" name="Text 65"/>
          <p:cNvSpPr txBox="1"/>
          <p:nvPr/>
        </p:nvSpPr>
        <p:spPr>
          <a:xfrm>
            <a:off x="4597603" y="2571293"/>
            <a:ext cx="15718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Auditeur Interne &amp; Contrôle</a:t>
            </a:r>
            <a:endParaRPr lang="en-US" sz="900" dirty="0"/>
          </a:p>
        </p:txBody>
      </p:sp>
      <p:sp>
        <p:nvSpPr>
          <p:cNvPr id="79" name="Text 66"/>
          <p:cNvSpPr txBox="1"/>
          <p:nvPr/>
        </p:nvSpPr>
        <p:spPr>
          <a:xfrm>
            <a:off x="4597603" y="2757830"/>
            <a:ext cx="1714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Consultant Audit Opérationnel</a:t>
            </a:r>
            <a:endParaRPr lang="en-US" sz="900" dirty="0"/>
          </a:p>
        </p:txBody>
      </p:sp>
      <p:sp>
        <p:nvSpPr>
          <p:cNvPr id="80" name="Text 67"/>
          <p:cNvSpPr txBox="1"/>
          <p:nvPr/>
        </p:nvSpPr>
        <p:spPr>
          <a:xfrm>
            <a:off x="4597603" y="2945282"/>
            <a:ext cx="15526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Auditeur Stock &amp; Inventaire</a:t>
            </a:r>
            <a:endParaRPr lang="en-US" sz="900" dirty="0"/>
          </a:p>
        </p:txBody>
      </p:sp>
      <p:sp>
        <p:nvSpPr>
          <p:cNvPr id="81" name="Text 68"/>
          <p:cNvSpPr txBox="1"/>
          <p:nvPr/>
        </p:nvSpPr>
        <p:spPr>
          <a:xfrm>
            <a:off x="4597603" y="3131820"/>
            <a:ext cx="8961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Auditeur Junior</a:t>
            </a:r>
            <a:endParaRPr lang="en-US" sz="900" dirty="0"/>
          </a:p>
        </p:txBody>
      </p:sp>
      <p:sp>
        <p:nvSpPr>
          <p:cNvPr id="82" name="Text 69"/>
          <p:cNvSpPr txBox="1"/>
          <p:nvPr/>
        </p:nvSpPr>
        <p:spPr>
          <a:xfrm>
            <a:off x="8356702" y="2198218"/>
            <a:ext cx="17245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Directeur Département Études</a:t>
            </a:r>
            <a:endParaRPr lang="en-US" sz="900" dirty="0"/>
          </a:p>
        </p:txBody>
      </p:sp>
      <p:sp>
        <p:nvSpPr>
          <p:cNvPr id="83" name="Text 70"/>
          <p:cNvSpPr txBox="1"/>
          <p:nvPr/>
        </p:nvSpPr>
        <p:spPr>
          <a:xfrm>
            <a:off x="8356702" y="2384755"/>
            <a:ext cx="14767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Chef de Projet - Faisabilité</a:t>
            </a:r>
            <a:endParaRPr lang="en-US" sz="900" dirty="0"/>
          </a:p>
        </p:txBody>
      </p:sp>
      <p:sp>
        <p:nvSpPr>
          <p:cNvPr id="84" name="Text 71"/>
          <p:cNvSpPr txBox="1"/>
          <p:nvPr/>
        </p:nvSpPr>
        <p:spPr>
          <a:xfrm>
            <a:off x="8356702" y="2571293"/>
            <a:ext cx="16578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Consultant Études de Marché</a:t>
            </a:r>
            <a:endParaRPr lang="en-US" sz="900" dirty="0"/>
          </a:p>
        </p:txBody>
      </p:sp>
      <p:sp>
        <p:nvSpPr>
          <p:cNvPr id="85" name="Text 72"/>
          <p:cNvSpPr txBox="1"/>
          <p:nvPr/>
        </p:nvSpPr>
        <p:spPr>
          <a:xfrm>
            <a:off x="8356702" y="2757830"/>
            <a:ext cx="16194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Analyste Impact Social &amp; RSE</a:t>
            </a:r>
            <a:endParaRPr lang="en-US" sz="900" dirty="0"/>
          </a:p>
        </p:txBody>
      </p:sp>
      <p:sp>
        <p:nvSpPr>
          <p:cNvPr id="86" name="Text 73"/>
          <p:cNvSpPr txBox="1"/>
          <p:nvPr/>
        </p:nvSpPr>
        <p:spPr>
          <a:xfrm>
            <a:off x="8356702" y="2945282"/>
            <a:ext cx="762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Analyst</a:t>
            </a:r>
            <a:endParaRPr lang="en-US" sz="900" dirty="0"/>
          </a:p>
        </p:txBody>
      </p:sp>
      <p:sp>
        <p:nvSpPr>
          <p:cNvPr id="87" name="Text 74"/>
          <p:cNvSpPr txBox="1"/>
          <p:nvPr/>
        </p:nvSpPr>
        <p:spPr>
          <a:xfrm>
            <a:off x="8356702" y="3131820"/>
            <a:ext cx="13057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Chargé d'Études Junior</a:t>
            </a:r>
            <a:endParaRPr lang="en-US" sz="900" dirty="0"/>
          </a:p>
        </p:txBody>
      </p:sp>
      <p:sp>
        <p:nvSpPr>
          <p:cNvPr id="88" name="Text 75"/>
          <p:cNvSpPr txBox="1"/>
          <p:nvPr/>
        </p:nvSpPr>
        <p:spPr>
          <a:xfrm>
            <a:off x="4597603" y="4134917"/>
            <a:ext cx="19147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Directeur Département Formation</a:t>
            </a:r>
            <a:endParaRPr lang="en-US" sz="900" dirty="0"/>
          </a:p>
        </p:txBody>
      </p:sp>
      <p:sp>
        <p:nvSpPr>
          <p:cNvPr id="89" name="Text 76"/>
          <p:cNvSpPr txBox="1"/>
          <p:nvPr/>
        </p:nvSpPr>
        <p:spPr>
          <a:xfrm>
            <a:off x="4597603" y="4322369"/>
            <a:ext cx="13432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Ingénieur de Formation</a:t>
            </a:r>
            <a:endParaRPr lang="en-US" sz="900" dirty="0"/>
          </a:p>
        </p:txBody>
      </p:sp>
      <p:sp>
        <p:nvSpPr>
          <p:cNvPr id="90" name="Text 77"/>
          <p:cNvSpPr txBox="1"/>
          <p:nvPr/>
        </p:nvSpPr>
        <p:spPr>
          <a:xfrm>
            <a:off x="4597603" y="4508906"/>
            <a:ext cx="14383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Formateur Senior (Mgmt)</a:t>
            </a:r>
            <a:endParaRPr lang="en-US" sz="900" dirty="0"/>
          </a:p>
        </p:txBody>
      </p:sp>
      <p:sp>
        <p:nvSpPr>
          <p:cNvPr id="91" name="Text 78"/>
          <p:cNvSpPr txBox="1"/>
          <p:nvPr/>
        </p:nvSpPr>
        <p:spPr>
          <a:xfrm>
            <a:off x="4597603" y="4695444"/>
            <a:ext cx="13816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Coordinateur Logistique</a:t>
            </a:r>
            <a:endParaRPr lang="en-US" sz="900" dirty="0"/>
          </a:p>
        </p:txBody>
      </p:sp>
      <p:sp>
        <p:nvSpPr>
          <p:cNvPr id="92" name="Text 79"/>
          <p:cNvSpPr txBox="1"/>
          <p:nvPr/>
        </p:nvSpPr>
        <p:spPr>
          <a:xfrm>
            <a:off x="4597603" y="4881982"/>
            <a:ext cx="16102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Chargé de Suivi &amp; Évaluation</a:t>
            </a:r>
            <a:endParaRPr lang="en-US" sz="900" dirty="0"/>
          </a:p>
        </p:txBody>
      </p:sp>
      <p:sp>
        <p:nvSpPr>
          <p:cNvPr id="93" name="Text 80"/>
          <p:cNvSpPr txBox="1"/>
          <p:nvPr/>
        </p:nvSpPr>
        <p:spPr>
          <a:xfrm>
            <a:off x="8356702" y="4134917"/>
            <a:ext cx="16102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Directeur Conseil en Gestion</a:t>
            </a:r>
            <a:endParaRPr lang="en-US" sz="900" dirty="0"/>
          </a:p>
        </p:txBody>
      </p:sp>
      <p:sp>
        <p:nvSpPr>
          <p:cNvPr id="94" name="Text 81"/>
          <p:cNvSpPr txBox="1"/>
          <p:nvPr/>
        </p:nvSpPr>
        <p:spPr>
          <a:xfrm>
            <a:off x="8356702" y="4322369"/>
            <a:ext cx="17245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Consultant Senior - Patrimoine</a:t>
            </a:r>
            <a:endParaRPr lang="en-US" sz="900" dirty="0"/>
          </a:p>
        </p:txBody>
      </p:sp>
      <p:sp>
        <p:nvSpPr>
          <p:cNvPr id="95" name="Text 82"/>
          <p:cNvSpPr txBox="1"/>
          <p:nvPr/>
        </p:nvSpPr>
        <p:spPr>
          <a:xfrm>
            <a:off x="8356702" y="4508906"/>
            <a:ext cx="16669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Consultant Orga. &amp; Processus</a:t>
            </a:r>
            <a:endParaRPr lang="en-US" sz="900" dirty="0"/>
          </a:p>
        </p:txBody>
      </p:sp>
      <p:sp>
        <p:nvSpPr>
          <p:cNvPr id="96" name="Text 83"/>
          <p:cNvSpPr txBox="1"/>
          <p:nvPr/>
        </p:nvSpPr>
        <p:spPr>
          <a:xfrm>
            <a:off x="8356702" y="4695444"/>
            <a:ext cx="15910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Consultant AMO (Transfo SI)</a:t>
            </a:r>
            <a:endParaRPr lang="en-US" sz="900" dirty="0"/>
          </a:p>
        </p:txBody>
      </p:sp>
      <p:sp>
        <p:nvSpPr>
          <p:cNvPr id="97" name="Text 84"/>
          <p:cNvSpPr txBox="1"/>
          <p:nvPr/>
        </p:nvSpPr>
        <p:spPr>
          <a:xfrm>
            <a:off x="8356702" y="4881982"/>
            <a:ext cx="14575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Consultant Junior Gestion</a:t>
            </a:r>
            <a:endParaRPr lang="en-US" sz="900" dirty="0"/>
          </a:p>
        </p:txBody>
      </p:sp>
      <p:sp>
        <p:nvSpPr>
          <p:cNvPr id="98" name="Text 85"/>
          <p:cNvSpPr txBox="1"/>
          <p:nvPr/>
        </p:nvSpPr>
        <p:spPr>
          <a:xfrm>
            <a:off x="4597603" y="5885993"/>
            <a:ext cx="15151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Directeur Département RH</a:t>
            </a:r>
            <a:endParaRPr lang="en-US" sz="900" dirty="0"/>
          </a:p>
        </p:txBody>
      </p:sp>
      <p:sp>
        <p:nvSpPr>
          <p:cNvPr id="99" name="Text 86"/>
          <p:cNvSpPr txBox="1"/>
          <p:nvPr/>
        </p:nvSpPr>
        <p:spPr>
          <a:xfrm>
            <a:off x="4597603" y="6072530"/>
            <a:ext cx="14959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Responsable Recrutement</a:t>
            </a:r>
            <a:endParaRPr lang="en-US" sz="900" dirty="0"/>
          </a:p>
        </p:txBody>
      </p:sp>
      <p:sp>
        <p:nvSpPr>
          <p:cNvPr id="100" name="Text 87"/>
          <p:cNvSpPr txBox="1"/>
          <p:nvPr/>
        </p:nvSpPr>
        <p:spPr>
          <a:xfrm>
            <a:off x="4597603" y="6259068"/>
            <a:ext cx="18955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Responsable Intérim &amp; Placement</a:t>
            </a:r>
            <a:endParaRPr lang="en-US" sz="900" dirty="0"/>
          </a:p>
        </p:txBody>
      </p:sp>
      <p:sp>
        <p:nvSpPr>
          <p:cNvPr id="101" name="Text 88"/>
          <p:cNvSpPr txBox="1"/>
          <p:nvPr/>
        </p:nvSpPr>
        <p:spPr>
          <a:xfrm>
            <a:off x="4597603" y="6445606"/>
            <a:ext cx="13057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Psychologue du Travail</a:t>
            </a:r>
            <a:endParaRPr lang="en-US" sz="900" dirty="0"/>
          </a:p>
        </p:txBody>
      </p:sp>
      <p:sp>
        <p:nvSpPr>
          <p:cNvPr id="102" name="Text 89"/>
          <p:cNvSpPr txBox="1"/>
          <p:nvPr/>
        </p:nvSpPr>
        <p:spPr>
          <a:xfrm>
            <a:off x="8432597" y="5885993"/>
            <a:ext cx="12289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Consultant RH Senior</a:t>
            </a:r>
            <a:endParaRPr lang="en-US" sz="900" dirty="0"/>
          </a:p>
        </p:txBody>
      </p:sp>
      <p:sp>
        <p:nvSpPr>
          <p:cNvPr id="103" name="Text 90"/>
          <p:cNvSpPr txBox="1"/>
          <p:nvPr/>
        </p:nvSpPr>
        <p:spPr>
          <a:xfrm>
            <a:off x="8432597" y="6072530"/>
            <a:ext cx="10287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Gestionnaire Paie</a:t>
            </a:r>
            <a:endParaRPr lang="en-US" sz="900" dirty="0"/>
          </a:p>
        </p:txBody>
      </p:sp>
      <p:sp>
        <p:nvSpPr>
          <p:cNvPr id="104" name="Text 91"/>
          <p:cNvSpPr txBox="1"/>
          <p:nvPr/>
        </p:nvSpPr>
        <p:spPr>
          <a:xfrm>
            <a:off x="8432597" y="6259068"/>
            <a:ext cx="7525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Assistant RH</a:t>
            </a:r>
            <a:endParaRPr lang="en-US" sz="900" dirty="0"/>
          </a:p>
        </p:txBody>
      </p:sp>
      <p:sp>
        <p:nvSpPr>
          <p:cNvPr id="105" name="Shape 92"/>
          <p:cNvSpPr/>
          <p:nvPr/>
        </p:nvSpPr>
        <p:spPr>
          <a:xfrm>
            <a:off x="457200" y="6679692"/>
            <a:ext cx="112772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06" name="Text 93"/>
          <p:cNvSpPr txBox="1"/>
          <p:nvPr/>
        </p:nvSpPr>
        <p:spPr>
          <a:xfrm>
            <a:off x="2119579" y="6737299"/>
            <a:ext cx="806775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RIC : RISHOM Investment &amp; Consulting SARL | Spécialisation future (2025-2028) : Secteurs minier, ONG, bancaire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01507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840150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94492" y="105156"/>
            <a:ext cx="1591056" cy="924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8B15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8B1538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91717"/>
            <a:ext cx="1127729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629107"/>
            <a:ext cx="75895" cy="304495"/>
          </a:xfrm>
          <a:prstGeom prst="roundRect">
            <a:avLst>
              <a:gd name="adj" fmla="val 301206"/>
            </a:avLst>
          </a:prstGeom>
          <a:solidFill>
            <a:srgbClr val="8B1538"/>
          </a:solidFill>
          <a:ln/>
        </p:spPr>
      </p:sp>
      <p:sp>
        <p:nvSpPr>
          <p:cNvPr id="8" name="Shape 6"/>
          <p:cNvSpPr/>
          <p:nvPr/>
        </p:nvSpPr>
        <p:spPr>
          <a:xfrm>
            <a:off x="9060790" y="990295"/>
            <a:ext cx="2676449" cy="323698"/>
          </a:xfrm>
          <a:prstGeom prst="roundRect">
            <a:avLst>
              <a:gd name="adj" fmla="val 282486"/>
            </a:avLst>
          </a:prstGeom>
          <a:solidFill>
            <a:srgbClr val="8B1538">
              <a:alpha val="5000"/>
            </a:srgbClr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28546"/>
            <a:ext cx="3610051" cy="2009851"/>
          </a:xfrm>
          <a:prstGeom prst="roundRect">
            <a:avLst>
              <a:gd name="adj" fmla="val 1725"/>
            </a:avLst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" y="1828800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8B1538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-33" r="-33" t="0" b="0"/>
          <a:stretch/>
        </p:blipFill>
        <p:spPr>
          <a:xfrm>
            <a:off x="790956" y="1943100"/>
            <a:ext cx="171907" cy="152705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85800" y="2324405"/>
            <a:ext cx="3181198" cy="9144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-2571" r="-2571" t="0" b="0"/>
          <a:stretch/>
        </p:blipFill>
        <p:spPr>
          <a:xfrm>
            <a:off x="685800" y="2486254"/>
            <a:ext cx="105156" cy="114300"/>
          </a:xfrm>
          <a:prstGeom prst="rect">
            <a:avLst/>
          </a:prstGeom>
        </p:spPr>
      </p:pic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0" b="-80"/>
          <a:stretch/>
        </p:blipFill>
        <p:spPr>
          <a:xfrm>
            <a:off x="685800" y="2752344"/>
            <a:ext cx="142646" cy="114300"/>
          </a:xfrm>
          <a:prstGeom prst="rect">
            <a:avLst/>
          </a:prstGeom>
        </p:spPr>
      </p:pic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85800" y="3019349"/>
            <a:ext cx="114300" cy="114300"/>
          </a:xfrm>
          <a:prstGeom prst="rect">
            <a:avLst/>
          </a:prstGeom>
        </p:spPr>
      </p:pic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85800" y="3286354"/>
            <a:ext cx="114300" cy="114300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457200" y="3829507"/>
            <a:ext cx="3610051" cy="4343400"/>
          </a:xfrm>
          <a:prstGeom prst="roundRect">
            <a:avLst>
              <a:gd name="adj" fmla="val 535"/>
            </a:avLst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rcRect l="-1282" r="-1282" t="0" b="0"/>
          <a:stretch/>
        </p:blipFill>
        <p:spPr>
          <a:xfrm>
            <a:off x="619049" y="4009644"/>
            <a:ext cx="219456" cy="190195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619049" y="4334256"/>
            <a:ext cx="3286354" cy="1047902"/>
          </a:xfrm>
          <a:prstGeom prst="roundRect">
            <a:avLst>
              <a:gd name="adj" fmla="val 317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2"/>
          <p:cNvSpPr/>
          <p:nvPr/>
        </p:nvSpPr>
        <p:spPr>
          <a:xfrm>
            <a:off x="3106217" y="4457700"/>
            <a:ext cx="676656" cy="228600"/>
          </a:xfrm>
          <a:prstGeom prst="roundRect">
            <a:avLst>
              <a:gd name="adj" fmla="val 66667"/>
            </a:avLst>
          </a:prstGeom>
          <a:solidFill>
            <a:srgbClr val="F3F4F6"/>
          </a:solidFill>
          <a:ln/>
        </p:spPr>
      </p:sp>
      <p:sp>
        <p:nvSpPr>
          <p:cNvPr id="21" name="Text 13"/>
          <p:cNvSpPr txBox="1"/>
          <p:nvPr/>
        </p:nvSpPr>
        <p:spPr>
          <a:xfrm>
            <a:off x="1076249" y="4724705"/>
            <a:ext cx="181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1200" dirty="0"/>
          </a:p>
        </p:txBody>
      </p:sp>
      <p:sp>
        <p:nvSpPr>
          <p:cNvPr id="22" name="Text 14"/>
          <p:cNvSpPr txBox="1"/>
          <p:nvPr/>
        </p:nvSpPr>
        <p:spPr>
          <a:xfrm>
            <a:off x="1571854" y="4724705"/>
            <a:ext cx="181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1200" dirty="0"/>
          </a:p>
        </p:txBody>
      </p:sp>
      <p:sp>
        <p:nvSpPr>
          <p:cNvPr id="23" name="Text 15"/>
          <p:cNvSpPr txBox="1"/>
          <p:nvPr/>
        </p:nvSpPr>
        <p:spPr>
          <a:xfrm>
            <a:off x="2701138" y="4724705"/>
            <a:ext cx="181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1200" dirty="0"/>
          </a:p>
        </p:txBody>
      </p:sp>
      <p:sp>
        <p:nvSpPr>
          <p:cNvPr id="24" name="Text 16"/>
          <p:cNvSpPr txBox="1"/>
          <p:nvPr/>
        </p:nvSpPr>
        <p:spPr>
          <a:xfrm>
            <a:off x="1972361" y="5029200"/>
            <a:ext cx="181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1200" dirty="0"/>
          </a:p>
        </p:txBody>
      </p:sp>
      <p:sp>
        <p:nvSpPr>
          <p:cNvPr id="25" name="Text 17"/>
          <p:cNvSpPr txBox="1"/>
          <p:nvPr/>
        </p:nvSpPr>
        <p:spPr>
          <a:xfrm>
            <a:off x="2581351" y="5029200"/>
            <a:ext cx="181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1200" dirty="0"/>
          </a:p>
        </p:txBody>
      </p:sp>
      <p:sp>
        <p:nvSpPr>
          <p:cNvPr id="26" name="Shape 18"/>
          <p:cNvSpPr/>
          <p:nvPr/>
        </p:nvSpPr>
        <p:spPr>
          <a:xfrm>
            <a:off x="619049" y="5495544"/>
            <a:ext cx="3286354" cy="1047902"/>
          </a:xfrm>
          <a:prstGeom prst="roundRect">
            <a:avLst>
              <a:gd name="adj" fmla="val 317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3106217" y="5619902"/>
            <a:ext cx="676656" cy="228600"/>
          </a:xfrm>
          <a:prstGeom prst="roundRect">
            <a:avLst>
              <a:gd name="adj" fmla="val 66667"/>
            </a:avLst>
          </a:prstGeom>
          <a:solidFill>
            <a:srgbClr val="F3F4F6"/>
          </a:solidFill>
          <a:ln/>
        </p:spPr>
      </p:sp>
      <p:sp>
        <p:nvSpPr>
          <p:cNvPr id="28" name="Text 20"/>
          <p:cNvSpPr txBox="1"/>
          <p:nvPr/>
        </p:nvSpPr>
        <p:spPr>
          <a:xfrm>
            <a:off x="1869948" y="5886907"/>
            <a:ext cx="181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1200" dirty="0"/>
          </a:p>
        </p:txBody>
      </p:sp>
      <p:sp>
        <p:nvSpPr>
          <p:cNvPr id="29" name="Text 21"/>
          <p:cNvSpPr txBox="1"/>
          <p:nvPr/>
        </p:nvSpPr>
        <p:spPr>
          <a:xfrm>
            <a:off x="3299155" y="5886907"/>
            <a:ext cx="181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1200" dirty="0"/>
          </a:p>
        </p:txBody>
      </p:sp>
      <p:sp>
        <p:nvSpPr>
          <p:cNvPr id="30" name="Text 22"/>
          <p:cNvSpPr txBox="1"/>
          <p:nvPr/>
        </p:nvSpPr>
        <p:spPr>
          <a:xfrm>
            <a:off x="1820570" y="6191402"/>
            <a:ext cx="181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1200" dirty="0"/>
          </a:p>
        </p:txBody>
      </p:sp>
      <p:sp>
        <p:nvSpPr>
          <p:cNvPr id="31" name="Shape 23"/>
          <p:cNvSpPr/>
          <p:nvPr/>
        </p:nvSpPr>
        <p:spPr>
          <a:xfrm>
            <a:off x="619049" y="6657746"/>
            <a:ext cx="3286354" cy="1352398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3106217" y="6782105"/>
            <a:ext cx="676656" cy="228600"/>
          </a:xfrm>
          <a:prstGeom prst="roundRect">
            <a:avLst>
              <a:gd name="adj" fmla="val 66667"/>
            </a:avLst>
          </a:prstGeom>
          <a:solidFill>
            <a:srgbClr val="F3F4F6"/>
          </a:solidFill>
          <a:ln/>
        </p:spPr>
      </p:sp>
      <p:sp>
        <p:nvSpPr>
          <p:cNvPr id="33" name="Text 25"/>
          <p:cNvSpPr txBox="1"/>
          <p:nvPr/>
        </p:nvSpPr>
        <p:spPr>
          <a:xfrm>
            <a:off x="1962302" y="7048195"/>
            <a:ext cx="181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1200" dirty="0"/>
          </a:p>
        </p:txBody>
      </p:sp>
      <p:sp>
        <p:nvSpPr>
          <p:cNvPr id="34" name="Text 26"/>
          <p:cNvSpPr txBox="1"/>
          <p:nvPr/>
        </p:nvSpPr>
        <p:spPr>
          <a:xfrm>
            <a:off x="3535985" y="7048195"/>
            <a:ext cx="181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1200" dirty="0"/>
          </a:p>
        </p:txBody>
      </p:sp>
      <p:sp>
        <p:nvSpPr>
          <p:cNvPr id="35" name="Text 27"/>
          <p:cNvSpPr txBox="1"/>
          <p:nvPr/>
        </p:nvSpPr>
        <p:spPr>
          <a:xfrm>
            <a:off x="1706270" y="7353605"/>
            <a:ext cx="181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1200" dirty="0"/>
          </a:p>
        </p:txBody>
      </p:sp>
      <p:sp>
        <p:nvSpPr>
          <p:cNvPr id="36" name="Text 28"/>
          <p:cNvSpPr txBox="1"/>
          <p:nvPr/>
        </p:nvSpPr>
        <p:spPr>
          <a:xfrm>
            <a:off x="2382012" y="7353605"/>
            <a:ext cx="181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1200" dirty="0"/>
          </a:p>
        </p:txBody>
      </p:sp>
      <p:sp>
        <p:nvSpPr>
          <p:cNvPr id="37" name="Text 29"/>
          <p:cNvSpPr txBox="1"/>
          <p:nvPr/>
        </p:nvSpPr>
        <p:spPr>
          <a:xfrm>
            <a:off x="2775204" y="7353605"/>
            <a:ext cx="181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1200" dirty="0"/>
          </a:p>
        </p:txBody>
      </p:sp>
      <p:sp>
        <p:nvSpPr>
          <p:cNvPr id="38" name="Shape 30"/>
          <p:cNvSpPr/>
          <p:nvPr/>
        </p:nvSpPr>
        <p:spPr>
          <a:xfrm>
            <a:off x="4292194" y="1628546"/>
            <a:ext cx="7448702" cy="6543446"/>
          </a:xfrm>
          <a:prstGeom prst="roundRect">
            <a:avLst>
              <a:gd name="adj" fmla="val 163"/>
            </a:avLst>
          </a:prstGeom>
          <a:solidFill>
            <a:srgbClr val="FFFFFF"/>
          </a:solidFill>
          <a:ln/>
        </p:spPr>
      </p:sp>
      <p:sp>
        <p:nvSpPr>
          <p:cNvPr id="39" name="Shape 31"/>
          <p:cNvSpPr/>
          <p:nvPr/>
        </p:nvSpPr>
        <p:spPr>
          <a:xfrm>
            <a:off x="4330598" y="1666951"/>
            <a:ext cx="3610051" cy="2104949"/>
          </a:xfrm>
          <a:prstGeom prst="roundRect">
            <a:avLst>
              <a:gd name="adj" fmla="val 1573"/>
            </a:avLst>
          </a:prstGeom>
          <a:solidFill>
            <a:srgbClr val="FCFCFC"/>
          </a:solidFill>
          <a:ln w="38100">
            <a:solidFill>
              <a:srgbClr val="2C3E50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40" name="Shape 32"/>
          <p:cNvSpPr/>
          <p:nvPr/>
        </p:nvSpPr>
        <p:spPr>
          <a:xfrm>
            <a:off x="4339742" y="1695298"/>
            <a:ext cx="3590849" cy="400507"/>
          </a:xfrm>
          <a:prstGeom prst="roundRect">
            <a:avLst>
              <a:gd name="adj" fmla="val 43488"/>
            </a:avLst>
          </a:prstGeom>
          <a:solidFill>
            <a:srgbClr val="FAFAFA"/>
          </a:solidFill>
          <a:ln/>
        </p:spPr>
      </p:sp>
      <p:sp>
        <p:nvSpPr>
          <p:cNvPr id="41" name="Shape 33"/>
          <p:cNvSpPr/>
          <p:nvPr/>
        </p:nvSpPr>
        <p:spPr>
          <a:xfrm>
            <a:off x="4339742" y="2086661"/>
            <a:ext cx="3590849" cy="9144"/>
          </a:xfrm>
          <a:prstGeom prst="rect">
            <a:avLst/>
          </a:prstGeom>
          <a:solidFill>
            <a:srgbClr val="F0F0F0"/>
          </a:solidFill>
          <a:ln/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483303" y="1813255"/>
            <a:ext cx="152705" cy="152705"/>
          </a:xfrm>
          <a:prstGeom prst="rect">
            <a:avLst/>
          </a:prstGeom>
        </p:spPr>
      </p:pic>
      <p:sp>
        <p:nvSpPr>
          <p:cNvPr id="43" name="Shape 34"/>
          <p:cNvSpPr/>
          <p:nvPr/>
        </p:nvSpPr>
        <p:spPr>
          <a:xfrm>
            <a:off x="7236562" y="1790395"/>
            <a:ext cx="552298" cy="200254"/>
          </a:xfrm>
          <a:prstGeom prst="roundRect">
            <a:avLst>
              <a:gd name="adj" fmla="val 217438"/>
            </a:avLst>
          </a:prstGeom>
          <a:solidFill>
            <a:srgbClr val="2C3E50"/>
          </a:solidFill>
          <a:ln/>
        </p:spPr>
      </p:sp>
      <p:sp>
        <p:nvSpPr>
          <p:cNvPr id="44" name="Shape 35"/>
          <p:cNvSpPr/>
          <p:nvPr/>
        </p:nvSpPr>
        <p:spPr>
          <a:xfrm>
            <a:off x="8089697" y="1666951"/>
            <a:ext cx="3610051" cy="2104949"/>
          </a:xfrm>
          <a:prstGeom prst="roundRect">
            <a:avLst>
              <a:gd name="adj" fmla="val 1573"/>
            </a:avLst>
          </a:prstGeom>
          <a:solidFill>
            <a:srgbClr val="FCFCFC"/>
          </a:solidFill>
          <a:ln w="38100">
            <a:solidFill>
              <a:srgbClr val="2C3E50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45" name="Shape 36"/>
          <p:cNvSpPr/>
          <p:nvPr/>
        </p:nvSpPr>
        <p:spPr>
          <a:xfrm>
            <a:off x="8099755" y="1695298"/>
            <a:ext cx="3590849" cy="400507"/>
          </a:xfrm>
          <a:prstGeom prst="roundRect">
            <a:avLst>
              <a:gd name="adj" fmla="val 43488"/>
            </a:avLst>
          </a:prstGeom>
          <a:solidFill>
            <a:srgbClr val="FAFAFA"/>
          </a:solidFill>
          <a:ln/>
        </p:spPr>
      </p:sp>
      <p:sp>
        <p:nvSpPr>
          <p:cNvPr id="46" name="Shape 37"/>
          <p:cNvSpPr/>
          <p:nvPr/>
        </p:nvSpPr>
        <p:spPr>
          <a:xfrm>
            <a:off x="8099755" y="2086661"/>
            <a:ext cx="3590849" cy="9144"/>
          </a:xfrm>
          <a:prstGeom prst="rect">
            <a:avLst/>
          </a:prstGeom>
          <a:solidFill>
            <a:srgbClr val="F0F0F0"/>
          </a:solidFill>
          <a:ln/>
        </p:spPr>
      </p:sp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180" b="-180"/>
          <a:stretch/>
        </p:blipFill>
        <p:spPr>
          <a:xfrm>
            <a:off x="8242402" y="1813255"/>
            <a:ext cx="190195" cy="152705"/>
          </a:xfrm>
          <a:prstGeom prst="rect">
            <a:avLst/>
          </a:prstGeom>
        </p:spPr>
      </p:pic>
      <p:sp>
        <p:nvSpPr>
          <p:cNvPr id="48" name="Shape 38"/>
          <p:cNvSpPr/>
          <p:nvPr/>
        </p:nvSpPr>
        <p:spPr>
          <a:xfrm>
            <a:off x="10995660" y="1790395"/>
            <a:ext cx="552298" cy="200254"/>
          </a:xfrm>
          <a:prstGeom prst="roundRect">
            <a:avLst>
              <a:gd name="adj" fmla="val 217438"/>
            </a:avLst>
          </a:prstGeom>
          <a:solidFill>
            <a:srgbClr val="2C3E50"/>
          </a:solidFill>
          <a:ln/>
        </p:spPr>
      </p:sp>
      <p:sp>
        <p:nvSpPr>
          <p:cNvPr id="49" name="Shape 39"/>
          <p:cNvSpPr/>
          <p:nvPr/>
        </p:nvSpPr>
        <p:spPr>
          <a:xfrm>
            <a:off x="4330598" y="3921862"/>
            <a:ext cx="3610051" cy="2104949"/>
          </a:xfrm>
          <a:prstGeom prst="roundRect">
            <a:avLst>
              <a:gd name="adj" fmla="val 1573"/>
            </a:avLst>
          </a:prstGeom>
          <a:solidFill>
            <a:srgbClr val="FCFCFC"/>
          </a:solidFill>
          <a:ln w="38100">
            <a:solidFill>
              <a:srgbClr val="2C3E50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50" name="Shape 40"/>
          <p:cNvSpPr/>
          <p:nvPr/>
        </p:nvSpPr>
        <p:spPr>
          <a:xfrm>
            <a:off x="4339742" y="3950208"/>
            <a:ext cx="3590849" cy="400507"/>
          </a:xfrm>
          <a:prstGeom prst="roundRect">
            <a:avLst>
              <a:gd name="adj" fmla="val 43488"/>
            </a:avLst>
          </a:prstGeom>
          <a:solidFill>
            <a:srgbClr val="FAFAFA"/>
          </a:solidFill>
          <a:ln/>
        </p:spPr>
      </p:sp>
      <p:sp>
        <p:nvSpPr>
          <p:cNvPr id="51" name="Shape 41"/>
          <p:cNvSpPr/>
          <p:nvPr/>
        </p:nvSpPr>
        <p:spPr>
          <a:xfrm>
            <a:off x="4339742" y="4341571"/>
            <a:ext cx="3590849" cy="9144"/>
          </a:xfrm>
          <a:prstGeom prst="rect">
            <a:avLst/>
          </a:prstGeom>
          <a:solidFill>
            <a:srgbClr val="F0F0F0"/>
          </a:solidFill>
          <a:ln/>
        </p:spPr>
      </p:sp>
      <p:pic>
        <p:nvPicPr>
          <p:cNvPr id="52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4483303" y="4068166"/>
            <a:ext cx="152705" cy="152705"/>
          </a:xfrm>
          <a:prstGeom prst="rect">
            <a:avLst/>
          </a:prstGeom>
        </p:spPr>
      </p:pic>
      <p:sp>
        <p:nvSpPr>
          <p:cNvPr id="53" name="Shape 42"/>
          <p:cNvSpPr/>
          <p:nvPr/>
        </p:nvSpPr>
        <p:spPr>
          <a:xfrm>
            <a:off x="7236562" y="4045306"/>
            <a:ext cx="552298" cy="200254"/>
          </a:xfrm>
          <a:prstGeom prst="roundRect">
            <a:avLst>
              <a:gd name="adj" fmla="val 217438"/>
            </a:avLst>
          </a:prstGeom>
          <a:solidFill>
            <a:srgbClr val="2C3E50"/>
          </a:solidFill>
          <a:ln/>
        </p:spPr>
      </p:sp>
      <p:sp>
        <p:nvSpPr>
          <p:cNvPr id="54" name="Shape 43"/>
          <p:cNvSpPr/>
          <p:nvPr/>
        </p:nvSpPr>
        <p:spPr>
          <a:xfrm>
            <a:off x="8089697" y="3921862"/>
            <a:ext cx="3610051" cy="2104949"/>
          </a:xfrm>
          <a:prstGeom prst="roundRect">
            <a:avLst>
              <a:gd name="adj" fmla="val 1573"/>
            </a:avLst>
          </a:prstGeom>
          <a:solidFill>
            <a:srgbClr val="FCFCFC"/>
          </a:solidFill>
          <a:ln w="38100">
            <a:solidFill>
              <a:srgbClr val="2C3E50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55" name="Shape 44"/>
          <p:cNvSpPr/>
          <p:nvPr/>
        </p:nvSpPr>
        <p:spPr>
          <a:xfrm>
            <a:off x="8099755" y="3950208"/>
            <a:ext cx="3590849" cy="400507"/>
          </a:xfrm>
          <a:prstGeom prst="roundRect">
            <a:avLst>
              <a:gd name="adj" fmla="val 43488"/>
            </a:avLst>
          </a:prstGeom>
          <a:solidFill>
            <a:srgbClr val="FAFAFA"/>
          </a:solidFill>
          <a:ln/>
        </p:spPr>
      </p:sp>
      <p:sp>
        <p:nvSpPr>
          <p:cNvPr id="56" name="Shape 45"/>
          <p:cNvSpPr/>
          <p:nvPr/>
        </p:nvSpPr>
        <p:spPr>
          <a:xfrm>
            <a:off x="8099755" y="4341571"/>
            <a:ext cx="3590849" cy="9144"/>
          </a:xfrm>
          <a:prstGeom prst="rect">
            <a:avLst/>
          </a:prstGeom>
          <a:solidFill>
            <a:srgbClr val="F0F0F0"/>
          </a:solidFill>
          <a:ln/>
        </p:spPr>
      </p:sp>
      <p:pic>
        <p:nvPicPr>
          <p:cNvPr id="57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180" b="-180"/>
          <a:stretch/>
        </p:blipFill>
        <p:spPr>
          <a:xfrm>
            <a:off x="8242402" y="4068166"/>
            <a:ext cx="190195" cy="152705"/>
          </a:xfrm>
          <a:prstGeom prst="rect">
            <a:avLst/>
          </a:prstGeom>
        </p:spPr>
      </p:pic>
      <p:sp>
        <p:nvSpPr>
          <p:cNvPr id="58" name="Shape 46"/>
          <p:cNvSpPr/>
          <p:nvPr/>
        </p:nvSpPr>
        <p:spPr>
          <a:xfrm>
            <a:off x="10995660" y="4045306"/>
            <a:ext cx="552298" cy="200254"/>
          </a:xfrm>
          <a:prstGeom prst="roundRect">
            <a:avLst>
              <a:gd name="adj" fmla="val 217438"/>
            </a:avLst>
          </a:prstGeom>
          <a:solidFill>
            <a:srgbClr val="2C3E50"/>
          </a:solidFill>
          <a:ln/>
        </p:spPr>
      </p:sp>
      <p:sp>
        <p:nvSpPr>
          <p:cNvPr id="59" name="Shape 47"/>
          <p:cNvSpPr/>
          <p:nvPr/>
        </p:nvSpPr>
        <p:spPr>
          <a:xfrm>
            <a:off x="4330598" y="6176772"/>
            <a:ext cx="7372807" cy="1962302"/>
          </a:xfrm>
          <a:prstGeom prst="roundRect">
            <a:avLst>
              <a:gd name="adj" fmla="val 1810"/>
            </a:avLst>
          </a:prstGeom>
          <a:solidFill>
            <a:srgbClr val="FCFCFC"/>
          </a:solidFill>
          <a:ln w="38100">
            <a:solidFill>
              <a:srgbClr val="2C3E50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60" name="Shape 48"/>
          <p:cNvSpPr/>
          <p:nvPr/>
        </p:nvSpPr>
        <p:spPr>
          <a:xfrm>
            <a:off x="4339742" y="6205118"/>
            <a:ext cx="7353605" cy="400507"/>
          </a:xfrm>
          <a:prstGeom prst="roundRect">
            <a:avLst>
              <a:gd name="adj" fmla="val 43488"/>
            </a:avLst>
          </a:prstGeom>
          <a:solidFill>
            <a:srgbClr val="FAFAFA"/>
          </a:solidFill>
          <a:ln/>
        </p:spPr>
      </p:sp>
      <p:sp>
        <p:nvSpPr>
          <p:cNvPr id="61" name="Shape 49"/>
          <p:cNvSpPr/>
          <p:nvPr/>
        </p:nvSpPr>
        <p:spPr>
          <a:xfrm>
            <a:off x="4339742" y="6596482"/>
            <a:ext cx="7353605" cy="9144"/>
          </a:xfrm>
          <a:prstGeom prst="rect">
            <a:avLst/>
          </a:prstGeom>
          <a:solidFill>
            <a:srgbClr val="F0F0F0"/>
          </a:solidFill>
          <a:ln/>
        </p:spPr>
      </p:sp>
      <p:pic>
        <p:nvPicPr>
          <p:cNvPr id="62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4483303" y="6323076"/>
            <a:ext cx="152705" cy="152705"/>
          </a:xfrm>
          <a:prstGeom prst="rect">
            <a:avLst/>
          </a:prstGeom>
        </p:spPr>
      </p:pic>
      <p:sp>
        <p:nvSpPr>
          <p:cNvPr id="63" name="Shape 50"/>
          <p:cNvSpPr/>
          <p:nvPr/>
        </p:nvSpPr>
        <p:spPr>
          <a:xfrm>
            <a:off x="10995660" y="6300216"/>
            <a:ext cx="552298" cy="200254"/>
          </a:xfrm>
          <a:prstGeom prst="roundRect">
            <a:avLst>
              <a:gd name="adj" fmla="val 217438"/>
            </a:avLst>
          </a:prstGeom>
          <a:solidFill>
            <a:srgbClr val="2C3E50"/>
          </a:solidFill>
          <a:ln/>
        </p:spPr>
      </p:sp>
      <p:sp>
        <p:nvSpPr>
          <p:cNvPr id="64" name="Text 51"/>
          <p:cNvSpPr txBox="1"/>
          <p:nvPr/>
        </p:nvSpPr>
        <p:spPr>
          <a:xfrm>
            <a:off x="685800" y="599846"/>
            <a:ext cx="3700577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RISHOM BURKINA FASO</a:t>
            </a:r>
            <a:endParaRPr lang="en-US" sz="2200" dirty="0"/>
          </a:p>
        </p:txBody>
      </p:sp>
      <p:sp>
        <p:nvSpPr>
          <p:cNvPr id="65" name="Text 52"/>
          <p:cNvSpPr txBox="1"/>
          <p:nvPr/>
        </p:nvSpPr>
        <p:spPr>
          <a:xfrm>
            <a:off x="685800" y="1067105"/>
            <a:ext cx="46917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Structure Commerciale Multisectorielle et Opérationnelle</a:t>
            </a:r>
            <a:endParaRPr lang="en-US" sz="1300" dirty="0"/>
          </a:p>
        </p:txBody>
      </p:sp>
      <p:pic>
        <p:nvPicPr>
          <p:cNvPr id="66" name="Image 11" descr="preencoded.png">    </p:cNvPr>
          <p:cNvPicPr>
            <a:picLocks noChangeAspect="1"/>
          </p:cNvPicPr>
          <p:nvPr/>
        </p:nvPicPr>
        <p:blipFill>
          <a:blip r:embed="rId12"/>
          <a:srcRect l="-1507" r="-1507" t="0" b="0"/>
          <a:stretch/>
        </p:blipFill>
        <p:spPr>
          <a:xfrm>
            <a:off x="9222638" y="1092708"/>
            <a:ext cx="171907" cy="133502"/>
          </a:xfrm>
          <a:prstGeom prst="rect">
            <a:avLst/>
          </a:prstGeom>
        </p:spPr>
      </p:pic>
      <p:sp>
        <p:nvSpPr>
          <p:cNvPr id="67" name="Text 53"/>
          <p:cNvSpPr txBox="1"/>
          <p:nvPr/>
        </p:nvSpPr>
        <p:spPr>
          <a:xfrm>
            <a:off x="9469526" y="1067105"/>
            <a:ext cx="22055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: 40 Cadres + 60-80 Terrain</a:t>
            </a:r>
            <a:endParaRPr lang="en-US" sz="1000" dirty="0"/>
          </a:p>
        </p:txBody>
      </p:sp>
      <p:sp>
        <p:nvSpPr>
          <p:cNvPr id="68" name="Text 54"/>
          <p:cNvSpPr txBox="1"/>
          <p:nvPr/>
        </p:nvSpPr>
        <p:spPr>
          <a:xfrm>
            <a:off x="1181405" y="1836115"/>
            <a:ext cx="1709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Top Management</a:t>
            </a:r>
            <a:endParaRPr lang="en-US" sz="1300" dirty="0"/>
          </a:p>
        </p:txBody>
      </p:sp>
      <p:sp>
        <p:nvSpPr>
          <p:cNvPr id="69" name="Text 55"/>
          <p:cNvSpPr txBox="1"/>
          <p:nvPr/>
        </p:nvSpPr>
        <p:spPr>
          <a:xfrm>
            <a:off x="1181405" y="2040941"/>
            <a:ext cx="20766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DIRECTION GÉNÉRALE &amp; STRATÉGIE</a:t>
            </a:r>
            <a:endParaRPr lang="en-US" sz="900" dirty="0"/>
          </a:p>
        </p:txBody>
      </p:sp>
      <p:sp>
        <p:nvSpPr>
          <p:cNvPr id="70" name="Text 56"/>
          <p:cNvSpPr txBox="1"/>
          <p:nvPr/>
        </p:nvSpPr>
        <p:spPr>
          <a:xfrm>
            <a:off x="866851" y="2447849"/>
            <a:ext cx="16148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Directeur Général (DG)</a:t>
            </a:r>
            <a:endParaRPr lang="en-US" sz="1000" dirty="0"/>
          </a:p>
        </p:txBody>
      </p:sp>
      <p:sp>
        <p:nvSpPr>
          <p:cNvPr id="71" name="Text 57"/>
          <p:cNvSpPr txBox="1"/>
          <p:nvPr/>
        </p:nvSpPr>
        <p:spPr>
          <a:xfrm>
            <a:off x="905256" y="2714854"/>
            <a:ext cx="11100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DGA Opérations</a:t>
            </a:r>
            <a:endParaRPr lang="en-US" sz="1000" dirty="0"/>
          </a:p>
        </p:txBody>
      </p:sp>
      <p:sp>
        <p:nvSpPr>
          <p:cNvPr id="72" name="Text 58"/>
          <p:cNvSpPr txBox="1"/>
          <p:nvPr/>
        </p:nvSpPr>
        <p:spPr>
          <a:xfrm>
            <a:off x="875995" y="2980944"/>
            <a:ext cx="17958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Chief Strategy Officer (CSO)</a:t>
            </a:r>
            <a:endParaRPr lang="en-US" sz="1000" dirty="0"/>
          </a:p>
        </p:txBody>
      </p:sp>
      <p:sp>
        <p:nvSpPr>
          <p:cNvPr id="73" name="Text 59"/>
          <p:cNvSpPr txBox="1"/>
          <p:nvPr/>
        </p:nvSpPr>
        <p:spPr>
          <a:xfrm>
            <a:off x="875995" y="3247949"/>
            <a:ext cx="13862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Directeur de Cabinet</a:t>
            </a:r>
            <a:endParaRPr lang="en-US" sz="1000" dirty="0"/>
          </a:p>
        </p:txBody>
      </p:sp>
      <p:sp>
        <p:nvSpPr>
          <p:cNvPr id="74" name="Text 60"/>
          <p:cNvSpPr txBox="1"/>
          <p:nvPr/>
        </p:nvSpPr>
        <p:spPr>
          <a:xfrm>
            <a:off x="952805" y="4009644"/>
            <a:ext cx="15343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Pôles Transverses</a:t>
            </a:r>
            <a:endParaRPr lang="en-US" sz="1200" dirty="0"/>
          </a:p>
        </p:txBody>
      </p:sp>
      <p:sp>
        <p:nvSpPr>
          <p:cNvPr id="75" name="Text 61"/>
          <p:cNvSpPr txBox="1"/>
          <p:nvPr/>
        </p:nvSpPr>
        <p:spPr>
          <a:xfrm>
            <a:off x="743407" y="4486046"/>
            <a:ext cx="18388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SUPPORT &amp; TRANSFORMATION</a:t>
            </a:r>
            <a:endParaRPr lang="en-US" sz="900" dirty="0"/>
          </a:p>
        </p:txBody>
      </p:sp>
      <p:sp>
        <p:nvSpPr>
          <p:cNvPr id="76" name="Text 62"/>
          <p:cNvSpPr txBox="1"/>
          <p:nvPr/>
        </p:nvSpPr>
        <p:spPr>
          <a:xfrm>
            <a:off x="3144622" y="4466844"/>
            <a:ext cx="71506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 Postes</a:t>
            </a:r>
            <a:endParaRPr lang="en-US" sz="1200" dirty="0"/>
          </a:p>
        </p:txBody>
      </p:sp>
      <p:sp>
        <p:nvSpPr>
          <p:cNvPr id="77" name="Text 63"/>
          <p:cNvSpPr txBox="1"/>
          <p:nvPr/>
        </p:nvSpPr>
        <p:spPr>
          <a:xfrm>
            <a:off x="743407" y="4733849"/>
            <a:ext cx="37216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CIO</a:t>
            </a:r>
            <a:endParaRPr lang="en-US" sz="1200" dirty="0"/>
          </a:p>
        </p:txBody>
      </p:sp>
      <p:sp>
        <p:nvSpPr>
          <p:cNvPr id="78" name="Text 64"/>
          <p:cNvSpPr txBox="1"/>
          <p:nvPr/>
        </p:nvSpPr>
        <p:spPr>
          <a:xfrm>
            <a:off x="1209751" y="4733849"/>
            <a:ext cx="4005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DAF</a:t>
            </a:r>
            <a:endParaRPr lang="en-US" sz="1200" dirty="0"/>
          </a:p>
        </p:txBody>
      </p:sp>
      <p:sp>
        <p:nvSpPr>
          <p:cNvPr id="79" name="Text 65"/>
          <p:cNvSpPr txBox="1"/>
          <p:nvPr/>
        </p:nvSpPr>
        <p:spPr>
          <a:xfrm>
            <a:off x="1705356" y="4733849"/>
            <a:ext cx="103875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RH &amp; Culture</a:t>
            </a:r>
            <a:endParaRPr lang="en-US" sz="1200" dirty="0"/>
          </a:p>
        </p:txBody>
      </p:sp>
      <p:sp>
        <p:nvSpPr>
          <p:cNvPr id="80" name="Text 66"/>
          <p:cNvSpPr txBox="1"/>
          <p:nvPr/>
        </p:nvSpPr>
        <p:spPr>
          <a:xfrm>
            <a:off x="743407" y="5038344"/>
            <a:ext cx="12765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Transfo. Digitale</a:t>
            </a:r>
            <a:endParaRPr lang="en-US" sz="1200" dirty="0"/>
          </a:p>
        </p:txBody>
      </p:sp>
      <p:sp>
        <p:nvSpPr>
          <p:cNvPr id="81" name="Text 67"/>
          <p:cNvSpPr txBox="1"/>
          <p:nvPr/>
        </p:nvSpPr>
        <p:spPr>
          <a:xfrm>
            <a:off x="2105863" y="5038344"/>
            <a:ext cx="5148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QHSE</a:t>
            </a:r>
            <a:endParaRPr lang="en-US" sz="1200" dirty="0"/>
          </a:p>
        </p:txBody>
      </p:sp>
      <p:sp>
        <p:nvSpPr>
          <p:cNvPr id="82" name="Text 68"/>
          <p:cNvSpPr txBox="1"/>
          <p:nvPr/>
        </p:nvSpPr>
        <p:spPr>
          <a:xfrm>
            <a:off x="2714854" y="5038344"/>
            <a:ext cx="7626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Juridique</a:t>
            </a:r>
            <a:endParaRPr lang="en-US" sz="1200" dirty="0"/>
          </a:p>
        </p:txBody>
      </p:sp>
      <p:sp>
        <p:nvSpPr>
          <p:cNvPr id="83" name="Text 69"/>
          <p:cNvSpPr txBox="1"/>
          <p:nvPr/>
        </p:nvSpPr>
        <p:spPr>
          <a:xfrm>
            <a:off x="743407" y="5648249"/>
            <a:ext cx="14575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INNOVATION &amp; PROJETS</a:t>
            </a:r>
            <a:endParaRPr lang="en-US" sz="900" dirty="0"/>
          </a:p>
        </p:txBody>
      </p:sp>
      <p:sp>
        <p:nvSpPr>
          <p:cNvPr id="84" name="Text 70"/>
          <p:cNvSpPr txBox="1"/>
          <p:nvPr/>
        </p:nvSpPr>
        <p:spPr>
          <a:xfrm>
            <a:off x="3144622" y="5629046"/>
            <a:ext cx="71506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 Postes</a:t>
            </a:r>
            <a:endParaRPr lang="en-US" sz="1200" dirty="0"/>
          </a:p>
        </p:txBody>
      </p:sp>
      <p:sp>
        <p:nvSpPr>
          <p:cNvPr id="85" name="Text 71"/>
          <p:cNvSpPr txBox="1"/>
          <p:nvPr/>
        </p:nvSpPr>
        <p:spPr>
          <a:xfrm>
            <a:off x="743407" y="5896051"/>
            <a:ext cx="117226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Dir. Innovation</a:t>
            </a:r>
            <a:endParaRPr lang="en-US" sz="1200" dirty="0"/>
          </a:p>
        </p:txBody>
      </p:sp>
      <p:sp>
        <p:nvSpPr>
          <p:cNvPr id="86" name="Text 72"/>
          <p:cNvSpPr txBox="1"/>
          <p:nvPr/>
        </p:nvSpPr>
        <p:spPr>
          <a:xfrm>
            <a:off x="2003450" y="5896051"/>
            <a:ext cx="134325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Énergies (Solaire)</a:t>
            </a:r>
            <a:endParaRPr lang="en-US" sz="1200" dirty="0"/>
          </a:p>
        </p:txBody>
      </p:sp>
      <p:sp>
        <p:nvSpPr>
          <p:cNvPr id="87" name="Text 73"/>
          <p:cNvSpPr txBox="1"/>
          <p:nvPr/>
        </p:nvSpPr>
        <p:spPr>
          <a:xfrm>
            <a:off x="743407" y="6200546"/>
            <a:ext cx="11247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Éco. Circulaire</a:t>
            </a:r>
            <a:endParaRPr lang="en-US" sz="1200" dirty="0"/>
          </a:p>
        </p:txBody>
      </p:sp>
      <p:sp>
        <p:nvSpPr>
          <p:cNvPr id="88" name="Text 74"/>
          <p:cNvSpPr txBox="1"/>
          <p:nvPr/>
        </p:nvSpPr>
        <p:spPr>
          <a:xfrm>
            <a:off x="1954073" y="6200546"/>
            <a:ext cx="6483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Data/BI</a:t>
            </a:r>
            <a:endParaRPr lang="en-US" sz="1200" dirty="0"/>
          </a:p>
        </p:txBody>
      </p:sp>
      <p:sp>
        <p:nvSpPr>
          <p:cNvPr id="89" name="Text 75"/>
          <p:cNvSpPr txBox="1"/>
          <p:nvPr/>
        </p:nvSpPr>
        <p:spPr>
          <a:xfrm>
            <a:off x="743407" y="6810451"/>
            <a:ext cx="12673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COMMERCIAL &amp; DÉV.</a:t>
            </a:r>
            <a:endParaRPr lang="en-US" sz="900" dirty="0"/>
          </a:p>
        </p:txBody>
      </p:sp>
      <p:sp>
        <p:nvSpPr>
          <p:cNvPr id="90" name="Text 76"/>
          <p:cNvSpPr txBox="1"/>
          <p:nvPr/>
        </p:nvSpPr>
        <p:spPr>
          <a:xfrm>
            <a:off x="3144622" y="6791249"/>
            <a:ext cx="71506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 Postes</a:t>
            </a:r>
            <a:endParaRPr lang="en-US" sz="1200" dirty="0"/>
          </a:p>
        </p:txBody>
      </p:sp>
      <p:sp>
        <p:nvSpPr>
          <p:cNvPr id="91" name="Text 77"/>
          <p:cNvSpPr txBox="1"/>
          <p:nvPr/>
        </p:nvSpPr>
        <p:spPr>
          <a:xfrm>
            <a:off x="743407" y="7058254"/>
            <a:ext cx="126735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Dir. Commercial</a:t>
            </a:r>
            <a:endParaRPr lang="en-US" sz="1200" dirty="0"/>
          </a:p>
        </p:txBody>
      </p:sp>
      <p:sp>
        <p:nvSpPr>
          <p:cNvPr id="92" name="Text 78"/>
          <p:cNvSpPr txBox="1"/>
          <p:nvPr/>
        </p:nvSpPr>
        <p:spPr>
          <a:xfrm>
            <a:off x="2095805" y="7058254"/>
            <a:ext cx="14859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Mkt &amp; Com Digitale</a:t>
            </a:r>
            <a:endParaRPr lang="en-US" sz="1200" dirty="0"/>
          </a:p>
        </p:txBody>
      </p:sp>
      <p:sp>
        <p:nvSpPr>
          <p:cNvPr id="93" name="Text 79"/>
          <p:cNvSpPr txBox="1"/>
          <p:nvPr/>
        </p:nvSpPr>
        <p:spPr>
          <a:xfrm>
            <a:off x="743407" y="7362749"/>
            <a:ext cx="10104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E-commerce</a:t>
            </a:r>
            <a:endParaRPr lang="en-US" sz="1200" dirty="0"/>
          </a:p>
        </p:txBody>
      </p:sp>
      <p:sp>
        <p:nvSpPr>
          <p:cNvPr id="94" name="Text 80"/>
          <p:cNvSpPr txBox="1"/>
          <p:nvPr/>
        </p:nvSpPr>
        <p:spPr>
          <a:xfrm>
            <a:off x="1839773" y="7362749"/>
            <a:ext cx="58155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Export</a:t>
            </a:r>
            <a:endParaRPr lang="en-US" sz="1200" dirty="0"/>
          </a:p>
        </p:txBody>
      </p:sp>
      <p:sp>
        <p:nvSpPr>
          <p:cNvPr id="95" name="Text 81"/>
          <p:cNvSpPr txBox="1"/>
          <p:nvPr/>
        </p:nvSpPr>
        <p:spPr>
          <a:xfrm>
            <a:off x="2515514" y="7362749"/>
            <a:ext cx="3054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CX</a:t>
            </a:r>
            <a:endParaRPr lang="en-US" sz="1200" dirty="0"/>
          </a:p>
        </p:txBody>
      </p:sp>
      <p:sp>
        <p:nvSpPr>
          <p:cNvPr id="96" name="Text 82"/>
          <p:cNvSpPr txBox="1"/>
          <p:nvPr/>
        </p:nvSpPr>
        <p:spPr>
          <a:xfrm>
            <a:off x="743407" y="7667244"/>
            <a:ext cx="13149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Grands Comptes</a:t>
            </a:r>
            <a:endParaRPr lang="en-US" sz="1200" dirty="0"/>
          </a:p>
        </p:txBody>
      </p:sp>
      <p:sp>
        <p:nvSpPr>
          <p:cNvPr id="97" name="Text 83"/>
          <p:cNvSpPr txBox="1"/>
          <p:nvPr/>
        </p:nvSpPr>
        <p:spPr>
          <a:xfrm>
            <a:off x="4711903" y="1804111"/>
            <a:ext cx="19769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BU1 - Véhicules Personnels</a:t>
            </a:r>
            <a:endParaRPr lang="en-US" sz="1000" dirty="0"/>
          </a:p>
        </p:txBody>
      </p:sp>
      <p:sp>
        <p:nvSpPr>
          <p:cNvPr id="98" name="Text 84"/>
          <p:cNvSpPr txBox="1"/>
          <p:nvPr/>
        </p:nvSpPr>
        <p:spPr>
          <a:xfrm>
            <a:off x="7293254" y="1809598"/>
            <a:ext cx="51846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 Cadres</a:t>
            </a:r>
            <a:endParaRPr lang="en-US" sz="800" dirty="0"/>
          </a:p>
        </p:txBody>
      </p:sp>
      <p:sp>
        <p:nvSpPr>
          <p:cNvPr id="99" name="Text 85"/>
          <p:cNvSpPr txBox="1"/>
          <p:nvPr/>
        </p:nvSpPr>
        <p:spPr>
          <a:xfrm>
            <a:off x="8509406" y="1804111"/>
            <a:ext cx="145298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BU2 - Engins &amp; BTP</a:t>
            </a:r>
            <a:endParaRPr lang="en-US" sz="1000" dirty="0"/>
          </a:p>
        </p:txBody>
      </p:sp>
      <p:sp>
        <p:nvSpPr>
          <p:cNvPr id="100" name="Text 86"/>
          <p:cNvSpPr txBox="1"/>
          <p:nvPr/>
        </p:nvSpPr>
        <p:spPr>
          <a:xfrm>
            <a:off x="11052353" y="1809598"/>
            <a:ext cx="51846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 Cadres</a:t>
            </a:r>
            <a:endParaRPr lang="en-US" sz="800" dirty="0"/>
          </a:p>
        </p:txBody>
      </p:sp>
      <p:sp>
        <p:nvSpPr>
          <p:cNvPr id="101" name="Text 87"/>
          <p:cNvSpPr txBox="1"/>
          <p:nvPr/>
        </p:nvSpPr>
        <p:spPr>
          <a:xfrm>
            <a:off x="4711903" y="4059022"/>
            <a:ext cx="164317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BU3 - Mines &amp; Énergie</a:t>
            </a:r>
            <a:endParaRPr lang="en-US" sz="1000" dirty="0"/>
          </a:p>
        </p:txBody>
      </p:sp>
      <p:sp>
        <p:nvSpPr>
          <p:cNvPr id="102" name="Text 88"/>
          <p:cNvSpPr txBox="1"/>
          <p:nvPr/>
        </p:nvSpPr>
        <p:spPr>
          <a:xfrm>
            <a:off x="7293254" y="4064508"/>
            <a:ext cx="51846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 Cadres</a:t>
            </a:r>
            <a:endParaRPr lang="en-US" sz="800" dirty="0"/>
          </a:p>
        </p:txBody>
      </p:sp>
      <p:sp>
        <p:nvSpPr>
          <p:cNvPr id="103" name="Text 89"/>
          <p:cNvSpPr txBox="1"/>
          <p:nvPr/>
        </p:nvSpPr>
        <p:spPr>
          <a:xfrm>
            <a:off x="8509406" y="4059022"/>
            <a:ext cx="18626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BU4 - Matériels Agricoles</a:t>
            </a:r>
            <a:endParaRPr lang="en-US" sz="1000" dirty="0"/>
          </a:p>
        </p:txBody>
      </p:sp>
      <p:sp>
        <p:nvSpPr>
          <p:cNvPr id="104" name="Text 90"/>
          <p:cNvSpPr txBox="1"/>
          <p:nvPr/>
        </p:nvSpPr>
        <p:spPr>
          <a:xfrm>
            <a:off x="11052353" y="4064508"/>
            <a:ext cx="51846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 Cadres</a:t>
            </a:r>
            <a:endParaRPr lang="en-US" sz="800" dirty="0"/>
          </a:p>
        </p:txBody>
      </p:sp>
      <p:sp>
        <p:nvSpPr>
          <p:cNvPr id="105" name="Text 91"/>
          <p:cNvSpPr txBox="1"/>
          <p:nvPr/>
        </p:nvSpPr>
        <p:spPr>
          <a:xfrm>
            <a:off x="4711903" y="6313932"/>
            <a:ext cx="16340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BU5 - Import &amp; Export</a:t>
            </a:r>
            <a:endParaRPr lang="en-US" sz="1000" dirty="0"/>
          </a:p>
        </p:txBody>
      </p:sp>
      <p:sp>
        <p:nvSpPr>
          <p:cNvPr id="106" name="Text 92"/>
          <p:cNvSpPr txBox="1"/>
          <p:nvPr/>
        </p:nvSpPr>
        <p:spPr>
          <a:xfrm>
            <a:off x="11052353" y="6319418"/>
            <a:ext cx="51846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 Cadres</a:t>
            </a:r>
            <a:endParaRPr lang="en-US" sz="800" dirty="0"/>
          </a:p>
        </p:txBody>
      </p:sp>
      <p:sp>
        <p:nvSpPr>
          <p:cNvPr id="107" name="Text 93"/>
          <p:cNvSpPr txBox="1"/>
          <p:nvPr/>
        </p:nvSpPr>
        <p:spPr>
          <a:xfrm>
            <a:off x="7132320" y="7791602"/>
            <a:ext cx="45345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Équipes opérationnelles terrain (commerciaux, chauffeurs...)</a:t>
            </a:r>
            <a:endParaRPr lang="en-US" sz="1200" dirty="0"/>
          </a:p>
        </p:txBody>
      </p:sp>
      <p:sp>
        <p:nvSpPr>
          <p:cNvPr id="108" name="Text 94"/>
          <p:cNvSpPr txBox="1"/>
          <p:nvPr/>
        </p:nvSpPr>
        <p:spPr>
          <a:xfrm>
            <a:off x="4597603" y="2198218"/>
            <a:ext cx="13149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Directeur BU Véhicules</a:t>
            </a:r>
            <a:endParaRPr lang="en-US" sz="900" dirty="0"/>
          </a:p>
        </p:txBody>
      </p:sp>
      <p:sp>
        <p:nvSpPr>
          <p:cNvPr id="109" name="Text 95"/>
          <p:cNvSpPr txBox="1"/>
          <p:nvPr/>
        </p:nvSpPr>
        <p:spPr>
          <a:xfrm>
            <a:off x="4597603" y="2384755"/>
            <a:ext cx="16962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Responsable Ventes Véhicules</a:t>
            </a:r>
            <a:endParaRPr lang="en-US" sz="900" dirty="0"/>
          </a:p>
        </p:txBody>
      </p:sp>
      <p:sp>
        <p:nvSpPr>
          <p:cNvPr id="110" name="Text 96"/>
          <p:cNvSpPr txBox="1"/>
          <p:nvPr/>
        </p:nvSpPr>
        <p:spPr>
          <a:xfrm>
            <a:off x="4597603" y="2571293"/>
            <a:ext cx="17529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Resp. Location &amp; Gestion Flotte</a:t>
            </a:r>
            <a:endParaRPr lang="en-US" sz="900" dirty="0"/>
          </a:p>
        </p:txBody>
      </p:sp>
      <p:sp>
        <p:nvSpPr>
          <p:cNvPr id="111" name="Text 97"/>
          <p:cNvSpPr txBox="1"/>
          <p:nvPr/>
        </p:nvSpPr>
        <p:spPr>
          <a:xfrm>
            <a:off x="4597603" y="2757830"/>
            <a:ext cx="15718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Chef d'Atelier SAV Véhicules</a:t>
            </a:r>
            <a:endParaRPr lang="en-US" sz="900" dirty="0"/>
          </a:p>
        </p:txBody>
      </p:sp>
      <p:sp>
        <p:nvSpPr>
          <p:cNvPr id="112" name="Text 98"/>
          <p:cNvSpPr txBox="1"/>
          <p:nvPr/>
        </p:nvSpPr>
        <p:spPr>
          <a:xfrm>
            <a:off x="8356702" y="2198218"/>
            <a:ext cx="10104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Directeur BU BTP</a:t>
            </a:r>
            <a:endParaRPr lang="en-US" sz="900" dirty="0"/>
          </a:p>
        </p:txBody>
      </p:sp>
      <p:sp>
        <p:nvSpPr>
          <p:cNvPr id="113" name="Text 99"/>
          <p:cNvSpPr txBox="1"/>
          <p:nvPr/>
        </p:nvSpPr>
        <p:spPr>
          <a:xfrm>
            <a:off x="8356702" y="2384755"/>
            <a:ext cx="16770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Responsable Commercial BTP</a:t>
            </a:r>
            <a:endParaRPr lang="en-US" sz="900" dirty="0"/>
          </a:p>
        </p:txBody>
      </p:sp>
      <p:sp>
        <p:nvSpPr>
          <p:cNvPr id="114" name="Text 100"/>
          <p:cNvSpPr txBox="1"/>
          <p:nvPr/>
        </p:nvSpPr>
        <p:spPr>
          <a:xfrm>
            <a:off x="8356702" y="2571293"/>
            <a:ext cx="16386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Resp. Location Engins Lourds</a:t>
            </a:r>
            <a:endParaRPr lang="en-US" sz="900" dirty="0"/>
          </a:p>
        </p:txBody>
      </p:sp>
      <p:sp>
        <p:nvSpPr>
          <p:cNvPr id="115" name="Text 101"/>
          <p:cNvSpPr txBox="1"/>
          <p:nvPr/>
        </p:nvSpPr>
        <p:spPr>
          <a:xfrm>
            <a:off x="8356702" y="2757830"/>
            <a:ext cx="1714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Ingénieur SAV &amp; Support Tech.</a:t>
            </a:r>
            <a:endParaRPr lang="en-US" sz="900" dirty="0"/>
          </a:p>
        </p:txBody>
      </p:sp>
      <p:sp>
        <p:nvSpPr>
          <p:cNvPr id="116" name="Text 102"/>
          <p:cNvSpPr txBox="1"/>
          <p:nvPr/>
        </p:nvSpPr>
        <p:spPr>
          <a:xfrm>
            <a:off x="4597603" y="4453128"/>
            <a:ext cx="16669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Directeur BU Mines &amp; Énergie</a:t>
            </a:r>
            <a:endParaRPr lang="en-US" sz="900" dirty="0"/>
          </a:p>
        </p:txBody>
      </p:sp>
      <p:sp>
        <p:nvSpPr>
          <p:cNvPr id="117" name="Text 103"/>
          <p:cNvSpPr txBox="1"/>
          <p:nvPr/>
        </p:nvSpPr>
        <p:spPr>
          <a:xfrm>
            <a:off x="4597603" y="4639666"/>
            <a:ext cx="21150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Responsable Grands Comptes Miniers</a:t>
            </a:r>
            <a:endParaRPr lang="en-US" sz="900" dirty="0"/>
          </a:p>
        </p:txBody>
      </p:sp>
      <p:sp>
        <p:nvSpPr>
          <p:cNvPr id="118" name="Text 104"/>
          <p:cNvSpPr txBox="1"/>
          <p:nvPr/>
        </p:nvSpPr>
        <p:spPr>
          <a:xfrm>
            <a:off x="4597603" y="4826203"/>
            <a:ext cx="15343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Ingénieur Technique Mines</a:t>
            </a:r>
            <a:endParaRPr lang="en-US" sz="900" dirty="0"/>
          </a:p>
        </p:txBody>
      </p:sp>
      <p:sp>
        <p:nvSpPr>
          <p:cNvPr id="119" name="Text 105"/>
          <p:cNvSpPr txBox="1"/>
          <p:nvPr/>
        </p:nvSpPr>
        <p:spPr>
          <a:xfrm>
            <a:off x="4597603" y="5012741"/>
            <a:ext cx="19915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Coordinateur Logistique Spécialisée</a:t>
            </a:r>
            <a:endParaRPr lang="en-US" sz="900" dirty="0"/>
          </a:p>
        </p:txBody>
      </p:sp>
      <p:sp>
        <p:nvSpPr>
          <p:cNvPr id="120" name="Text 106"/>
          <p:cNvSpPr txBox="1"/>
          <p:nvPr/>
        </p:nvSpPr>
        <p:spPr>
          <a:xfrm>
            <a:off x="8356702" y="4453128"/>
            <a:ext cx="12289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Directeur BU Agricole</a:t>
            </a:r>
            <a:endParaRPr lang="en-US" sz="900" dirty="0"/>
          </a:p>
        </p:txBody>
      </p:sp>
      <p:sp>
        <p:nvSpPr>
          <p:cNvPr id="121" name="Text 107"/>
          <p:cNvSpPr txBox="1"/>
          <p:nvPr/>
        </p:nvSpPr>
        <p:spPr>
          <a:xfrm>
            <a:off x="8356702" y="4639666"/>
            <a:ext cx="18004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Responsable Distribution Rurale</a:t>
            </a:r>
            <a:endParaRPr lang="en-US" sz="900" dirty="0"/>
          </a:p>
        </p:txBody>
      </p:sp>
      <p:sp>
        <p:nvSpPr>
          <p:cNvPr id="122" name="Text 108"/>
          <p:cNvSpPr txBox="1"/>
          <p:nvPr/>
        </p:nvSpPr>
        <p:spPr>
          <a:xfrm>
            <a:off x="8356702" y="4826203"/>
            <a:ext cx="17629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Agronome Conseil &amp; Formation</a:t>
            </a:r>
            <a:endParaRPr lang="en-US" sz="900" dirty="0"/>
          </a:p>
        </p:txBody>
      </p:sp>
      <p:sp>
        <p:nvSpPr>
          <p:cNvPr id="123" name="Text 109"/>
          <p:cNvSpPr txBox="1"/>
          <p:nvPr/>
        </p:nvSpPr>
        <p:spPr>
          <a:xfrm>
            <a:off x="8356702" y="5012741"/>
            <a:ext cx="13816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Technicien SAV Itinérant</a:t>
            </a:r>
            <a:endParaRPr lang="en-US" sz="900" dirty="0"/>
          </a:p>
        </p:txBody>
      </p:sp>
      <p:sp>
        <p:nvSpPr>
          <p:cNvPr id="124" name="Text 110"/>
          <p:cNvSpPr txBox="1"/>
          <p:nvPr/>
        </p:nvSpPr>
        <p:spPr>
          <a:xfrm>
            <a:off x="4597603" y="6708038"/>
            <a:ext cx="13149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Directeur Supply Chain</a:t>
            </a:r>
            <a:endParaRPr lang="en-US" sz="900" dirty="0"/>
          </a:p>
        </p:txBody>
      </p:sp>
      <p:sp>
        <p:nvSpPr>
          <p:cNvPr id="125" name="Text 111"/>
          <p:cNvSpPr txBox="1"/>
          <p:nvPr/>
        </p:nvSpPr>
        <p:spPr>
          <a:xfrm>
            <a:off x="4597603" y="6894576"/>
            <a:ext cx="15910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Resp. Sourcing International</a:t>
            </a:r>
            <a:endParaRPr lang="en-US" sz="900" dirty="0"/>
          </a:p>
        </p:txBody>
      </p:sp>
      <p:sp>
        <p:nvSpPr>
          <p:cNvPr id="126" name="Text 112"/>
          <p:cNvSpPr txBox="1"/>
          <p:nvPr/>
        </p:nvSpPr>
        <p:spPr>
          <a:xfrm>
            <a:off x="7255764" y="6708038"/>
            <a:ext cx="15718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Resp. Logistique &amp; Douanes</a:t>
            </a:r>
            <a:endParaRPr lang="en-US" sz="900" dirty="0"/>
          </a:p>
        </p:txBody>
      </p:sp>
      <p:sp>
        <p:nvSpPr>
          <p:cNvPr id="127" name="Text 113"/>
          <p:cNvSpPr txBox="1"/>
          <p:nvPr/>
        </p:nvSpPr>
        <p:spPr>
          <a:xfrm>
            <a:off x="7255764" y="6894576"/>
            <a:ext cx="13432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Trade Finance Manager</a:t>
            </a:r>
            <a:endParaRPr lang="en-US" sz="900" dirty="0"/>
          </a:p>
        </p:txBody>
      </p:sp>
      <p:sp>
        <p:nvSpPr>
          <p:cNvPr id="128" name="Shape 114"/>
          <p:cNvSpPr/>
          <p:nvPr/>
        </p:nvSpPr>
        <p:spPr>
          <a:xfrm>
            <a:off x="457200" y="8048549"/>
            <a:ext cx="112772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29" name="Text 115"/>
          <p:cNvSpPr txBox="1"/>
          <p:nvPr/>
        </p:nvSpPr>
        <p:spPr>
          <a:xfrm>
            <a:off x="1936699" y="8106156"/>
            <a:ext cx="8439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Vision 2030 : Devenir un conglomérat régional intégré en Afrique de l'Ouest (Excellence ops, Digitalisation, Expansion)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809122" y="105156"/>
            <a:ext cx="1581912" cy="924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8B15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8B1538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91717"/>
            <a:ext cx="1127729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629107"/>
            <a:ext cx="75895" cy="304495"/>
          </a:xfrm>
          <a:prstGeom prst="roundRect">
            <a:avLst>
              <a:gd name="adj" fmla="val 301206"/>
            </a:avLst>
          </a:prstGeom>
          <a:solidFill>
            <a:srgbClr val="8B1538"/>
          </a:solidFill>
          <a:ln/>
        </p:spPr>
      </p:sp>
      <p:sp>
        <p:nvSpPr>
          <p:cNvPr id="8" name="Shape 6"/>
          <p:cNvSpPr/>
          <p:nvPr/>
        </p:nvSpPr>
        <p:spPr>
          <a:xfrm>
            <a:off x="10007194" y="990295"/>
            <a:ext cx="1733702" cy="323698"/>
          </a:xfrm>
          <a:prstGeom prst="roundRect">
            <a:avLst>
              <a:gd name="adj" fmla="val 282486"/>
            </a:avLst>
          </a:prstGeom>
          <a:solidFill>
            <a:srgbClr val="8B1538">
              <a:alpha val="5000"/>
            </a:srgbClr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28546"/>
            <a:ext cx="3610051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" y="1828800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8B1538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80" b="-180"/>
          <a:stretch/>
        </p:blipFill>
        <p:spPr>
          <a:xfrm>
            <a:off x="780898" y="1943100"/>
            <a:ext cx="190195" cy="152705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85800" y="2324405"/>
            <a:ext cx="3181198" cy="9144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-2571" r="-2571" t="0" b="0"/>
          <a:stretch/>
        </p:blipFill>
        <p:spPr>
          <a:xfrm>
            <a:off x="685800" y="2486254"/>
            <a:ext cx="105156" cy="1143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57200" y="3038551"/>
            <a:ext cx="3610051" cy="1619402"/>
          </a:xfrm>
          <a:prstGeom prst="roundRect">
            <a:avLst>
              <a:gd name="adj" fmla="val 2657"/>
            </a:avLst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57454" y="3258007"/>
            <a:ext cx="142646" cy="19019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57454" y="3581705"/>
            <a:ext cx="3209544" cy="400507"/>
          </a:xfrm>
          <a:prstGeom prst="roundRect">
            <a:avLst>
              <a:gd name="adj" fmla="val 2174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-1507" r="-1507" t="0" b="0"/>
          <a:stretch/>
        </p:blipFill>
        <p:spPr>
          <a:xfrm>
            <a:off x="780898" y="3715207"/>
            <a:ext cx="171907" cy="13350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57454" y="4058107"/>
            <a:ext cx="3209544" cy="400507"/>
          </a:xfrm>
          <a:prstGeom prst="roundRect">
            <a:avLst>
              <a:gd name="adj" fmla="val 2174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rcRect l="-2512" r="-2512" t="0" b="0"/>
          <a:stretch/>
        </p:blipFill>
        <p:spPr>
          <a:xfrm>
            <a:off x="780898" y="4190695"/>
            <a:ext cx="105156" cy="133502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4292194" y="1628546"/>
            <a:ext cx="7448702" cy="3981298"/>
          </a:xfrm>
          <a:prstGeom prst="roundRect">
            <a:avLst>
              <a:gd name="adj" fmla="val 440"/>
            </a:avLst>
          </a:prstGeom>
          <a:solidFill>
            <a:srgbClr val="FFFFFF"/>
          </a:solidFill>
          <a:ln/>
        </p:spPr>
      </p:sp>
      <p:sp>
        <p:nvSpPr>
          <p:cNvPr id="21" name="Shape 14"/>
          <p:cNvSpPr/>
          <p:nvPr/>
        </p:nvSpPr>
        <p:spPr>
          <a:xfrm>
            <a:off x="4330598" y="1666951"/>
            <a:ext cx="3610051" cy="1248156"/>
          </a:xfrm>
          <a:prstGeom prst="roundRect">
            <a:avLst>
              <a:gd name="adj" fmla="val 4474"/>
            </a:avLst>
          </a:prstGeom>
          <a:solidFill>
            <a:srgbClr val="FFFFFF"/>
          </a:solidFill>
          <a:ln w="38100">
            <a:solidFill>
              <a:srgbClr val="8B1538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4339742" y="1695298"/>
            <a:ext cx="3590849" cy="390449"/>
          </a:xfrm>
          <a:prstGeom prst="roundRect">
            <a:avLst>
              <a:gd name="adj" fmla="val 45696"/>
            </a:avLst>
          </a:prstGeom>
          <a:solidFill>
            <a:srgbClr val="FAFAFA"/>
          </a:solidFill>
          <a:ln/>
        </p:spPr>
      </p:sp>
      <p:sp>
        <p:nvSpPr>
          <p:cNvPr id="23" name="Shape 16"/>
          <p:cNvSpPr/>
          <p:nvPr/>
        </p:nvSpPr>
        <p:spPr>
          <a:xfrm>
            <a:off x="4339742" y="2076602"/>
            <a:ext cx="3590849" cy="9144"/>
          </a:xfrm>
          <a:prstGeom prst="rect">
            <a:avLst/>
          </a:prstGeom>
          <a:solidFill>
            <a:srgbClr val="F0F0F0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483303" y="1809598"/>
            <a:ext cx="152705" cy="152705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8089697" y="1666951"/>
            <a:ext cx="3610051" cy="1248156"/>
          </a:xfrm>
          <a:prstGeom prst="roundRect">
            <a:avLst>
              <a:gd name="adj" fmla="val 4474"/>
            </a:avLst>
          </a:prstGeom>
          <a:solidFill>
            <a:srgbClr val="FFFFFF"/>
          </a:solidFill>
          <a:ln w="38100">
            <a:solidFill>
              <a:srgbClr val="8B1538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8099755" y="1695298"/>
            <a:ext cx="3590849" cy="390449"/>
          </a:xfrm>
          <a:prstGeom prst="roundRect">
            <a:avLst>
              <a:gd name="adj" fmla="val 45696"/>
            </a:avLst>
          </a:prstGeom>
          <a:solidFill>
            <a:srgbClr val="FAFAFA"/>
          </a:solidFill>
          <a:ln/>
        </p:spPr>
      </p:sp>
      <p:sp>
        <p:nvSpPr>
          <p:cNvPr id="27" name="Shape 19"/>
          <p:cNvSpPr/>
          <p:nvPr/>
        </p:nvSpPr>
        <p:spPr>
          <a:xfrm>
            <a:off x="8099755" y="2076602"/>
            <a:ext cx="3590849" cy="9144"/>
          </a:xfrm>
          <a:prstGeom prst="rect">
            <a:avLst/>
          </a:prstGeom>
          <a:solidFill>
            <a:srgbClr val="F0F0F0"/>
          </a:solidFill>
          <a:ln/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rcRect l="-33" r="-33" t="0" b="0"/>
          <a:stretch/>
        </p:blipFill>
        <p:spPr>
          <a:xfrm>
            <a:off x="8242402" y="1809598"/>
            <a:ext cx="171907" cy="152705"/>
          </a:xfrm>
          <a:prstGeom prst="rect">
            <a:avLst/>
          </a:prstGeom>
        </p:spPr>
      </p:pic>
      <p:sp>
        <p:nvSpPr>
          <p:cNvPr id="29" name="Shape 20"/>
          <p:cNvSpPr/>
          <p:nvPr/>
        </p:nvSpPr>
        <p:spPr>
          <a:xfrm>
            <a:off x="4330598" y="3065983"/>
            <a:ext cx="3610051" cy="1095451"/>
          </a:xfrm>
          <a:prstGeom prst="roundRect">
            <a:avLst>
              <a:gd name="adj" fmla="val 5807"/>
            </a:avLst>
          </a:prstGeom>
          <a:solidFill>
            <a:srgbClr val="FFFFFF"/>
          </a:solidFill>
          <a:ln w="38100">
            <a:solidFill>
              <a:srgbClr val="8B1538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30" name="Shape 21"/>
          <p:cNvSpPr/>
          <p:nvPr/>
        </p:nvSpPr>
        <p:spPr>
          <a:xfrm>
            <a:off x="4339742" y="3095244"/>
            <a:ext cx="3590849" cy="390449"/>
          </a:xfrm>
          <a:prstGeom prst="roundRect">
            <a:avLst>
              <a:gd name="adj" fmla="val 45696"/>
            </a:avLst>
          </a:prstGeom>
          <a:solidFill>
            <a:srgbClr val="FAFAFA"/>
          </a:solidFill>
          <a:ln/>
        </p:spPr>
      </p:sp>
      <p:sp>
        <p:nvSpPr>
          <p:cNvPr id="31" name="Shape 22"/>
          <p:cNvSpPr/>
          <p:nvPr/>
        </p:nvSpPr>
        <p:spPr>
          <a:xfrm>
            <a:off x="4339742" y="3476549"/>
            <a:ext cx="3590849" cy="9144"/>
          </a:xfrm>
          <a:prstGeom prst="rect">
            <a:avLst/>
          </a:prstGeom>
          <a:solidFill>
            <a:srgbClr val="F0F0F0"/>
          </a:solidFill>
          <a:ln/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4483303" y="3209544"/>
            <a:ext cx="152705" cy="152705"/>
          </a:xfrm>
          <a:prstGeom prst="rect">
            <a:avLst/>
          </a:prstGeom>
        </p:spPr>
      </p:pic>
      <p:sp>
        <p:nvSpPr>
          <p:cNvPr id="33" name="Shape 23"/>
          <p:cNvSpPr/>
          <p:nvPr/>
        </p:nvSpPr>
        <p:spPr>
          <a:xfrm>
            <a:off x="8089697" y="3065983"/>
            <a:ext cx="3610051" cy="1095451"/>
          </a:xfrm>
          <a:prstGeom prst="roundRect">
            <a:avLst>
              <a:gd name="adj" fmla="val 5807"/>
            </a:avLst>
          </a:prstGeom>
          <a:solidFill>
            <a:srgbClr val="FFFFFF"/>
          </a:solidFill>
          <a:ln w="38100">
            <a:solidFill>
              <a:srgbClr val="8B1538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34" name="Shape 24"/>
          <p:cNvSpPr/>
          <p:nvPr/>
        </p:nvSpPr>
        <p:spPr>
          <a:xfrm>
            <a:off x="8099755" y="3095244"/>
            <a:ext cx="3590849" cy="390449"/>
          </a:xfrm>
          <a:prstGeom prst="roundRect">
            <a:avLst>
              <a:gd name="adj" fmla="val 45696"/>
            </a:avLst>
          </a:prstGeom>
          <a:solidFill>
            <a:srgbClr val="FAFAFA"/>
          </a:solidFill>
          <a:ln/>
        </p:spPr>
      </p:sp>
      <p:sp>
        <p:nvSpPr>
          <p:cNvPr id="35" name="Shape 25"/>
          <p:cNvSpPr/>
          <p:nvPr/>
        </p:nvSpPr>
        <p:spPr>
          <a:xfrm>
            <a:off x="8099755" y="3476549"/>
            <a:ext cx="3590849" cy="9144"/>
          </a:xfrm>
          <a:prstGeom prst="rect">
            <a:avLst/>
          </a:prstGeom>
          <a:solidFill>
            <a:srgbClr val="F0F0F0"/>
          </a:solidFill>
          <a:ln/>
        </p:spPr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180" b="-180"/>
          <a:stretch/>
        </p:blipFill>
        <p:spPr>
          <a:xfrm>
            <a:off x="8242402" y="3209544"/>
            <a:ext cx="95098" cy="152705"/>
          </a:xfrm>
          <a:prstGeom prst="rect">
            <a:avLst/>
          </a:prstGeom>
        </p:spPr>
      </p:pic>
      <p:sp>
        <p:nvSpPr>
          <p:cNvPr id="37" name="Shape 26"/>
          <p:cNvSpPr/>
          <p:nvPr/>
        </p:nvSpPr>
        <p:spPr>
          <a:xfrm>
            <a:off x="4330598" y="4306824"/>
            <a:ext cx="7372807" cy="1266444"/>
          </a:xfrm>
          <a:prstGeom prst="roundRect">
            <a:avLst>
              <a:gd name="adj" fmla="val 4343"/>
            </a:avLst>
          </a:prstGeom>
          <a:solidFill>
            <a:srgbClr val="FFFFFF"/>
          </a:solidFill>
          <a:ln w="38100">
            <a:solidFill>
              <a:srgbClr val="8B1538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38" name="Shape 27"/>
          <p:cNvSpPr/>
          <p:nvPr/>
        </p:nvSpPr>
        <p:spPr>
          <a:xfrm>
            <a:off x="4339742" y="4336085"/>
            <a:ext cx="7353605" cy="400507"/>
          </a:xfrm>
          <a:prstGeom prst="roundRect">
            <a:avLst>
              <a:gd name="adj" fmla="val 43488"/>
            </a:avLst>
          </a:prstGeom>
          <a:solidFill>
            <a:srgbClr val="FAFAFA"/>
          </a:solidFill>
          <a:ln/>
        </p:spPr>
      </p:sp>
      <p:sp>
        <p:nvSpPr>
          <p:cNvPr id="39" name="Shape 28"/>
          <p:cNvSpPr/>
          <p:nvPr/>
        </p:nvSpPr>
        <p:spPr>
          <a:xfrm>
            <a:off x="4339742" y="4727448"/>
            <a:ext cx="7353605" cy="9144"/>
          </a:xfrm>
          <a:prstGeom prst="rect">
            <a:avLst/>
          </a:prstGeom>
          <a:solidFill>
            <a:srgbClr val="F0F0F0"/>
          </a:solidFill>
          <a:ln/>
        </p:spPr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180" b="-180"/>
          <a:stretch/>
        </p:blipFill>
        <p:spPr>
          <a:xfrm>
            <a:off x="4483303" y="4454042"/>
            <a:ext cx="190195" cy="152705"/>
          </a:xfrm>
          <a:prstGeom prst="rect">
            <a:avLst/>
          </a:prstGeom>
        </p:spPr>
      </p:pic>
      <p:sp>
        <p:nvSpPr>
          <p:cNvPr id="41" name="Shape 29"/>
          <p:cNvSpPr/>
          <p:nvPr/>
        </p:nvSpPr>
        <p:spPr>
          <a:xfrm>
            <a:off x="10877702" y="4431182"/>
            <a:ext cx="666598" cy="200254"/>
          </a:xfrm>
          <a:prstGeom prst="roundRect">
            <a:avLst>
              <a:gd name="adj" fmla="val 217438"/>
            </a:avLst>
          </a:prstGeom>
          <a:solidFill>
            <a:srgbClr val="8B1538"/>
          </a:solidFill>
          <a:ln/>
        </p:spPr>
      </p:sp>
      <p:sp>
        <p:nvSpPr>
          <p:cNvPr id="42" name="Shape 30"/>
          <p:cNvSpPr/>
          <p:nvPr/>
        </p:nvSpPr>
        <p:spPr>
          <a:xfrm>
            <a:off x="5715000" y="4996282"/>
            <a:ext cx="9144" cy="30449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3" name="Shape 31"/>
          <p:cNvSpPr/>
          <p:nvPr/>
        </p:nvSpPr>
        <p:spPr>
          <a:xfrm>
            <a:off x="7243877" y="4996282"/>
            <a:ext cx="9144" cy="30449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4" name="Text 32"/>
          <p:cNvSpPr txBox="1"/>
          <p:nvPr/>
        </p:nvSpPr>
        <p:spPr>
          <a:xfrm>
            <a:off x="685800" y="599846"/>
            <a:ext cx="4825289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SOCIÉTÉ REV'I - AGROBUSINESS</a:t>
            </a:r>
            <a:endParaRPr lang="en-US" sz="2200" dirty="0"/>
          </a:p>
        </p:txBody>
      </p:sp>
      <p:sp>
        <p:nvSpPr>
          <p:cNvPr id="45" name="Text 33"/>
          <p:cNvSpPr txBox="1"/>
          <p:nvPr/>
        </p:nvSpPr>
        <p:spPr>
          <a:xfrm>
            <a:off x="685800" y="1067105"/>
            <a:ext cx="33677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Structure de Production et Encadrement</a:t>
            </a:r>
            <a:endParaRPr lang="en-US" sz="1300" dirty="0"/>
          </a:p>
        </p:txBody>
      </p:sp>
      <p:pic>
        <p:nvPicPr>
          <p:cNvPr id="46" name="Image 10" descr="preencoded.png">    </p:cNvPr>
          <p:cNvPicPr>
            <a:picLocks noChangeAspect="1"/>
          </p:cNvPicPr>
          <p:nvPr/>
        </p:nvPicPr>
        <p:blipFill>
          <a:blip r:embed="rId11"/>
          <a:srcRect l="-1507" r="-1507" t="0" b="0"/>
          <a:stretch/>
        </p:blipFill>
        <p:spPr>
          <a:xfrm>
            <a:off x="10169042" y="1092708"/>
            <a:ext cx="171907" cy="133502"/>
          </a:xfrm>
          <a:prstGeom prst="rect">
            <a:avLst/>
          </a:prstGeom>
        </p:spPr>
      </p:pic>
      <p:sp>
        <p:nvSpPr>
          <p:cNvPr id="47" name="Text 34"/>
          <p:cNvSpPr txBox="1"/>
          <p:nvPr/>
        </p:nvSpPr>
        <p:spPr>
          <a:xfrm>
            <a:off x="10416845" y="1067105"/>
            <a:ext cx="12627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: 20-23 Pers.</a:t>
            </a:r>
            <a:endParaRPr lang="en-US" sz="1000" dirty="0"/>
          </a:p>
        </p:txBody>
      </p:sp>
      <p:sp>
        <p:nvSpPr>
          <p:cNvPr id="48" name="Text 35"/>
          <p:cNvSpPr txBox="1"/>
          <p:nvPr/>
        </p:nvSpPr>
        <p:spPr>
          <a:xfrm>
            <a:off x="1181405" y="1836115"/>
            <a:ext cx="18150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Direction Générale</a:t>
            </a:r>
            <a:endParaRPr lang="en-US" sz="1300" dirty="0"/>
          </a:p>
        </p:txBody>
      </p:sp>
      <p:sp>
        <p:nvSpPr>
          <p:cNvPr id="49" name="Text 36"/>
          <p:cNvSpPr txBox="1"/>
          <p:nvPr/>
        </p:nvSpPr>
        <p:spPr>
          <a:xfrm>
            <a:off x="1181405" y="2040941"/>
            <a:ext cx="13908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PILOTAGE &amp; STRATÉGIE</a:t>
            </a:r>
            <a:endParaRPr lang="en-US" sz="900" dirty="0"/>
          </a:p>
        </p:txBody>
      </p:sp>
      <p:sp>
        <p:nvSpPr>
          <p:cNvPr id="50" name="Text 37"/>
          <p:cNvSpPr txBox="1"/>
          <p:nvPr/>
        </p:nvSpPr>
        <p:spPr>
          <a:xfrm>
            <a:off x="866851" y="2447849"/>
            <a:ext cx="16623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Directeur Général REV'I</a:t>
            </a:r>
            <a:endParaRPr lang="en-US" sz="1000" dirty="0"/>
          </a:p>
        </p:txBody>
      </p:sp>
      <p:sp>
        <p:nvSpPr>
          <p:cNvPr id="51" name="Text 38"/>
          <p:cNvSpPr txBox="1"/>
          <p:nvPr/>
        </p:nvSpPr>
        <p:spPr>
          <a:xfrm>
            <a:off x="914400" y="3258007"/>
            <a:ext cx="18105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Support &amp; Logistique</a:t>
            </a:r>
            <a:endParaRPr lang="en-US" sz="1200" dirty="0"/>
          </a:p>
        </p:txBody>
      </p:sp>
      <p:sp>
        <p:nvSpPr>
          <p:cNvPr id="52" name="Text 39"/>
          <p:cNvSpPr txBox="1"/>
          <p:nvPr/>
        </p:nvSpPr>
        <p:spPr>
          <a:xfrm>
            <a:off x="1067105" y="3696005"/>
            <a:ext cx="22576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Responsable Commercial &amp; Logistique</a:t>
            </a:r>
            <a:endParaRPr lang="en-US" sz="900" dirty="0"/>
          </a:p>
        </p:txBody>
      </p:sp>
      <p:sp>
        <p:nvSpPr>
          <p:cNvPr id="53" name="Text 40"/>
          <p:cNvSpPr txBox="1"/>
          <p:nvPr/>
        </p:nvSpPr>
        <p:spPr>
          <a:xfrm>
            <a:off x="1000354" y="4172407"/>
            <a:ext cx="16194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Comptable &amp; Administratif</a:t>
            </a:r>
            <a:endParaRPr lang="en-US" sz="900" dirty="0"/>
          </a:p>
        </p:txBody>
      </p:sp>
      <p:sp>
        <p:nvSpPr>
          <p:cNvPr id="54" name="Text 41"/>
          <p:cNvSpPr txBox="1"/>
          <p:nvPr/>
        </p:nvSpPr>
        <p:spPr>
          <a:xfrm>
            <a:off x="790956" y="4990795"/>
            <a:ext cx="3182112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"Contribuer à la sécurité alimentaire et au développement rural durable par la production agricole et la valorisation des ressources."</a:t>
            </a:r>
            <a:endParaRPr lang="en-US" sz="900" dirty="0"/>
          </a:p>
        </p:txBody>
      </p:sp>
      <p:sp>
        <p:nvSpPr>
          <p:cNvPr id="55" name="Text 42"/>
          <p:cNvSpPr txBox="1"/>
          <p:nvPr/>
        </p:nvSpPr>
        <p:spPr>
          <a:xfrm>
            <a:off x="4711903" y="1800454"/>
            <a:ext cx="151058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Production Agricole</a:t>
            </a:r>
            <a:endParaRPr lang="en-US" sz="1000" dirty="0"/>
          </a:p>
        </p:txBody>
      </p:sp>
      <p:sp>
        <p:nvSpPr>
          <p:cNvPr id="56" name="Text 43"/>
          <p:cNvSpPr txBox="1"/>
          <p:nvPr/>
        </p:nvSpPr>
        <p:spPr>
          <a:xfrm>
            <a:off x="8490204" y="1800454"/>
            <a:ext cx="92903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Pisciculture</a:t>
            </a:r>
            <a:endParaRPr lang="en-US" sz="1000" dirty="0"/>
          </a:p>
        </p:txBody>
      </p:sp>
      <p:sp>
        <p:nvSpPr>
          <p:cNvPr id="57" name="Text 44"/>
          <p:cNvSpPr txBox="1"/>
          <p:nvPr/>
        </p:nvSpPr>
        <p:spPr>
          <a:xfrm>
            <a:off x="4711903" y="3199486"/>
            <a:ext cx="139628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Aliments Animaux</a:t>
            </a:r>
            <a:endParaRPr lang="en-US" sz="1000" dirty="0"/>
          </a:p>
        </p:txBody>
      </p:sp>
      <p:sp>
        <p:nvSpPr>
          <p:cNvPr id="58" name="Text 45"/>
          <p:cNvSpPr txBox="1"/>
          <p:nvPr/>
        </p:nvSpPr>
        <p:spPr>
          <a:xfrm>
            <a:off x="8413394" y="3199486"/>
            <a:ext cx="9482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Eau Potable</a:t>
            </a:r>
            <a:endParaRPr lang="en-US" sz="1000" dirty="0"/>
          </a:p>
        </p:txBody>
      </p:sp>
      <p:sp>
        <p:nvSpPr>
          <p:cNvPr id="59" name="Text 46"/>
          <p:cNvSpPr txBox="1"/>
          <p:nvPr/>
        </p:nvSpPr>
        <p:spPr>
          <a:xfrm>
            <a:off x="4749394" y="4443984"/>
            <a:ext cx="2472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Équipes Opérationnelles &amp; Terrain</a:t>
            </a:r>
            <a:endParaRPr lang="en-US" sz="1000" dirty="0"/>
          </a:p>
        </p:txBody>
      </p:sp>
      <p:sp>
        <p:nvSpPr>
          <p:cNvPr id="60" name="Text 47"/>
          <p:cNvSpPr txBox="1"/>
          <p:nvPr/>
        </p:nvSpPr>
        <p:spPr>
          <a:xfrm>
            <a:off x="10935310" y="4450385"/>
            <a:ext cx="63276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12-15 Pers.</a:t>
            </a:r>
            <a:endParaRPr lang="en-US" sz="800" dirty="0"/>
          </a:p>
        </p:txBody>
      </p:sp>
      <p:pic>
        <p:nvPicPr>
          <p:cNvPr id="61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4908499" y="4848149"/>
            <a:ext cx="228600" cy="228600"/>
          </a:xfrm>
          <a:prstGeom prst="rect">
            <a:avLst/>
          </a:prstGeom>
        </p:spPr>
      </p:pic>
      <p:sp>
        <p:nvSpPr>
          <p:cNvPr id="62" name="Text 48"/>
          <p:cNvSpPr txBox="1"/>
          <p:nvPr/>
        </p:nvSpPr>
        <p:spPr>
          <a:xfrm>
            <a:off x="4763110" y="5134356"/>
            <a:ext cx="60990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Ouvriers Agricoles</a:t>
            </a:r>
            <a:endParaRPr lang="en-US" sz="900" dirty="0"/>
          </a:p>
        </p:txBody>
      </p:sp>
      <p:pic>
        <p:nvPicPr>
          <p:cNvPr id="63" name="Image 12" descr="preencoded.png">    </p:cNvPr>
          <p:cNvPicPr>
            <a:picLocks noChangeAspect="1"/>
          </p:cNvPicPr>
          <p:nvPr/>
        </p:nvPicPr>
        <p:blipFill>
          <a:blip r:embed="rId13"/>
          <a:srcRect l="-80" r="-80" t="0" b="0"/>
          <a:stretch/>
        </p:blipFill>
        <p:spPr>
          <a:xfrm>
            <a:off x="6340450" y="4848149"/>
            <a:ext cx="286207" cy="228600"/>
          </a:xfrm>
          <a:prstGeom prst="rect">
            <a:avLst/>
          </a:prstGeom>
        </p:spPr>
      </p:pic>
      <p:sp>
        <p:nvSpPr>
          <p:cNvPr id="64" name="Text 49"/>
          <p:cNvSpPr txBox="1"/>
          <p:nvPr/>
        </p:nvSpPr>
        <p:spPr>
          <a:xfrm>
            <a:off x="6156655" y="5134356"/>
            <a:ext cx="743407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Opérateurs Machines</a:t>
            </a:r>
            <a:endParaRPr lang="en-US" sz="900" dirty="0"/>
          </a:p>
        </p:txBody>
      </p:sp>
      <p:pic>
        <p:nvPicPr>
          <p:cNvPr id="65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-45" b="-45"/>
          <a:stretch/>
        </p:blipFill>
        <p:spPr>
          <a:xfrm>
            <a:off x="7821778" y="4848149"/>
            <a:ext cx="256946" cy="228600"/>
          </a:xfrm>
          <a:prstGeom prst="rect">
            <a:avLst/>
          </a:prstGeom>
        </p:spPr>
      </p:pic>
      <p:sp>
        <p:nvSpPr>
          <p:cNvPr id="66" name="Text 50"/>
          <p:cNvSpPr txBox="1"/>
          <p:nvPr/>
        </p:nvSpPr>
        <p:spPr>
          <a:xfrm>
            <a:off x="7630668" y="5134356"/>
            <a:ext cx="72420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Agents d'Entretien</a:t>
            </a:r>
            <a:endParaRPr lang="en-US" sz="900" dirty="0"/>
          </a:p>
        </p:txBody>
      </p:sp>
      <p:sp>
        <p:nvSpPr>
          <p:cNvPr id="67" name="Text 51"/>
          <p:cNvSpPr txBox="1"/>
          <p:nvPr/>
        </p:nvSpPr>
        <p:spPr>
          <a:xfrm>
            <a:off x="8936431" y="4910328"/>
            <a:ext cx="2695651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Personnel indispensable assurant la production quotidienne, la maintenance des équipements et l'entretien des sites.</a:t>
            </a:r>
            <a:endParaRPr lang="en-US" sz="900" dirty="0"/>
          </a:p>
        </p:txBody>
      </p:sp>
      <p:pic>
        <p:nvPicPr>
          <p:cNvPr id="68" name="Image 14" descr="preencoded.png">    </p:cNvPr>
          <p:cNvPicPr>
            <a:picLocks noChangeAspect="1"/>
          </p:cNvPicPr>
          <p:nvPr/>
        </p:nvPicPr>
        <p:blipFill>
          <a:blip r:embed="rId15">
            <a:alphaModFix amt="30000"/>
          </a:blip>
          <a:srcRect l="-2571" r="-2571" t="0" b="0"/>
          <a:stretch/>
        </p:blipFill>
        <p:spPr>
          <a:xfrm>
            <a:off x="609905" y="5000854"/>
            <a:ext cx="105156" cy="114300"/>
          </a:xfrm>
          <a:prstGeom prst="rect">
            <a:avLst/>
          </a:prstGeom>
        </p:spPr>
      </p:pic>
      <p:sp>
        <p:nvSpPr>
          <p:cNvPr id="69" name="Text 52"/>
          <p:cNvSpPr txBox="1"/>
          <p:nvPr/>
        </p:nvSpPr>
        <p:spPr>
          <a:xfrm>
            <a:off x="4597603" y="2190902"/>
            <a:ext cx="289224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Responsable Production AgricoleGestion cultures maraîchères</a:t>
            </a:r>
            <a:endParaRPr lang="en-US" sz="900" dirty="0"/>
          </a:p>
        </p:txBody>
      </p:sp>
      <p:sp>
        <p:nvSpPr>
          <p:cNvPr id="70" name="Text 53"/>
          <p:cNvSpPr txBox="1"/>
          <p:nvPr/>
        </p:nvSpPr>
        <p:spPr>
          <a:xfrm>
            <a:off x="4597603" y="2564892"/>
            <a:ext cx="297820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Ingénieur AgronomeSuivi technique &amp; rendements</a:t>
            </a:r>
            <a:endParaRPr lang="en-US" sz="900" dirty="0"/>
          </a:p>
        </p:txBody>
      </p:sp>
      <p:sp>
        <p:nvSpPr>
          <p:cNvPr id="71" name="Text 54"/>
          <p:cNvSpPr txBox="1"/>
          <p:nvPr/>
        </p:nvSpPr>
        <p:spPr>
          <a:xfrm>
            <a:off x="8356702" y="2190902"/>
            <a:ext cx="310164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Chef d'Exploitation PiscicoleGestion bassins &amp; étangs</a:t>
            </a:r>
            <a:endParaRPr lang="en-US" sz="900" dirty="0"/>
          </a:p>
        </p:txBody>
      </p:sp>
      <p:sp>
        <p:nvSpPr>
          <p:cNvPr id="72" name="Text 55"/>
          <p:cNvSpPr txBox="1"/>
          <p:nvPr/>
        </p:nvSpPr>
        <p:spPr>
          <a:xfrm>
            <a:off x="8356702" y="2406701"/>
            <a:ext cx="290139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Technicien PiscicultureSuivi élevage &amp; qualité eau</a:t>
            </a:r>
            <a:endParaRPr lang="en-US" sz="900" dirty="0"/>
          </a:p>
        </p:txBody>
      </p:sp>
      <p:sp>
        <p:nvSpPr>
          <p:cNvPr id="73" name="Text 56"/>
          <p:cNvSpPr txBox="1"/>
          <p:nvPr/>
        </p:nvSpPr>
        <p:spPr>
          <a:xfrm>
            <a:off x="4597603" y="3589934"/>
            <a:ext cx="247345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Resp. Unité AlimentsProduction provende</a:t>
            </a:r>
            <a:endParaRPr lang="en-US" sz="900" dirty="0"/>
          </a:p>
        </p:txBody>
      </p:sp>
      <p:sp>
        <p:nvSpPr>
          <p:cNvPr id="74" name="Text 57"/>
          <p:cNvSpPr txBox="1"/>
          <p:nvPr/>
        </p:nvSpPr>
        <p:spPr>
          <a:xfrm>
            <a:off x="4597603" y="3805733"/>
            <a:ext cx="272034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Technicien ProductionContrôle qualité &amp; stock</a:t>
            </a:r>
            <a:endParaRPr lang="en-US" sz="900" dirty="0"/>
          </a:p>
        </p:txBody>
      </p:sp>
      <p:sp>
        <p:nvSpPr>
          <p:cNvPr id="75" name="Text 58"/>
          <p:cNvSpPr txBox="1"/>
          <p:nvPr/>
        </p:nvSpPr>
        <p:spPr>
          <a:xfrm>
            <a:off x="8356702" y="3589934"/>
            <a:ext cx="320680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Resp. Unité Eau PotableTraitement &amp; conditionnement</a:t>
            </a:r>
            <a:endParaRPr lang="en-US" sz="900" dirty="0"/>
          </a:p>
        </p:txBody>
      </p:sp>
      <p:sp>
        <p:nvSpPr>
          <p:cNvPr id="76" name="Text 59"/>
          <p:cNvSpPr txBox="1"/>
          <p:nvPr/>
        </p:nvSpPr>
        <p:spPr>
          <a:xfrm>
            <a:off x="8356702" y="3805733"/>
            <a:ext cx="270205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Technicien TraitementMaintenance &amp; hygiène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78947" y="105156"/>
            <a:ext cx="1610258" cy="924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8B15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8B1538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91717"/>
            <a:ext cx="1127729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629107"/>
            <a:ext cx="75895" cy="304495"/>
          </a:xfrm>
          <a:prstGeom prst="roundRect">
            <a:avLst>
              <a:gd name="adj" fmla="val 301206"/>
            </a:avLst>
          </a:prstGeom>
          <a:solidFill>
            <a:srgbClr val="8B1538"/>
          </a:solidFill>
          <a:ln/>
        </p:spPr>
      </p:sp>
      <p:sp>
        <p:nvSpPr>
          <p:cNvPr id="8" name="Shape 6"/>
          <p:cNvSpPr/>
          <p:nvPr/>
        </p:nvSpPr>
        <p:spPr>
          <a:xfrm>
            <a:off x="10007194" y="990295"/>
            <a:ext cx="1733702" cy="323698"/>
          </a:xfrm>
          <a:prstGeom prst="roundRect">
            <a:avLst>
              <a:gd name="adj" fmla="val 282486"/>
            </a:avLst>
          </a:prstGeom>
          <a:solidFill>
            <a:srgbClr val="8B1538">
              <a:alpha val="5000"/>
            </a:srgbClr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28546"/>
            <a:ext cx="3610051" cy="2124151"/>
          </a:xfrm>
          <a:prstGeom prst="roundRect">
            <a:avLst>
              <a:gd name="adj" fmla="val 1544"/>
            </a:avLst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" y="1828800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8B1538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0100" y="1943100"/>
            <a:ext cx="152705" cy="152705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85800" y="2324405"/>
            <a:ext cx="3181198" cy="9144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-2571" r="-2571" t="0" b="0"/>
          <a:stretch/>
        </p:blipFill>
        <p:spPr>
          <a:xfrm>
            <a:off x="685800" y="2486254"/>
            <a:ext cx="105156" cy="114300"/>
          </a:xfrm>
          <a:prstGeom prst="rect">
            <a:avLst/>
          </a:prstGeom>
        </p:spPr>
      </p:pic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2790749"/>
            <a:ext cx="114300" cy="114300"/>
          </a:xfrm>
          <a:prstGeom prst="rect">
            <a:avLst/>
          </a:prstGeom>
        </p:spPr>
      </p:pic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85800" y="3095244"/>
            <a:ext cx="114300" cy="114300"/>
          </a:xfrm>
          <a:prstGeom prst="rect">
            <a:avLst/>
          </a:prstGeom>
        </p:spPr>
      </p:pic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85800" y="3400654"/>
            <a:ext cx="114300" cy="114300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457200" y="3943807"/>
            <a:ext cx="3610051" cy="1657807"/>
          </a:xfrm>
          <a:prstGeom prst="roundRect">
            <a:avLst>
              <a:gd name="adj" fmla="val 2536"/>
            </a:avLst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57454" y="4162349"/>
            <a:ext cx="190195" cy="190195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3688690" y="4158691"/>
            <a:ext cx="181051" cy="200254"/>
          </a:xfrm>
          <a:prstGeom prst="roundRect">
            <a:avLst>
              <a:gd name="adj" fmla="val 265816"/>
            </a:avLst>
          </a:prstGeom>
          <a:solidFill>
            <a:srgbClr val="8B1538"/>
          </a:solidFill>
          <a:ln/>
        </p:spPr>
      </p:sp>
      <p:sp>
        <p:nvSpPr>
          <p:cNvPr id="20" name="Shape 12"/>
          <p:cNvSpPr/>
          <p:nvPr/>
        </p:nvSpPr>
        <p:spPr>
          <a:xfrm>
            <a:off x="4292194" y="1628546"/>
            <a:ext cx="7448702" cy="4848149"/>
          </a:xfrm>
          <a:prstGeom prst="roundRect">
            <a:avLst>
              <a:gd name="adj" fmla="val 296"/>
            </a:avLst>
          </a:prstGeom>
          <a:solidFill>
            <a:srgbClr val="FFFFFF"/>
          </a:solidFill>
          <a:ln/>
        </p:spPr>
      </p:sp>
      <p:sp>
        <p:nvSpPr>
          <p:cNvPr id="21" name="Shape 13"/>
          <p:cNvSpPr/>
          <p:nvPr/>
        </p:nvSpPr>
        <p:spPr>
          <a:xfrm>
            <a:off x="4330598" y="1666951"/>
            <a:ext cx="3610051" cy="2143354"/>
          </a:xfrm>
          <a:prstGeom prst="roundRect">
            <a:avLst>
              <a:gd name="adj" fmla="val 1517"/>
            </a:avLst>
          </a:prstGeom>
          <a:solidFill>
            <a:srgbClr val="FFFFFF"/>
          </a:solidFill>
          <a:ln w="38100">
            <a:solidFill>
              <a:srgbClr val="8B1538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22" name="Shape 14"/>
          <p:cNvSpPr/>
          <p:nvPr/>
        </p:nvSpPr>
        <p:spPr>
          <a:xfrm>
            <a:off x="4339742" y="1695298"/>
            <a:ext cx="3590849" cy="400507"/>
          </a:xfrm>
          <a:prstGeom prst="roundRect">
            <a:avLst>
              <a:gd name="adj" fmla="val 43488"/>
            </a:avLst>
          </a:prstGeom>
          <a:solidFill>
            <a:srgbClr val="FAFAFA"/>
          </a:solidFill>
          <a:ln/>
        </p:spPr>
      </p:sp>
      <p:sp>
        <p:nvSpPr>
          <p:cNvPr id="23" name="Shape 15"/>
          <p:cNvSpPr/>
          <p:nvPr/>
        </p:nvSpPr>
        <p:spPr>
          <a:xfrm>
            <a:off x="4339742" y="2086661"/>
            <a:ext cx="3590849" cy="9144"/>
          </a:xfrm>
          <a:prstGeom prst="rect">
            <a:avLst/>
          </a:prstGeom>
          <a:solidFill>
            <a:srgbClr val="F0F0F0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483303" y="1813255"/>
            <a:ext cx="152705" cy="152705"/>
          </a:xfrm>
          <a:prstGeom prst="rect">
            <a:avLst/>
          </a:prstGeom>
        </p:spPr>
      </p:pic>
      <p:sp>
        <p:nvSpPr>
          <p:cNvPr id="25" name="Shape 16"/>
          <p:cNvSpPr/>
          <p:nvPr/>
        </p:nvSpPr>
        <p:spPr>
          <a:xfrm>
            <a:off x="7514539" y="1790395"/>
            <a:ext cx="276149" cy="200254"/>
          </a:xfrm>
          <a:prstGeom prst="roundRect">
            <a:avLst>
              <a:gd name="adj" fmla="val 217438"/>
            </a:avLst>
          </a:prstGeom>
          <a:solidFill>
            <a:srgbClr val="8B1538"/>
          </a:solidFill>
          <a:ln/>
        </p:spPr>
      </p:sp>
      <p:sp>
        <p:nvSpPr>
          <p:cNvPr id="26" name="Shape 17"/>
          <p:cNvSpPr/>
          <p:nvPr/>
        </p:nvSpPr>
        <p:spPr>
          <a:xfrm>
            <a:off x="4483303" y="3405226"/>
            <a:ext cx="838505" cy="237744"/>
          </a:xfrm>
          <a:prstGeom prst="roundRect">
            <a:avLst>
              <a:gd name="adj" fmla="val 61538"/>
            </a:avLst>
          </a:prstGeom>
          <a:solidFill>
            <a:srgbClr val="FCE7F3"/>
          </a:solidFill>
          <a:ln/>
        </p:spPr>
      </p:sp>
      <p:sp>
        <p:nvSpPr>
          <p:cNvPr id="27" name="Shape 18"/>
          <p:cNvSpPr/>
          <p:nvPr/>
        </p:nvSpPr>
        <p:spPr>
          <a:xfrm>
            <a:off x="5356555" y="3405226"/>
            <a:ext cx="819302" cy="237744"/>
          </a:xfrm>
          <a:prstGeom prst="roundRect">
            <a:avLst>
              <a:gd name="adj" fmla="val 61538"/>
            </a:avLst>
          </a:prstGeom>
          <a:solidFill>
            <a:srgbClr val="FCE7F3"/>
          </a:solidFill>
          <a:ln/>
        </p:spPr>
      </p:sp>
      <p:sp>
        <p:nvSpPr>
          <p:cNvPr id="28" name="Shape 19"/>
          <p:cNvSpPr/>
          <p:nvPr/>
        </p:nvSpPr>
        <p:spPr>
          <a:xfrm>
            <a:off x="6210605" y="3405226"/>
            <a:ext cx="647395" cy="237744"/>
          </a:xfrm>
          <a:prstGeom prst="roundRect">
            <a:avLst>
              <a:gd name="adj" fmla="val 61538"/>
            </a:avLst>
          </a:prstGeom>
          <a:solidFill>
            <a:srgbClr val="FCE7F3"/>
          </a:solidFill>
          <a:ln/>
        </p:spPr>
      </p:sp>
      <p:sp>
        <p:nvSpPr>
          <p:cNvPr id="29" name="Shape 20"/>
          <p:cNvSpPr/>
          <p:nvPr/>
        </p:nvSpPr>
        <p:spPr>
          <a:xfrm>
            <a:off x="8089697" y="1666951"/>
            <a:ext cx="3610051" cy="2143354"/>
          </a:xfrm>
          <a:prstGeom prst="roundRect">
            <a:avLst>
              <a:gd name="adj" fmla="val 1517"/>
            </a:avLst>
          </a:prstGeom>
          <a:solidFill>
            <a:srgbClr val="FFFFFF"/>
          </a:solidFill>
          <a:ln w="38100">
            <a:solidFill>
              <a:srgbClr val="8B1538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30" name="Shape 21"/>
          <p:cNvSpPr/>
          <p:nvPr/>
        </p:nvSpPr>
        <p:spPr>
          <a:xfrm>
            <a:off x="8099755" y="1695298"/>
            <a:ext cx="3590849" cy="400507"/>
          </a:xfrm>
          <a:prstGeom prst="roundRect">
            <a:avLst>
              <a:gd name="adj" fmla="val 43488"/>
            </a:avLst>
          </a:prstGeom>
          <a:solidFill>
            <a:srgbClr val="FAFAFA"/>
          </a:solidFill>
          <a:ln/>
        </p:spPr>
      </p:sp>
      <p:sp>
        <p:nvSpPr>
          <p:cNvPr id="31" name="Shape 22"/>
          <p:cNvSpPr/>
          <p:nvPr/>
        </p:nvSpPr>
        <p:spPr>
          <a:xfrm>
            <a:off x="8099755" y="2086661"/>
            <a:ext cx="3590849" cy="9144"/>
          </a:xfrm>
          <a:prstGeom prst="rect">
            <a:avLst/>
          </a:prstGeom>
          <a:solidFill>
            <a:srgbClr val="F0F0F0"/>
          </a:solidFill>
          <a:ln/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180" b="-180"/>
          <a:stretch/>
        </p:blipFill>
        <p:spPr>
          <a:xfrm>
            <a:off x="8242402" y="1813255"/>
            <a:ext cx="190195" cy="152705"/>
          </a:xfrm>
          <a:prstGeom prst="rect">
            <a:avLst/>
          </a:prstGeom>
        </p:spPr>
      </p:pic>
      <p:sp>
        <p:nvSpPr>
          <p:cNvPr id="33" name="Shape 23"/>
          <p:cNvSpPr/>
          <p:nvPr/>
        </p:nvSpPr>
        <p:spPr>
          <a:xfrm>
            <a:off x="11273638" y="1790395"/>
            <a:ext cx="276149" cy="200254"/>
          </a:xfrm>
          <a:prstGeom prst="roundRect">
            <a:avLst>
              <a:gd name="adj" fmla="val 217438"/>
            </a:avLst>
          </a:prstGeom>
          <a:solidFill>
            <a:srgbClr val="8B1538"/>
          </a:solidFill>
          <a:ln/>
        </p:spPr>
      </p:sp>
      <p:sp>
        <p:nvSpPr>
          <p:cNvPr id="34" name="Shape 24"/>
          <p:cNvSpPr/>
          <p:nvPr/>
        </p:nvSpPr>
        <p:spPr>
          <a:xfrm>
            <a:off x="8242402" y="3405226"/>
            <a:ext cx="352044" cy="237744"/>
          </a:xfrm>
          <a:prstGeom prst="roundRect">
            <a:avLst>
              <a:gd name="adj" fmla="val 61538"/>
            </a:avLst>
          </a:prstGeom>
          <a:solidFill>
            <a:srgbClr val="FCE7F3"/>
          </a:solidFill>
          <a:ln/>
        </p:spPr>
      </p:sp>
      <p:sp>
        <p:nvSpPr>
          <p:cNvPr id="35" name="Shape 25"/>
          <p:cNvSpPr/>
          <p:nvPr/>
        </p:nvSpPr>
        <p:spPr>
          <a:xfrm>
            <a:off x="8629193" y="3405226"/>
            <a:ext cx="619049" cy="237744"/>
          </a:xfrm>
          <a:prstGeom prst="roundRect">
            <a:avLst>
              <a:gd name="adj" fmla="val 61538"/>
            </a:avLst>
          </a:prstGeom>
          <a:solidFill>
            <a:srgbClr val="FCE7F3"/>
          </a:solidFill>
          <a:ln/>
        </p:spPr>
      </p:sp>
      <p:sp>
        <p:nvSpPr>
          <p:cNvPr id="36" name="Shape 26"/>
          <p:cNvSpPr/>
          <p:nvPr/>
        </p:nvSpPr>
        <p:spPr>
          <a:xfrm>
            <a:off x="9284818" y="3405226"/>
            <a:ext cx="619049" cy="237744"/>
          </a:xfrm>
          <a:prstGeom prst="roundRect">
            <a:avLst>
              <a:gd name="adj" fmla="val 61538"/>
            </a:avLst>
          </a:prstGeom>
          <a:solidFill>
            <a:srgbClr val="FCE7F3"/>
          </a:solidFill>
          <a:ln/>
        </p:spPr>
      </p:sp>
      <p:sp>
        <p:nvSpPr>
          <p:cNvPr id="37" name="Shape 27"/>
          <p:cNvSpPr/>
          <p:nvPr/>
        </p:nvSpPr>
        <p:spPr>
          <a:xfrm>
            <a:off x="4330598" y="3955694"/>
            <a:ext cx="7372807" cy="2486254"/>
          </a:xfrm>
          <a:prstGeom prst="roundRect">
            <a:avLst>
              <a:gd name="adj" fmla="val 1127"/>
            </a:avLst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38" name="Shape 28"/>
          <p:cNvSpPr/>
          <p:nvPr/>
        </p:nvSpPr>
        <p:spPr>
          <a:xfrm>
            <a:off x="8847734" y="4185209"/>
            <a:ext cx="9144" cy="400507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9" name="Shape 29"/>
          <p:cNvSpPr/>
          <p:nvPr/>
        </p:nvSpPr>
        <p:spPr>
          <a:xfrm>
            <a:off x="10081260" y="4185209"/>
            <a:ext cx="9144" cy="400507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0" name="Text 30"/>
          <p:cNvSpPr txBox="1"/>
          <p:nvPr/>
        </p:nvSpPr>
        <p:spPr>
          <a:xfrm>
            <a:off x="685800" y="599846"/>
            <a:ext cx="4482389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RISHOM BUSINESS ACADEMY</a:t>
            </a:r>
            <a:endParaRPr lang="en-US" sz="2200" dirty="0"/>
          </a:p>
        </p:txBody>
      </p:sp>
      <p:sp>
        <p:nvSpPr>
          <p:cNvPr id="41" name="Text 31"/>
          <p:cNvSpPr txBox="1"/>
          <p:nvPr/>
        </p:nvSpPr>
        <p:spPr>
          <a:xfrm>
            <a:off x="685800" y="1067105"/>
            <a:ext cx="42345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Pôle Formation Professionnelle &amp; École des Métiers</a:t>
            </a:r>
            <a:endParaRPr lang="en-US" sz="1300" dirty="0"/>
          </a:p>
        </p:txBody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rcRect l="-1507" r="-1507" t="0" b="0"/>
          <a:stretch/>
        </p:blipFill>
        <p:spPr>
          <a:xfrm>
            <a:off x="10169042" y="1092708"/>
            <a:ext cx="171907" cy="133502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10416845" y="1067105"/>
            <a:ext cx="12627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: 15-18 Pers.</a:t>
            </a:r>
            <a:endParaRPr lang="en-US" sz="1000" dirty="0"/>
          </a:p>
        </p:txBody>
      </p:sp>
      <p:sp>
        <p:nvSpPr>
          <p:cNvPr id="44" name="Text 33"/>
          <p:cNvSpPr txBox="1"/>
          <p:nvPr/>
        </p:nvSpPr>
        <p:spPr>
          <a:xfrm>
            <a:off x="1181405" y="1836115"/>
            <a:ext cx="21579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Direction &amp; Pédagogie</a:t>
            </a:r>
            <a:endParaRPr lang="en-US" sz="1300" dirty="0"/>
          </a:p>
        </p:txBody>
      </p:sp>
      <p:sp>
        <p:nvSpPr>
          <p:cNvPr id="45" name="Text 34"/>
          <p:cNvSpPr txBox="1"/>
          <p:nvPr/>
        </p:nvSpPr>
        <p:spPr>
          <a:xfrm>
            <a:off x="1181405" y="2040941"/>
            <a:ext cx="14575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PILOTAGE STRATÉGIQUE</a:t>
            </a:r>
            <a:endParaRPr lang="en-US" sz="900" dirty="0"/>
          </a:p>
        </p:txBody>
      </p:sp>
      <p:sp>
        <p:nvSpPr>
          <p:cNvPr id="46" name="Text 35"/>
          <p:cNvSpPr txBox="1"/>
          <p:nvPr/>
        </p:nvSpPr>
        <p:spPr>
          <a:xfrm>
            <a:off x="866851" y="2447849"/>
            <a:ext cx="19385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Directeur Général Academy</a:t>
            </a:r>
            <a:endParaRPr lang="en-US" sz="1000" dirty="0"/>
          </a:p>
        </p:txBody>
      </p:sp>
      <p:sp>
        <p:nvSpPr>
          <p:cNvPr id="47" name="Text 36"/>
          <p:cNvSpPr txBox="1"/>
          <p:nvPr/>
        </p:nvSpPr>
        <p:spPr>
          <a:xfrm>
            <a:off x="875995" y="2752344"/>
            <a:ext cx="15764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Directeur Pédagogique</a:t>
            </a:r>
            <a:endParaRPr lang="en-US" sz="1000" dirty="0"/>
          </a:p>
        </p:txBody>
      </p:sp>
      <p:sp>
        <p:nvSpPr>
          <p:cNvPr id="48" name="Text 37"/>
          <p:cNvSpPr txBox="1"/>
          <p:nvPr/>
        </p:nvSpPr>
        <p:spPr>
          <a:xfrm>
            <a:off x="875995" y="3057754"/>
            <a:ext cx="23006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Responsable Formations Continues</a:t>
            </a:r>
            <a:endParaRPr lang="en-US" sz="1000" dirty="0"/>
          </a:p>
        </p:txBody>
      </p:sp>
      <p:sp>
        <p:nvSpPr>
          <p:cNvPr id="49" name="Text 38"/>
          <p:cNvSpPr txBox="1"/>
          <p:nvPr/>
        </p:nvSpPr>
        <p:spPr>
          <a:xfrm>
            <a:off x="875995" y="3362249"/>
            <a:ext cx="20153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Responsable École des Métiers</a:t>
            </a:r>
            <a:endParaRPr lang="en-US" sz="1000" dirty="0"/>
          </a:p>
        </p:txBody>
      </p:sp>
      <p:sp>
        <p:nvSpPr>
          <p:cNvPr id="50" name="Text 39"/>
          <p:cNvSpPr txBox="1"/>
          <p:nvPr/>
        </p:nvSpPr>
        <p:spPr>
          <a:xfrm>
            <a:off x="961949" y="4162349"/>
            <a:ext cx="22485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Support &amp; Développement</a:t>
            </a:r>
            <a:endParaRPr lang="en-US" sz="1200" dirty="0"/>
          </a:p>
        </p:txBody>
      </p:sp>
      <p:sp>
        <p:nvSpPr>
          <p:cNvPr id="51" name="Text 40"/>
          <p:cNvSpPr txBox="1"/>
          <p:nvPr/>
        </p:nvSpPr>
        <p:spPr>
          <a:xfrm>
            <a:off x="3745382" y="4177894"/>
            <a:ext cx="14721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800" dirty="0"/>
          </a:p>
        </p:txBody>
      </p:sp>
      <p:sp>
        <p:nvSpPr>
          <p:cNvPr id="52" name="Text 41"/>
          <p:cNvSpPr txBox="1"/>
          <p:nvPr/>
        </p:nvSpPr>
        <p:spPr>
          <a:xfrm>
            <a:off x="633679" y="5940857"/>
            <a:ext cx="335767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"Former les talents dont les entreprises et le marché ont besoin"</a:t>
            </a:r>
            <a:endParaRPr lang="en-US" sz="1000" dirty="0"/>
          </a:p>
        </p:txBody>
      </p:sp>
      <p:sp>
        <p:nvSpPr>
          <p:cNvPr id="53" name="Text 42"/>
          <p:cNvSpPr txBox="1"/>
          <p:nvPr/>
        </p:nvSpPr>
        <p:spPr>
          <a:xfrm>
            <a:off x="4711903" y="1804111"/>
            <a:ext cx="157642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Formateurs Business</a:t>
            </a:r>
            <a:endParaRPr lang="en-US" sz="1000" dirty="0"/>
          </a:p>
        </p:txBody>
      </p:sp>
      <p:sp>
        <p:nvSpPr>
          <p:cNvPr id="54" name="Text 43"/>
          <p:cNvSpPr txBox="1"/>
          <p:nvPr/>
        </p:nvSpPr>
        <p:spPr>
          <a:xfrm>
            <a:off x="7571232" y="1809598"/>
            <a:ext cx="24231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3-4</a:t>
            </a:r>
            <a:endParaRPr lang="en-US" sz="800" dirty="0"/>
          </a:p>
        </p:txBody>
      </p:sp>
      <p:sp>
        <p:nvSpPr>
          <p:cNvPr id="55" name="Text 44"/>
          <p:cNvSpPr txBox="1"/>
          <p:nvPr/>
        </p:nvSpPr>
        <p:spPr>
          <a:xfrm>
            <a:off x="4483303" y="2198218"/>
            <a:ext cx="21534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Enseignement management &amp; tertiaire</a:t>
            </a:r>
            <a:endParaRPr lang="en-US" sz="900" dirty="0"/>
          </a:p>
        </p:txBody>
      </p:sp>
      <p:sp>
        <p:nvSpPr>
          <p:cNvPr id="56" name="Text 45"/>
          <p:cNvSpPr txBox="1"/>
          <p:nvPr/>
        </p:nvSpPr>
        <p:spPr>
          <a:xfrm>
            <a:off x="4559198" y="3442716"/>
            <a:ext cx="76626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153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Management</a:t>
            </a:r>
            <a:endParaRPr lang="en-US" sz="800" dirty="0"/>
          </a:p>
        </p:txBody>
      </p:sp>
      <p:sp>
        <p:nvSpPr>
          <p:cNvPr id="57" name="Text 46"/>
          <p:cNvSpPr txBox="1"/>
          <p:nvPr/>
        </p:nvSpPr>
        <p:spPr>
          <a:xfrm>
            <a:off x="5432450" y="3442716"/>
            <a:ext cx="74706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153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Comptabilité</a:t>
            </a:r>
            <a:endParaRPr lang="en-US" sz="800" dirty="0"/>
          </a:p>
        </p:txBody>
      </p:sp>
      <p:sp>
        <p:nvSpPr>
          <p:cNvPr id="58" name="Text 47"/>
          <p:cNvSpPr txBox="1"/>
          <p:nvPr/>
        </p:nvSpPr>
        <p:spPr>
          <a:xfrm>
            <a:off x="6286500" y="3442716"/>
            <a:ext cx="57607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153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Soft Skills</a:t>
            </a:r>
            <a:endParaRPr lang="en-US" sz="800" dirty="0"/>
          </a:p>
        </p:txBody>
      </p:sp>
      <p:sp>
        <p:nvSpPr>
          <p:cNvPr id="59" name="Text 48"/>
          <p:cNvSpPr txBox="1"/>
          <p:nvPr/>
        </p:nvSpPr>
        <p:spPr>
          <a:xfrm>
            <a:off x="8509406" y="1804111"/>
            <a:ext cx="175747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Formateurs Techniques</a:t>
            </a:r>
            <a:endParaRPr lang="en-US" sz="1000" dirty="0"/>
          </a:p>
        </p:txBody>
      </p:sp>
      <p:sp>
        <p:nvSpPr>
          <p:cNvPr id="60" name="Text 49"/>
          <p:cNvSpPr txBox="1"/>
          <p:nvPr/>
        </p:nvSpPr>
        <p:spPr>
          <a:xfrm>
            <a:off x="11331245" y="1809598"/>
            <a:ext cx="24231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4-5</a:t>
            </a:r>
            <a:endParaRPr lang="en-US" sz="800" dirty="0"/>
          </a:p>
        </p:txBody>
      </p:sp>
      <p:sp>
        <p:nvSpPr>
          <p:cNvPr id="61" name="Text 50"/>
          <p:cNvSpPr txBox="1"/>
          <p:nvPr/>
        </p:nvSpPr>
        <p:spPr>
          <a:xfrm>
            <a:off x="8242402" y="2198218"/>
            <a:ext cx="18772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Enseignement pratique &amp; métiers</a:t>
            </a:r>
            <a:endParaRPr lang="en-US" sz="900" dirty="0"/>
          </a:p>
        </p:txBody>
      </p:sp>
      <p:sp>
        <p:nvSpPr>
          <p:cNvPr id="62" name="Text 51"/>
          <p:cNvSpPr txBox="1"/>
          <p:nvPr/>
        </p:nvSpPr>
        <p:spPr>
          <a:xfrm>
            <a:off x="8318297" y="3442716"/>
            <a:ext cx="28072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153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BTP</a:t>
            </a:r>
            <a:endParaRPr lang="en-US" sz="800" dirty="0"/>
          </a:p>
        </p:txBody>
      </p:sp>
      <p:sp>
        <p:nvSpPr>
          <p:cNvPr id="63" name="Text 52"/>
          <p:cNvSpPr txBox="1"/>
          <p:nvPr/>
        </p:nvSpPr>
        <p:spPr>
          <a:xfrm>
            <a:off x="8705088" y="3442716"/>
            <a:ext cx="54681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153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Industrie</a:t>
            </a:r>
            <a:endParaRPr lang="en-US" sz="800" dirty="0"/>
          </a:p>
        </p:txBody>
      </p:sp>
      <p:sp>
        <p:nvSpPr>
          <p:cNvPr id="64" name="Text 53"/>
          <p:cNvSpPr txBox="1"/>
          <p:nvPr/>
        </p:nvSpPr>
        <p:spPr>
          <a:xfrm>
            <a:off x="9360713" y="3442716"/>
            <a:ext cx="54681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153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Agri-tech</a:t>
            </a:r>
            <a:endParaRPr lang="en-US" sz="800" dirty="0"/>
          </a:p>
        </p:txBody>
      </p:sp>
      <p:sp>
        <p:nvSpPr>
          <p:cNvPr id="65" name="Text 54"/>
          <p:cNvSpPr txBox="1"/>
          <p:nvPr/>
        </p:nvSpPr>
        <p:spPr>
          <a:xfrm>
            <a:off x="4492447" y="4126687"/>
            <a:ext cx="214792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NOS OFFRES DE FORMATION</a:t>
            </a:r>
            <a:endParaRPr lang="en-US" sz="1000" dirty="0"/>
          </a:p>
        </p:txBody>
      </p:sp>
      <p:sp>
        <p:nvSpPr>
          <p:cNvPr id="66" name="Text 55"/>
          <p:cNvSpPr txBox="1"/>
          <p:nvPr/>
        </p:nvSpPr>
        <p:spPr>
          <a:xfrm>
            <a:off x="4492447" y="4336999"/>
            <a:ext cx="2638958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Programmes adaptés aux besoins du marché et certifiants.</a:t>
            </a:r>
            <a:endParaRPr lang="en-US" sz="900" dirty="0"/>
          </a:p>
        </p:txBody>
      </p:sp>
      <p:pic>
        <p:nvPicPr>
          <p:cNvPr id="67" name="Image 9" descr="preencoded.png">    </p:cNvPr>
          <p:cNvPicPr>
            <a:picLocks noChangeAspect="1"/>
          </p:cNvPicPr>
          <p:nvPr/>
        </p:nvPicPr>
        <p:blipFill>
          <a:blip r:embed="rId10"/>
          <a:srcRect l="-760" r="-760" t="0" b="0"/>
          <a:stretch/>
        </p:blipFill>
        <p:spPr>
          <a:xfrm>
            <a:off x="7982712" y="4185209"/>
            <a:ext cx="152705" cy="171907"/>
          </a:xfrm>
          <a:prstGeom prst="rect">
            <a:avLst/>
          </a:prstGeom>
        </p:spPr>
      </p:pic>
      <p:sp>
        <p:nvSpPr>
          <p:cNvPr id="68" name="Text 56"/>
          <p:cNvSpPr txBox="1"/>
          <p:nvPr/>
        </p:nvSpPr>
        <p:spPr>
          <a:xfrm>
            <a:off x="7428586" y="4421124"/>
            <a:ext cx="13533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Formations Continues</a:t>
            </a:r>
            <a:endParaRPr lang="en-US" sz="900" dirty="0"/>
          </a:p>
        </p:txBody>
      </p:sp>
      <p:pic>
        <p:nvPicPr>
          <p:cNvPr id="69" name="Image 10" descr="preencoded.png">    </p:cNvPr>
          <p:cNvPicPr>
            <a:picLocks noChangeAspect="1"/>
          </p:cNvPicPr>
          <p:nvPr/>
        </p:nvPicPr>
        <p:blipFill>
          <a:blip r:embed="rId11"/>
          <a:srcRect l="-1773" r="-1773" t="0" b="0"/>
          <a:stretch/>
        </p:blipFill>
        <p:spPr>
          <a:xfrm>
            <a:off x="9475013" y="4185209"/>
            <a:ext cx="133502" cy="171907"/>
          </a:xfrm>
          <a:prstGeom prst="rect">
            <a:avLst/>
          </a:prstGeom>
        </p:spPr>
      </p:pic>
      <p:sp>
        <p:nvSpPr>
          <p:cNvPr id="70" name="Text 57"/>
          <p:cNvSpPr txBox="1"/>
          <p:nvPr/>
        </p:nvSpPr>
        <p:spPr>
          <a:xfrm>
            <a:off x="9156802" y="4421124"/>
            <a:ext cx="8577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Certifications</a:t>
            </a:r>
            <a:endParaRPr lang="en-US" sz="900" dirty="0"/>
          </a:p>
        </p:txBody>
      </p:sp>
      <p:pic>
        <p:nvPicPr>
          <p:cNvPr id="71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-842" b="-842"/>
          <a:stretch/>
        </p:blipFill>
        <p:spPr>
          <a:xfrm>
            <a:off x="10792663" y="4185209"/>
            <a:ext cx="190195" cy="171907"/>
          </a:xfrm>
          <a:prstGeom prst="rect">
            <a:avLst/>
          </a:prstGeom>
        </p:spPr>
      </p:pic>
      <p:sp>
        <p:nvSpPr>
          <p:cNvPr id="72" name="Text 58"/>
          <p:cNvSpPr txBox="1"/>
          <p:nvPr/>
        </p:nvSpPr>
        <p:spPr>
          <a:xfrm>
            <a:off x="10393985" y="4421124"/>
            <a:ext cx="10771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École des Métiers</a:t>
            </a:r>
            <a:endParaRPr lang="en-US" sz="900" dirty="0"/>
          </a:p>
        </p:txBody>
      </p:sp>
      <p:sp>
        <p:nvSpPr>
          <p:cNvPr id="73" name="Text 59"/>
          <p:cNvSpPr txBox="1"/>
          <p:nvPr/>
        </p:nvSpPr>
        <p:spPr>
          <a:xfrm>
            <a:off x="771754" y="4476902"/>
            <a:ext cx="173004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Chargé Relations Entreprises</a:t>
            </a:r>
            <a:endParaRPr lang="en-US" sz="900" dirty="0"/>
          </a:p>
        </p:txBody>
      </p:sp>
      <p:sp>
        <p:nvSpPr>
          <p:cNvPr id="74" name="Text 60"/>
          <p:cNvSpPr txBox="1"/>
          <p:nvPr/>
        </p:nvSpPr>
        <p:spPr>
          <a:xfrm>
            <a:off x="771754" y="4704588"/>
            <a:ext cx="162580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Coordinateur Administratif</a:t>
            </a:r>
            <a:endParaRPr lang="en-US" sz="900" dirty="0"/>
          </a:p>
        </p:txBody>
      </p:sp>
      <p:sp>
        <p:nvSpPr>
          <p:cNvPr id="75" name="Text 61"/>
          <p:cNvSpPr txBox="1"/>
          <p:nvPr/>
        </p:nvSpPr>
        <p:spPr>
          <a:xfrm>
            <a:off x="771754" y="4932274"/>
            <a:ext cx="167335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Agent Accueil &amp; Inscriptions</a:t>
            </a:r>
            <a:endParaRPr lang="en-US" sz="900" dirty="0"/>
          </a:p>
        </p:txBody>
      </p:sp>
      <p:sp>
        <p:nvSpPr>
          <p:cNvPr id="76" name="Text 62"/>
          <p:cNvSpPr txBox="1"/>
          <p:nvPr/>
        </p:nvSpPr>
        <p:spPr>
          <a:xfrm>
            <a:off x="771754" y="5159959"/>
            <a:ext cx="184434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Support Logistique &amp; Entretien</a:t>
            </a:r>
            <a:endParaRPr lang="en-US" sz="900" dirty="0"/>
          </a:p>
        </p:txBody>
      </p:sp>
      <p:sp>
        <p:nvSpPr>
          <p:cNvPr id="77" name="Text 63"/>
          <p:cNvSpPr txBox="1"/>
          <p:nvPr/>
        </p:nvSpPr>
        <p:spPr>
          <a:xfrm>
            <a:off x="4597603" y="2426818"/>
            <a:ext cx="214884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Formateur Permanent Management</a:t>
            </a:r>
            <a:endParaRPr lang="en-US" sz="900" dirty="0"/>
          </a:p>
        </p:txBody>
      </p:sp>
      <p:sp>
        <p:nvSpPr>
          <p:cNvPr id="78" name="Text 64"/>
          <p:cNvSpPr txBox="1"/>
          <p:nvPr/>
        </p:nvSpPr>
        <p:spPr>
          <a:xfrm>
            <a:off x="4597603" y="2654503"/>
            <a:ext cx="200619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Formateur Finance / Comptabilité</a:t>
            </a:r>
            <a:endParaRPr lang="en-US" sz="900" dirty="0"/>
          </a:p>
        </p:txBody>
      </p:sp>
      <p:sp>
        <p:nvSpPr>
          <p:cNvPr id="79" name="Text 65"/>
          <p:cNvSpPr txBox="1"/>
          <p:nvPr/>
        </p:nvSpPr>
        <p:spPr>
          <a:xfrm>
            <a:off x="4597603" y="2883103"/>
            <a:ext cx="169164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Formateur Marketing Digital</a:t>
            </a:r>
            <a:endParaRPr lang="en-US" sz="900" dirty="0"/>
          </a:p>
        </p:txBody>
      </p:sp>
      <p:sp>
        <p:nvSpPr>
          <p:cNvPr id="80" name="Text 66"/>
          <p:cNvSpPr txBox="1"/>
          <p:nvPr/>
        </p:nvSpPr>
        <p:spPr>
          <a:xfrm>
            <a:off x="4597603" y="3110789"/>
            <a:ext cx="168249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Formateur Leadership &amp; RH</a:t>
            </a:r>
            <a:endParaRPr lang="en-US" sz="900" dirty="0"/>
          </a:p>
        </p:txBody>
      </p:sp>
      <p:sp>
        <p:nvSpPr>
          <p:cNvPr id="81" name="Text 67"/>
          <p:cNvSpPr txBox="1"/>
          <p:nvPr/>
        </p:nvSpPr>
        <p:spPr>
          <a:xfrm>
            <a:off x="8356702" y="2426818"/>
            <a:ext cx="197784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Formateur Technique Mécanique</a:t>
            </a:r>
            <a:endParaRPr lang="en-US" sz="900" dirty="0"/>
          </a:p>
        </p:txBody>
      </p:sp>
      <p:sp>
        <p:nvSpPr>
          <p:cNvPr id="82" name="Text 68"/>
          <p:cNvSpPr txBox="1"/>
          <p:nvPr/>
        </p:nvSpPr>
        <p:spPr>
          <a:xfrm>
            <a:off x="8356702" y="2654503"/>
            <a:ext cx="190195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Formateur Technique Électricité</a:t>
            </a:r>
            <a:endParaRPr lang="en-US" sz="900" dirty="0"/>
          </a:p>
        </p:txBody>
      </p:sp>
      <p:sp>
        <p:nvSpPr>
          <p:cNvPr id="83" name="Text 69"/>
          <p:cNvSpPr txBox="1"/>
          <p:nvPr/>
        </p:nvSpPr>
        <p:spPr>
          <a:xfrm>
            <a:off x="8356702" y="2883103"/>
            <a:ext cx="153985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Formateur Soudure / BTP</a:t>
            </a:r>
            <a:endParaRPr lang="en-US" sz="900" dirty="0"/>
          </a:p>
        </p:txBody>
      </p:sp>
      <p:sp>
        <p:nvSpPr>
          <p:cNvPr id="84" name="Text 70"/>
          <p:cNvSpPr txBox="1"/>
          <p:nvPr/>
        </p:nvSpPr>
        <p:spPr>
          <a:xfrm>
            <a:off x="8356702" y="3110789"/>
            <a:ext cx="190195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Formateur Agriculture Moderne</a:t>
            </a:r>
            <a:endParaRPr lang="en-US" sz="900" dirty="0"/>
          </a:p>
        </p:txBody>
      </p:sp>
      <p:sp>
        <p:nvSpPr>
          <p:cNvPr id="85" name="Shape 71"/>
          <p:cNvSpPr/>
          <p:nvPr/>
        </p:nvSpPr>
        <p:spPr>
          <a:xfrm>
            <a:off x="457200" y="6505956"/>
            <a:ext cx="112772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86" name="Text 72"/>
          <p:cNvSpPr txBox="1"/>
          <p:nvPr/>
        </p:nvSpPr>
        <p:spPr>
          <a:xfrm>
            <a:off x="1540764" y="6562649"/>
            <a:ext cx="922995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Note : L'Academy peut également faire appel à des formateurs vacataires externes selon les besoins spécifiques des entreprises.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05649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0564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94492" y="105156"/>
            <a:ext cx="1591056" cy="924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8B15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09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8B1538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34110"/>
            <a:ext cx="1127729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629107"/>
            <a:ext cx="75895" cy="304495"/>
          </a:xfrm>
          <a:prstGeom prst="roundRect">
            <a:avLst>
              <a:gd name="adj" fmla="val 301206"/>
            </a:avLst>
          </a:prstGeom>
          <a:solidFill>
            <a:srgbClr val="8B153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599846"/>
            <a:ext cx="4529938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ORGANIGRAMME CONSOLIDÉ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009498"/>
            <a:ext cx="41577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Structure Hiérarchique &amp; Fonctionnelle du Groupe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86246" y="2709367"/>
            <a:ext cx="19202" cy="228600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11" name="Shape 9"/>
          <p:cNvSpPr/>
          <p:nvPr/>
        </p:nvSpPr>
        <p:spPr>
          <a:xfrm>
            <a:off x="6086246" y="4274820"/>
            <a:ext cx="19202" cy="304495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12" name="Shape 10"/>
          <p:cNvSpPr/>
          <p:nvPr/>
        </p:nvSpPr>
        <p:spPr>
          <a:xfrm>
            <a:off x="1869034" y="4340657"/>
            <a:ext cx="19202" cy="15270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3" name="Shape 11"/>
          <p:cNvSpPr/>
          <p:nvPr/>
        </p:nvSpPr>
        <p:spPr>
          <a:xfrm>
            <a:off x="4688129" y="4340657"/>
            <a:ext cx="19202" cy="15270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4" name="Shape 12"/>
          <p:cNvSpPr/>
          <p:nvPr/>
        </p:nvSpPr>
        <p:spPr>
          <a:xfrm>
            <a:off x="7508138" y="4340657"/>
            <a:ext cx="19202" cy="15270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5" name="Shape 13"/>
          <p:cNvSpPr/>
          <p:nvPr/>
        </p:nvSpPr>
        <p:spPr>
          <a:xfrm>
            <a:off x="10327234" y="4340657"/>
            <a:ext cx="19202" cy="15270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6" name="Shape 14"/>
          <p:cNvSpPr/>
          <p:nvPr/>
        </p:nvSpPr>
        <p:spPr>
          <a:xfrm>
            <a:off x="469087" y="4683557"/>
            <a:ext cx="2704795" cy="2152498"/>
          </a:xfrm>
          <a:prstGeom prst="roundRect">
            <a:avLst>
              <a:gd name="adj" fmla="val 15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9087" y="4683557"/>
            <a:ext cx="2704795" cy="38405"/>
          </a:xfrm>
          <a:prstGeom prst="rect">
            <a:avLst/>
          </a:prstGeom>
          <a:solidFill>
            <a:srgbClr val="8B1538"/>
          </a:solidFill>
          <a:ln/>
        </p:spPr>
      </p:sp>
      <p:sp>
        <p:nvSpPr>
          <p:cNvPr id="18" name="Shape 16"/>
          <p:cNvSpPr/>
          <p:nvPr/>
        </p:nvSpPr>
        <p:spPr>
          <a:xfrm>
            <a:off x="620878" y="5715914"/>
            <a:ext cx="2409444" cy="457200"/>
          </a:xfrm>
          <a:prstGeom prst="roundRect">
            <a:avLst>
              <a:gd name="adj" fmla="val 16667"/>
            </a:avLst>
          </a:prstGeom>
          <a:solidFill>
            <a:srgbClr val="F9FAFB"/>
          </a:solidFill>
          <a:ln/>
        </p:spPr>
      </p:sp>
      <p:sp>
        <p:nvSpPr>
          <p:cNvPr id="19" name="Shape 17"/>
          <p:cNvSpPr/>
          <p:nvPr/>
        </p:nvSpPr>
        <p:spPr>
          <a:xfrm>
            <a:off x="620878" y="6249924"/>
            <a:ext cx="2409444" cy="247802"/>
          </a:xfrm>
          <a:prstGeom prst="roundRect">
            <a:avLst>
              <a:gd name="adj" fmla="val 56770"/>
            </a:avLst>
          </a:prstGeom>
          <a:solidFill>
            <a:srgbClr val="FEF2F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59636" y="4687214"/>
            <a:ext cx="323698" cy="381305"/>
          </a:xfrm>
          <a:prstGeom prst="roundRect">
            <a:avLst>
              <a:gd name="adj" fmla="val 282486"/>
            </a:avLst>
          </a:prstGeom>
          <a:solidFill>
            <a:srgbClr val="FEF2F2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735531" y="4785055"/>
            <a:ext cx="171907" cy="171907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1500530" y="5154473"/>
            <a:ext cx="74797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RIC SARL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165860" y="5383073"/>
            <a:ext cx="14292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CONSEIL &amp; AUDIT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1361542" y="5782666"/>
            <a:ext cx="10104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 Départements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822046" y="5935370"/>
            <a:ext cx="20866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Audit, Formation, Gestion, Études, RH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1527048" y="6287414"/>
            <a:ext cx="6766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153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37 Experts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3326587" y="4683557"/>
            <a:ext cx="2704795" cy="2152498"/>
          </a:xfrm>
          <a:prstGeom prst="roundRect">
            <a:avLst>
              <a:gd name="adj" fmla="val 15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3326587" y="4683557"/>
            <a:ext cx="2704795" cy="38405"/>
          </a:xfrm>
          <a:prstGeom prst="rect">
            <a:avLst/>
          </a:prstGeom>
          <a:solidFill>
            <a:srgbClr val="8B1538"/>
          </a:solidFill>
          <a:ln/>
        </p:spPr>
      </p:sp>
      <p:sp>
        <p:nvSpPr>
          <p:cNvPr id="29" name="Shape 26"/>
          <p:cNvSpPr/>
          <p:nvPr/>
        </p:nvSpPr>
        <p:spPr>
          <a:xfrm>
            <a:off x="4536338" y="4873752"/>
            <a:ext cx="286207" cy="381305"/>
          </a:xfrm>
          <a:prstGeom prst="roundRect">
            <a:avLst>
              <a:gd name="adj" fmla="val 319489"/>
            </a:avLst>
          </a:prstGeom>
          <a:solidFill>
            <a:srgbClr val="FEF2F2"/>
          </a:solidFill>
          <a:ln/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rcRect l="-1773" r="-1773" t="0" b="0"/>
          <a:stretch/>
        </p:blipFill>
        <p:spPr>
          <a:xfrm>
            <a:off x="4612234" y="4971593"/>
            <a:ext cx="133502" cy="171907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4279392" y="5341010"/>
            <a:ext cx="90068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RISHOM BF</a:t>
            </a:r>
            <a:endParaRPr lang="en-US" sz="1000" dirty="0"/>
          </a:p>
        </p:txBody>
      </p:sp>
      <p:sp>
        <p:nvSpPr>
          <p:cNvPr id="32" name="Text 28"/>
          <p:cNvSpPr txBox="1"/>
          <p:nvPr/>
        </p:nvSpPr>
        <p:spPr>
          <a:xfrm>
            <a:off x="3738067" y="5569610"/>
            <a:ext cx="20007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COMMERCE &amp; INDUSTRIE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3478378" y="5902452"/>
            <a:ext cx="2400300" cy="457200"/>
          </a:xfrm>
          <a:prstGeom prst="roundRect">
            <a:avLst>
              <a:gd name="adj" fmla="val 16667"/>
            </a:avLst>
          </a:prstGeom>
          <a:solidFill>
            <a:srgbClr val="F9FAFB"/>
          </a:solidFill>
          <a:ln/>
        </p:spPr>
      </p:sp>
      <p:sp>
        <p:nvSpPr>
          <p:cNvPr id="34" name="Text 30"/>
          <p:cNvSpPr txBox="1"/>
          <p:nvPr/>
        </p:nvSpPr>
        <p:spPr>
          <a:xfrm>
            <a:off x="4215384" y="5969203"/>
            <a:ext cx="10195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 Business Units</a:t>
            </a:r>
            <a:endParaRPr lang="en-US" sz="900" dirty="0"/>
          </a:p>
        </p:txBody>
      </p:sp>
      <p:sp>
        <p:nvSpPr>
          <p:cNvPr id="35" name="Text 31"/>
          <p:cNvSpPr txBox="1"/>
          <p:nvPr/>
        </p:nvSpPr>
        <p:spPr>
          <a:xfrm>
            <a:off x="3758184" y="6121908"/>
            <a:ext cx="19339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Véhicules, BTP, Mines, Agri, Import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3478378" y="6435547"/>
            <a:ext cx="2400300" cy="247802"/>
          </a:xfrm>
          <a:prstGeom prst="roundRect">
            <a:avLst>
              <a:gd name="adj" fmla="val 56770"/>
            </a:avLst>
          </a:prstGeom>
          <a:solidFill>
            <a:srgbClr val="FEF2F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4133088" y="6473952"/>
            <a:ext cx="11814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153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40 Cadres + Terrain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6184087" y="4683557"/>
            <a:ext cx="2704795" cy="2152498"/>
          </a:xfrm>
          <a:prstGeom prst="roundRect">
            <a:avLst>
              <a:gd name="adj" fmla="val 15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8000"/>
              </a:srgbClr>
            </a:outerShdw>
          </a:effectLst>
        </p:spPr>
      </p:sp>
      <p:sp>
        <p:nvSpPr>
          <p:cNvPr id="39" name="Shape 35"/>
          <p:cNvSpPr/>
          <p:nvPr/>
        </p:nvSpPr>
        <p:spPr>
          <a:xfrm>
            <a:off x="6184087" y="4683557"/>
            <a:ext cx="2704795" cy="38405"/>
          </a:xfrm>
          <a:prstGeom prst="rect">
            <a:avLst/>
          </a:prstGeom>
          <a:solidFill>
            <a:srgbClr val="8B1538"/>
          </a:solidFill>
          <a:ln/>
        </p:spPr>
      </p:sp>
      <p:sp>
        <p:nvSpPr>
          <p:cNvPr id="40" name="Shape 36"/>
          <p:cNvSpPr/>
          <p:nvPr/>
        </p:nvSpPr>
        <p:spPr>
          <a:xfrm>
            <a:off x="7374636" y="4873752"/>
            <a:ext cx="323698" cy="381305"/>
          </a:xfrm>
          <a:prstGeom prst="roundRect">
            <a:avLst>
              <a:gd name="adj" fmla="val 282486"/>
            </a:avLst>
          </a:prstGeom>
          <a:solidFill>
            <a:srgbClr val="FEF2F2"/>
          </a:solidFill>
          <a:ln/>
        </p:spPr>
      </p:sp>
      <p:pic>
        <p:nvPicPr>
          <p:cNvPr id="4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450531" y="4971593"/>
            <a:ext cx="171907" cy="171907"/>
          </a:xfrm>
          <a:prstGeom prst="rect">
            <a:avLst/>
          </a:prstGeom>
        </p:spPr>
      </p:pic>
      <p:sp>
        <p:nvSpPr>
          <p:cNvPr id="42" name="Text 37"/>
          <p:cNvSpPr txBox="1"/>
          <p:nvPr/>
        </p:nvSpPr>
        <p:spPr>
          <a:xfrm>
            <a:off x="7356348" y="5341010"/>
            <a:ext cx="46268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REV'I</a:t>
            </a:r>
            <a:endParaRPr lang="en-US" sz="1000" dirty="0"/>
          </a:p>
        </p:txBody>
      </p:sp>
      <p:sp>
        <p:nvSpPr>
          <p:cNvPr id="43" name="Text 38"/>
          <p:cNvSpPr txBox="1"/>
          <p:nvPr/>
        </p:nvSpPr>
        <p:spPr>
          <a:xfrm>
            <a:off x="6952183" y="5569610"/>
            <a:ext cx="128656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AGROBUSINESS</a:t>
            </a:r>
            <a:endParaRPr lang="en-US" sz="1200" dirty="0"/>
          </a:p>
        </p:txBody>
      </p:sp>
      <p:sp>
        <p:nvSpPr>
          <p:cNvPr id="44" name="Shape 39"/>
          <p:cNvSpPr/>
          <p:nvPr/>
        </p:nvSpPr>
        <p:spPr>
          <a:xfrm>
            <a:off x="6335878" y="5902452"/>
            <a:ext cx="2400300" cy="457200"/>
          </a:xfrm>
          <a:prstGeom prst="roundRect">
            <a:avLst>
              <a:gd name="adj" fmla="val 16667"/>
            </a:avLst>
          </a:prstGeom>
          <a:solidFill>
            <a:srgbClr val="F9FAFB"/>
          </a:solidFill>
          <a:ln/>
        </p:spPr>
      </p:sp>
      <p:sp>
        <p:nvSpPr>
          <p:cNvPr id="45" name="Text 40"/>
          <p:cNvSpPr txBox="1"/>
          <p:nvPr/>
        </p:nvSpPr>
        <p:spPr>
          <a:xfrm>
            <a:off x="7138721" y="5969203"/>
            <a:ext cx="8860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 Unités Prod.</a:t>
            </a:r>
            <a:endParaRPr lang="en-US" sz="900" dirty="0"/>
          </a:p>
        </p:txBody>
      </p:sp>
      <p:sp>
        <p:nvSpPr>
          <p:cNvPr id="46" name="Text 41"/>
          <p:cNvSpPr txBox="1"/>
          <p:nvPr/>
        </p:nvSpPr>
        <p:spPr>
          <a:xfrm>
            <a:off x="6705295" y="6121908"/>
            <a:ext cx="17529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Agri, Pisciculture, Aliments, Eau</a:t>
            </a:r>
            <a:endParaRPr lang="en-US" sz="900" dirty="0"/>
          </a:p>
        </p:txBody>
      </p:sp>
      <p:sp>
        <p:nvSpPr>
          <p:cNvPr id="47" name="Shape 42"/>
          <p:cNvSpPr/>
          <p:nvPr/>
        </p:nvSpPr>
        <p:spPr>
          <a:xfrm>
            <a:off x="6335878" y="6435547"/>
            <a:ext cx="2400300" cy="247802"/>
          </a:xfrm>
          <a:prstGeom prst="roundRect">
            <a:avLst>
              <a:gd name="adj" fmla="val 56770"/>
            </a:avLst>
          </a:prstGeom>
          <a:solidFill>
            <a:srgbClr val="FEF2F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8" name="Text 43"/>
          <p:cNvSpPr txBox="1"/>
          <p:nvPr/>
        </p:nvSpPr>
        <p:spPr>
          <a:xfrm>
            <a:off x="7202729" y="6473952"/>
            <a:ext cx="762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153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20 - 23 Pers.</a:t>
            </a:r>
            <a:endParaRPr lang="en-US" sz="900" dirty="0"/>
          </a:p>
        </p:txBody>
      </p:sp>
      <p:sp>
        <p:nvSpPr>
          <p:cNvPr id="49" name="Shape 44"/>
          <p:cNvSpPr/>
          <p:nvPr/>
        </p:nvSpPr>
        <p:spPr>
          <a:xfrm>
            <a:off x="9041587" y="4683557"/>
            <a:ext cx="2714854" cy="2152498"/>
          </a:xfrm>
          <a:prstGeom prst="roundRect">
            <a:avLst>
              <a:gd name="adj" fmla="val 15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8000"/>
              </a:srgbClr>
            </a:outerShdw>
          </a:effectLst>
        </p:spPr>
      </p:sp>
      <p:sp>
        <p:nvSpPr>
          <p:cNvPr id="50" name="Shape 45"/>
          <p:cNvSpPr/>
          <p:nvPr/>
        </p:nvSpPr>
        <p:spPr>
          <a:xfrm>
            <a:off x="9041587" y="4683557"/>
            <a:ext cx="2714854" cy="38405"/>
          </a:xfrm>
          <a:prstGeom prst="rect">
            <a:avLst/>
          </a:prstGeom>
          <a:solidFill>
            <a:srgbClr val="8B1538"/>
          </a:solidFill>
          <a:ln/>
        </p:spPr>
      </p:sp>
      <p:sp>
        <p:nvSpPr>
          <p:cNvPr id="51" name="Shape 46"/>
          <p:cNvSpPr/>
          <p:nvPr/>
        </p:nvSpPr>
        <p:spPr>
          <a:xfrm>
            <a:off x="10232136" y="4873752"/>
            <a:ext cx="323698" cy="381305"/>
          </a:xfrm>
          <a:prstGeom prst="roundRect">
            <a:avLst>
              <a:gd name="adj" fmla="val 282486"/>
            </a:avLst>
          </a:prstGeom>
          <a:solidFill>
            <a:srgbClr val="FEF2F2"/>
          </a:solidFill>
          <a:ln/>
        </p:spPr>
      </p:sp>
      <p:pic>
        <p:nvPicPr>
          <p:cNvPr id="5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308031" y="4971593"/>
            <a:ext cx="171907" cy="171907"/>
          </a:xfrm>
          <a:prstGeom prst="rect">
            <a:avLst/>
          </a:prstGeom>
        </p:spPr>
      </p:pic>
      <p:sp>
        <p:nvSpPr>
          <p:cNvPr id="53" name="Text 47"/>
          <p:cNvSpPr txBox="1"/>
          <p:nvPr/>
        </p:nvSpPr>
        <p:spPr>
          <a:xfrm>
            <a:off x="9731045" y="5341010"/>
            <a:ext cx="143377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RISHOM ACADEMY</a:t>
            </a:r>
            <a:endParaRPr lang="en-US" sz="1000" dirty="0"/>
          </a:p>
        </p:txBody>
      </p:sp>
      <p:sp>
        <p:nvSpPr>
          <p:cNvPr id="54" name="Text 48"/>
          <p:cNvSpPr txBox="1"/>
          <p:nvPr/>
        </p:nvSpPr>
        <p:spPr>
          <a:xfrm>
            <a:off x="9934042" y="5569610"/>
            <a:ext cx="103875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FORMATION</a:t>
            </a:r>
            <a:endParaRPr lang="en-US" sz="1200" dirty="0"/>
          </a:p>
        </p:txBody>
      </p:sp>
      <p:sp>
        <p:nvSpPr>
          <p:cNvPr id="55" name="Shape 49"/>
          <p:cNvSpPr/>
          <p:nvPr/>
        </p:nvSpPr>
        <p:spPr>
          <a:xfrm>
            <a:off x="9193378" y="5902452"/>
            <a:ext cx="2409444" cy="457200"/>
          </a:xfrm>
          <a:prstGeom prst="roundRect">
            <a:avLst>
              <a:gd name="adj" fmla="val 16667"/>
            </a:avLst>
          </a:prstGeom>
          <a:solidFill>
            <a:srgbClr val="F9FAFB"/>
          </a:solidFill>
          <a:ln/>
        </p:spPr>
      </p:sp>
      <p:sp>
        <p:nvSpPr>
          <p:cNvPr id="56" name="Text 50"/>
          <p:cNvSpPr txBox="1"/>
          <p:nvPr/>
        </p:nvSpPr>
        <p:spPr>
          <a:xfrm>
            <a:off x="10195560" y="5969203"/>
            <a:ext cx="4864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 Pôles</a:t>
            </a:r>
            <a:endParaRPr lang="en-US" sz="900" dirty="0"/>
          </a:p>
        </p:txBody>
      </p:sp>
      <p:sp>
        <p:nvSpPr>
          <p:cNvPr id="57" name="Text 51"/>
          <p:cNvSpPr txBox="1"/>
          <p:nvPr/>
        </p:nvSpPr>
        <p:spPr>
          <a:xfrm>
            <a:off x="9614916" y="6121908"/>
            <a:ext cx="16486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Continue &amp; École des Métiers</a:t>
            </a:r>
            <a:endParaRPr lang="en-US" sz="900" dirty="0"/>
          </a:p>
        </p:txBody>
      </p:sp>
      <p:sp>
        <p:nvSpPr>
          <p:cNvPr id="58" name="Shape 52"/>
          <p:cNvSpPr/>
          <p:nvPr/>
        </p:nvSpPr>
        <p:spPr>
          <a:xfrm>
            <a:off x="9193378" y="6435547"/>
            <a:ext cx="2409444" cy="247802"/>
          </a:xfrm>
          <a:prstGeom prst="roundRect">
            <a:avLst>
              <a:gd name="adj" fmla="val 56770"/>
            </a:avLst>
          </a:prstGeom>
          <a:solidFill>
            <a:srgbClr val="FEF2F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59" name="Text 53"/>
          <p:cNvSpPr txBox="1"/>
          <p:nvPr/>
        </p:nvSpPr>
        <p:spPr>
          <a:xfrm>
            <a:off x="10060229" y="6473952"/>
            <a:ext cx="762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153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15 - 18 Pers.</a:t>
            </a:r>
            <a:endParaRPr lang="en-US" sz="900" dirty="0"/>
          </a:p>
        </p:txBody>
      </p:sp>
      <p:sp>
        <p:nvSpPr>
          <p:cNvPr id="60" name="Shape 54"/>
          <p:cNvSpPr/>
          <p:nvPr/>
        </p:nvSpPr>
        <p:spPr>
          <a:xfrm>
            <a:off x="457200" y="6825082"/>
            <a:ext cx="11277295" cy="323698"/>
          </a:xfrm>
          <a:prstGeom prst="roundRect">
            <a:avLst>
              <a:gd name="adj" fmla="val 33234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19049" y="6930238"/>
            <a:ext cx="114300" cy="114300"/>
          </a:xfrm>
          <a:prstGeom prst="rect">
            <a:avLst/>
          </a:prstGeom>
        </p:spPr>
      </p:pic>
      <p:sp>
        <p:nvSpPr>
          <p:cNvPr id="62" name="Text 55"/>
          <p:cNvSpPr txBox="1"/>
          <p:nvPr/>
        </p:nvSpPr>
        <p:spPr>
          <a:xfrm>
            <a:off x="809244" y="6901891"/>
            <a:ext cx="54388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Les 4 entités partagent une gouvernance commune mais disposent d'une autonomie opérationnelle.</a:t>
            </a:r>
            <a:endParaRPr lang="en-US" sz="900" dirty="0"/>
          </a:p>
        </p:txBody>
      </p:sp>
      <p:sp>
        <p:nvSpPr>
          <p:cNvPr id="63" name="Text 56"/>
          <p:cNvSpPr txBox="1"/>
          <p:nvPr/>
        </p:nvSpPr>
        <p:spPr>
          <a:xfrm>
            <a:off x="9368942" y="6901891"/>
            <a:ext cx="22960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Groupe : ~187-213 Collaborateurs</a:t>
            </a:r>
            <a:endParaRPr lang="en-US" sz="900" dirty="0"/>
          </a:p>
        </p:txBody>
      </p:sp>
      <p:sp>
        <p:nvSpPr>
          <p:cNvPr id="64" name="Shape 57"/>
          <p:cNvSpPr/>
          <p:nvPr/>
        </p:nvSpPr>
        <p:spPr>
          <a:xfrm>
            <a:off x="6096305" y="2937967"/>
            <a:ext cx="10972800" cy="19202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65" name="Shape 58"/>
          <p:cNvSpPr/>
          <p:nvPr/>
        </p:nvSpPr>
        <p:spPr>
          <a:xfrm>
            <a:off x="6096305" y="2937967"/>
            <a:ext cx="19202" cy="15270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66" name="Shape 59"/>
          <p:cNvSpPr/>
          <p:nvPr/>
        </p:nvSpPr>
        <p:spPr>
          <a:xfrm>
            <a:off x="6096305" y="2937967"/>
            <a:ext cx="19202" cy="15270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67" name="Shape 60"/>
          <p:cNvSpPr/>
          <p:nvPr/>
        </p:nvSpPr>
        <p:spPr>
          <a:xfrm>
            <a:off x="609905" y="2937967"/>
            <a:ext cx="5372100" cy="1266444"/>
          </a:xfrm>
          <a:prstGeom prst="roundRect">
            <a:avLst>
              <a:gd name="adj" fmla="val 4343"/>
            </a:avLst>
          </a:prstGeom>
          <a:solidFill>
            <a:srgbClr val="FFFFFF"/>
          </a:solidFill>
          <a:ln w="38100">
            <a:solidFill>
              <a:srgbClr val="718096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sp>
        <p:nvSpPr>
          <p:cNvPr id="68" name="Shape 61"/>
          <p:cNvSpPr/>
          <p:nvPr/>
        </p:nvSpPr>
        <p:spPr>
          <a:xfrm>
            <a:off x="619049" y="2966314"/>
            <a:ext cx="5352898" cy="314554"/>
          </a:xfrm>
          <a:prstGeom prst="roundRect">
            <a:avLst>
              <a:gd name="adj" fmla="val 52854"/>
            </a:avLst>
          </a:prstGeom>
          <a:solidFill>
            <a:srgbClr val="718096"/>
          </a:solidFill>
          <a:ln/>
        </p:spPr>
      </p:sp>
      <p:pic>
        <p:nvPicPr>
          <p:cNvPr id="69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554" b="-1554"/>
          <a:stretch/>
        </p:blipFill>
        <p:spPr>
          <a:xfrm>
            <a:off x="714146" y="3048610"/>
            <a:ext cx="161849" cy="133502"/>
          </a:xfrm>
          <a:prstGeom prst="rect">
            <a:avLst/>
          </a:prstGeom>
        </p:spPr>
      </p:pic>
      <p:sp>
        <p:nvSpPr>
          <p:cNvPr id="70" name="Text 62"/>
          <p:cNvSpPr txBox="1"/>
          <p:nvPr/>
        </p:nvSpPr>
        <p:spPr>
          <a:xfrm>
            <a:off x="952805" y="3023006"/>
            <a:ext cx="249814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FONCTIONS SUPPORT (MUTUALISÉES)</a:t>
            </a:r>
            <a:endParaRPr lang="en-US" sz="1000" dirty="0"/>
          </a:p>
        </p:txBody>
      </p:sp>
      <p:sp>
        <p:nvSpPr>
          <p:cNvPr id="71" name="Shape 63"/>
          <p:cNvSpPr/>
          <p:nvPr/>
        </p:nvSpPr>
        <p:spPr>
          <a:xfrm>
            <a:off x="5180076" y="3023006"/>
            <a:ext cx="705002" cy="200254"/>
          </a:xfrm>
          <a:prstGeom prst="roundRect">
            <a:avLst>
              <a:gd name="adj" fmla="val 86975"/>
            </a:avLst>
          </a:prstGeom>
          <a:solidFill>
            <a:srgbClr val="FFFFFF"/>
          </a:solidFill>
          <a:ln/>
        </p:spPr>
      </p:sp>
      <p:sp>
        <p:nvSpPr>
          <p:cNvPr id="72" name="Text 64"/>
          <p:cNvSpPr txBox="1"/>
          <p:nvPr/>
        </p:nvSpPr>
        <p:spPr>
          <a:xfrm>
            <a:off x="5237683" y="3023006"/>
            <a:ext cx="68854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 POSTES</a:t>
            </a:r>
            <a:endParaRPr lang="en-US" sz="1000" dirty="0"/>
          </a:p>
        </p:txBody>
      </p:sp>
      <p:sp>
        <p:nvSpPr>
          <p:cNvPr id="73" name="Shape 65"/>
          <p:cNvSpPr/>
          <p:nvPr/>
        </p:nvSpPr>
        <p:spPr>
          <a:xfrm>
            <a:off x="714146" y="3370478"/>
            <a:ext cx="1238098" cy="286207"/>
          </a:xfrm>
          <a:prstGeom prst="roundRect">
            <a:avLst>
              <a:gd name="adj" fmla="val 42599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pic>
        <p:nvPicPr>
          <p:cNvPr id="74" name="Image 6" descr="preencoded.png">    </p:cNvPr>
          <p:cNvPicPr>
            <a:picLocks noChangeAspect="1"/>
          </p:cNvPicPr>
          <p:nvPr/>
        </p:nvPicPr>
        <p:blipFill>
          <a:blip r:embed="rId7"/>
          <a:srcRect l="-133" r="-133" t="0" b="0"/>
          <a:stretch/>
        </p:blipFill>
        <p:spPr>
          <a:xfrm>
            <a:off x="932688" y="3450946"/>
            <a:ext cx="85954" cy="114300"/>
          </a:xfrm>
          <a:prstGeom prst="rect">
            <a:avLst/>
          </a:prstGeom>
        </p:spPr>
      </p:pic>
      <p:sp>
        <p:nvSpPr>
          <p:cNvPr id="75" name="Text 66"/>
          <p:cNvSpPr txBox="1"/>
          <p:nvPr/>
        </p:nvSpPr>
        <p:spPr>
          <a:xfrm>
            <a:off x="1057046" y="3427171"/>
            <a:ext cx="762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Finance/CFO</a:t>
            </a:r>
            <a:endParaRPr lang="en-US" sz="900" dirty="0"/>
          </a:p>
        </p:txBody>
      </p:sp>
      <p:sp>
        <p:nvSpPr>
          <p:cNvPr id="76" name="Shape 67"/>
          <p:cNvSpPr/>
          <p:nvPr/>
        </p:nvSpPr>
        <p:spPr>
          <a:xfrm>
            <a:off x="2024482" y="3370478"/>
            <a:ext cx="1238098" cy="286207"/>
          </a:xfrm>
          <a:prstGeom prst="roundRect">
            <a:avLst>
              <a:gd name="adj" fmla="val 42599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pic>
        <p:nvPicPr>
          <p:cNvPr id="77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80" b="-80"/>
          <a:stretch/>
        </p:blipFill>
        <p:spPr>
          <a:xfrm>
            <a:off x="2256739" y="3450946"/>
            <a:ext cx="142646" cy="114300"/>
          </a:xfrm>
          <a:prstGeom prst="rect">
            <a:avLst/>
          </a:prstGeom>
        </p:spPr>
      </p:pic>
      <p:sp>
        <p:nvSpPr>
          <p:cNvPr id="78" name="Text 68"/>
          <p:cNvSpPr txBox="1"/>
          <p:nvPr/>
        </p:nvSpPr>
        <p:spPr>
          <a:xfrm>
            <a:off x="2437790" y="3427171"/>
            <a:ext cx="6766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RH Groupe</a:t>
            </a:r>
            <a:endParaRPr lang="en-US" sz="900" dirty="0"/>
          </a:p>
        </p:txBody>
      </p:sp>
      <p:sp>
        <p:nvSpPr>
          <p:cNvPr id="79" name="Shape 69"/>
          <p:cNvSpPr/>
          <p:nvPr/>
        </p:nvSpPr>
        <p:spPr>
          <a:xfrm>
            <a:off x="3333902" y="3370478"/>
            <a:ext cx="1238098" cy="286207"/>
          </a:xfrm>
          <a:prstGeom prst="roundRect">
            <a:avLst>
              <a:gd name="adj" fmla="val 42599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pic>
        <p:nvPicPr>
          <p:cNvPr id="80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80" b="-80"/>
          <a:stretch/>
        </p:blipFill>
        <p:spPr>
          <a:xfrm>
            <a:off x="3620110" y="3450946"/>
            <a:ext cx="142646" cy="114300"/>
          </a:xfrm>
          <a:prstGeom prst="rect">
            <a:avLst/>
          </a:prstGeom>
        </p:spPr>
      </p:pic>
      <p:sp>
        <p:nvSpPr>
          <p:cNvPr id="81" name="Text 70"/>
          <p:cNvSpPr txBox="1"/>
          <p:nvPr/>
        </p:nvSpPr>
        <p:spPr>
          <a:xfrm>
            <a:off x="3801161" y="3427171"/>
            <a:ext cx="571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Juridique</a:t>
            </a:r>
            <a:endParaRPr lang="en-US" sz="900" dirty="0"/>
          </a:p>
        </p:txBody>
      </p:sp>
      <p:sp>
        <p:nvSpPr>
          <p:cNvPr id="82" name="Shape 71"/>
          <p:cNvSpPr/>
          <p:nvPr/>
        </p:nvSpPr>
        <p:spPr>
          <a:xfrm>
            <a:off x="4643323" y="3370478"/>
            <a:ext cx="1238098" cy="286207"/>
          </a:xfrm>
          <a:prstGeom prst="roundRect">
            <a:avLst>
              <a:gd name="adj" fmla="val 42599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pic>
        <p:nvPicPr>
          <p:cNvPr id="83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80" b="-80"/>
          <a:stretch/>
        </p:blipFill>
        <p:spPr>
          <a:xfrm>
            <a:off x="4975250" y="3450946"/>
            <a:ext cx="142646" cy="114300"/>
          </a:xfrm>
          <a:prstGeom prst="rect">
            <a:avLst/>
          </a:prstGeom>
        </p:spPr>
      </p:pic>
      <p:sp>
        <p:nvSpPr>
          <p:cNvPr id="84" name="Text 72"/>
          <p:cNvSpPr txBox="1"/>
          <p:nvPr/>
        </p:nvSpPr>
        <p:spPr>
          <a:xfrm>
            <a:off x="5156302" y="3427171"/>
            <a:ext cx="4764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 / CIO</a:t>
            </a:r>
            <a:endParaRPr lang="en-US" sz="900" dirty="0"/>
          </a:p>
        </p:txBody>
      </p:sp>
      <p:sp>
        <p:nvSpPr>
          <p:cNvPr id="85" name="Shape 73"/>
          <p:cNvSpPr/>
          <p:nvPr/>
        </p:nvSpPr>
        <p:spPr>
          <a:xfrm>
            <a:off x="714146" y="3731666"/>
            <a:ext cx="1238098" cy="286207"/>
          </a:xfrm>
          <a:prstGeom prst="roundRect">
            <a:avLst>
              <a:gd name="adj" fmla="val 42599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pic>
        <p:nvPicPr>
          <p:cNvPr id="86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831190" y="3813048"/>
            <a:ext cx="114300" cy="114300"/>
          </a:xfrm>
          <a:prstGeom prst="rect">
            <a:avLst/>
          </a:prstGeom>
        </p:spPr>
      </p:pic>
      <p:sp>
        <p:nvSpPr>
          <p:cNvPr id="87" name="Text 74"/>
          <p:cNvSpPr txBox="1"/>
          <p:nvPr/>
        </p:nvSpPr>
        <p:spPr>
          <a:xfrm>
            <a:off x="982980" y="3789274"/>
            <a:ext cx="9436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Communication</a:t>
            </a:r>
            <a:endParaRPr lang="en-US" sz="900" dirty="0"/>
          </a:p>
        </p:txBody>
      </p:sp>
      <p:sp>
        <p:nvSpPr>
          <p:cNvPr id="88" name="Shape 75"/>
          <p:cNvSpPr/>
          <p:nvPr/>
        </p:nvSpPr>
        <p:spPr>
          <a:xfrm>
            <a:off x="2024482" y="3731666"/>
            <a:ext cx="1238098" cy="286207"/>
          </a:xfrm>
          <a:prstGeom prst="roundRect">
            <a:avLst>
              <a:gd name="adj" fmla="val 42599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pic>
        <p:nvPicPr>
          <p:cNvPr id="89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2214677" y="3813048"/>
            <a:ext cx="114300" cy="114300"/>
          </a:xfrm>
          <a:prstGeom prst="rect">
            <a:avLst/>
          </a:prstGeom>
        </p:spPr>
      </p:pic>
      <p:sp>
        <p:nvSpPr>
          <p:cNvPr id="90" name="Text 76"/>
          <p:cNvSpPr txBox="1"/>
          <p:nvPr/>
        </p:nvSpPr>
        <p:spPr>
          <a:xfrm>
            <a:off x="2367382" y="3789274"/>
            <a:ext cx="7909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Audit Interne</a:t>
            </a:r>
            <a:endParaRPr lang="en-US" sz="900" dirty="0"/>
          </a:p>
        </p:txBody>
      </p:sp>
      <p:sp>
        <p:nvSpPr>
          <p:cNvPr id="91" name="Shape 77"/>
          <p:cNvSpPr/>
          <p:nvPr/>
        </p:nvSpPr>
        <p:spPr>
          <a:xfrm>
            <a:off x="3333902" y="3731666"/>
            <a:ext cx="1238098" cy="286207"/>
          </a:xfrm>
          <a:prstGeom prst="roundRect">
            <a:avLst>
              <a:gd name="adj" fmla="val 42599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pic>
        <p:nvPicPr>
          <p:cNvPr id="92" name="Image 12" descr="preencoded.png">    </p:cNvPr>
          <p:cNvPicPr>
            <a:picLocks noChangeAspect="1"/>
          </p:cNvPicPr>
          <p:nvPr/>
        </p:nvPicPr>
        <p:blipFill>
          <a:blip r:embed="rId13"/>
          <a:srcRect l="-1911" r="-1911" t="0" b="0"/>
          <a:stretch/>
        </p:blipFill>
        <p:spPr>
          <a:xfrm>
            <a:off x="3483864" y="3813048"/>
            <a:ext cx="133502" cy="114300"/>
          </a:xfrm>
          <a:prstGeom prst="rect">
            <a:avLst/>
          </a:prstGeom>
        </p:spPr>
      </p:pic>
      <p:sp>
        <p:nvSpPr>
          <p:cNvPr id="93" name="Text 78"/>
          <p:cNvSpPr txBox="1"/>
          <p:nvPr/>
        </p:nvSpPr>
        <p:spPr>
          <a:xfrm>
            <a:off x="3654857" y="3789274"/>
            <a:ext cx="8577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Contrôle Gest.</a:t>
            </a:r>
            <a:endParaRPr lang="en-US" sz="900" dirty="0"/>
          </a:p>
        </p:txBody>
      </p:sp>
      <p:sp>
        <p:nvSpPr>
          <p:cNvPr id="94" name="Shape 79"/>
          <p:cNvSpPr/>
          <p:nvPr/>
        </p:nvSpPr>
        <p:spPr>
          <a:xfrm>
            <a:off x="4643323" y="3731666"/>
            <a:ext cx="1238098" cy="286207"/>
          </a:xfrm>
          <a:prstGeom prst="roundRect">
            <a:avLst>
              <a:gd name="adj" fmla="val 42599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pic>
        <p:nvPicPr>
          <p:cNvPr id="95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-80" b="-80"/>
          <a:stretch/>
        </p:blipFill>
        <p:spPr>
          <a:xfrm>
            <a:off x="4903927" y="3813048"/>
            <a:ext cx="142646" cy="114300"/>
          </a:xfrm>
          <a:prstGeom prst="rect">
            <a:avLst/>
          </a:prstGeom>
        </p:spPr>
      </p:pic>
      <p:sp>
        <p:nvSpPr>
          <p:cNvPr id="96" name="Text 80"/>
          <p:cNvSpPr txBox="1"/>
          <p:nvPr/>
        </p:nvSpPr>
        <p:spPr>
          <a:xfrm>
            <a:off x="5084978" y="3789274"/>
            <a:ext cx="6199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Assist. DG</a:t>
            </a:r>
            <a:endParaRPr lang="en-US" sz="900" dirty="0"/>
          </a:p>
        </p:txBody>
      </p:sp>
      <p:sp>
        <p:nvSpPr>
          <p:cNvPr id="97" name="Shape 81"/>
          <p:cNvSpPr/>
          <p:nvPr/>
        </p:nvSpPr>
        <p:spPr>
          <a:xfrm>
            <a:off x="6210605" y="2937967"/>
            <a:ext cx="5372100" cy="1266444"/>
          </a:xfrm>
          <a:prstGeom prst="roundRect">
            <a:avLst>
              <a:gd name="adj" fmla="val 4343"/>
            </a:avLst>
          </a:prstGeom>
          <a:solidFill>
            <a:srgbClr val="FFFFFF"/>
          </a:solidFill>
          <a:ln w="38100">
            <a:solidFill>
              <a:srgbClr val="D69E2E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sp>
        <p:nvSpPr>
          <p:cNvPr id="98" name="Shape 82"/>
          <p:cNvSpPr/>
          <p:nvPr/>
        </p:nvSpPr>
        <p:spPr>
          <a:xfrm>
            <a:off x="6219749" y="2966314"/>
            <a:ext cx="5352898" cy="314554"/>
          </a:xfrm>
          <a:prstGeom prst="roundRect">
            <a:avLst>
              <a:gd name="adj" fmla="val 52854"/>
            </a:avLst>
          </a:prstGeom>
          <a:solidFill>
            <a:srgbClr val="D69E2E"/>
          </a:solidFill>
          <a:ln/>
        </p:spPr>
      </p:sp>
      <p:pic>
        <p:nvPicPr>
          <p:cNvPr id="99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6314846" y="3048610"/>
            <a:ext cx="133502" cy="133502"/>
          </a:xfrm>
          <a:prstGeom prst="rect">
            <a:avLst/>
          </a:prstGeom>
        </p:spPr>
      </p:pic>
      <p:sp>
        <p:nvSpPr>
          <p:cNvPr id="100" name="Text 83"/>
          <p:cNvSpPr txBox="1"/>
          <p:nvPr/>
        </p:nvSpPr>
        <p:spPr>
          <a:xfrm>
            <a:off x="6524244" y="3023006"/>
            <a:ext cx="206014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DÉVELOPPEMENT &amp; STRATÉGIE</a:t>
            </a:r>
            <a:endParaRPr lang="en-US" sz="1000" dirty="0"/>
          </a:p>
        </p:txBody>
      </p:sp>
      <p:sp>
        <p:nvSpPr>
          <p:cNvPr id="101" name="Shape 84"/>
          <p:cNvSpPr/>
          <p:nvPr/>
        </p:nvSpPr>
        <p:spPr>
          <a:xfrm>
            <a:off x="10780776" y="3023006"/>
            <a:ext cx="705002" cy="200254"/>
          </a:xfrm>
          <a:prstGeom prst="roundRect">
            <a:avLst>
              <a:gd name="adj" fmla="val 86975"/>
            </a:avLst>
          </a:prstGeom>
          <a:solidFill>
            <a:srgbClr val="FFFFFF"/>
          </a:solidFill>
          <a:ln/>
        </p:spPr>
      </p:sp>
      <p:sp>
        <p:nvSpPr>
          <p:cNvPr id="102" name="Text 85"/>
          <p:cNvSpPr txBox="1"/>
          <p:nvPr/>
        </p:nvSpPr>
        <p:spPr>
          <a:xfrm>
            <a:off x="10838383" y="3023006"/>
            <a:ext cx="68854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 POSTES</a:t>
            </a:r>
            <a:endParaRPr lang="en-US" sz="1000" dirty="0"/>
          </a:p>
        </p:txBody>
      </p:sp>
      <p:sp>
        <p:nvSpPr>
          <p:cNvPr id="103" name="Shape 86"/>
          <p:cNvSpPr/>
          <p:nvPr/>
        </p:nvSpPr>
        <p:spPr>
          <a:xfrm>
            <a:off x="6314846" y="3370478"/>
            <a:ext cx="2542946" cy="323698"/>
          </a:xfrm>
          <a:prstGeom prst="roundRect">
            <a:avLst>
              <a:gd name="adj" fmla="val 33234"/>
            </a:avLst>
          </a:prstGeom>
          <a:solidFill>
            <a:srgbClr val="FFFBEB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4" name="Text 87"/>
          <p:cNvSpPr txBox="1"/>
          <p:nvPr/>
        </p:nvSpPr>
        <p:spPr>
          <a:xfrm>
            <a:off x="7134149" y="3446374"/>
            <a:ext cx="10003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Stratégie &amp; M&amp;A</a:t>
            </a:r>
            <a:endParaRPr lang="en-US" sz="900" dirty="0"/>
          </a:p>
        </p:txBody>
      </p:sp>
      <p:sp>
        <p:nvSpPr>
          <p:cNvPr id="105" name="Shape 88"/>
          <p:cNvSpPr/>
          <p:nvPr/>
        </p:nvSpPr>
        <p:spPr>
          <a:xfrm>
            <a:off x="8934602" y="3370478"/>
            <a:ext cx="2542946" cy="323698"/>
          </a:xfrm>
          <a:prstGeom prst="roundRect">
            <a:avLst>
              <a:gd name="adj" fmla="val 33234"/>
            </a:avLst>
          </a:prstGeom>
          <a:solidFill>
            <a:srgbClr val="FFFBEB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6" name="Text 89"/>
          <p:cNvSpPr txBox="1"/>
          <p:nvPr/>
        </p:nvSpPr>
        <p:spPr>
          <a:xfrm>
            <a:off x="9670694" y="3446374"/>
            <a:ext cx="11622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400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Projets Stratégiques</a:t>
            </a:r>
            <a:endParaRPr lang="en-US" sz="900" dirty="0"/>
          </a:p>
        </p:txBody>
      </p:sp>
      <p:sp>
        <p:nvSpPr>
          <p:cNvPr id="107" name="Shape 90"/>
          <p:cNvSpPr/>
          <p:nvPr/>
        </p:nvSpPr>
        <p:spPr>
          <a:xfrm>
            <a:off x="6314846" y="3770071"/>
            <a:ext cx="2542946" cy="323698"/>
          </a:xfrm>
          <a:prstGeom prst="roundRect">
            <a:avLst>
              <a:gd name="adj" fmla="val 33234"/>
            </a:avLst>
          </a:prstGeom>
          <a:solidFill>
            <a:srgbClr val="FFFBEB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8" name="Text 91"/>
          <p:cNvSpPr txBox="1"/>
          <p:nvPr/>
        </p:nvSpPr>
        <p:spPr>
          <a:xfrm>
            <a:off x="7203643" y="3845966"/>
            <a:ext cx="8577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400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RSE &amp; Durable</a:t>
            </a:r>
            <a:endParaRPr lang="en-US" sz="900" dirty="0"/>
          </a:p>
        </p:txBody>
      </p:sp>
      <p:sp>
        <p:nvSpPr>
          <p:cNvPr id="109" name="Shape 92"/>
          <p:cNvSpPr/>
          <p:nvPr/>
        </p:nvSpPr>
        <p:spPr>
          <a:xfrm>
            <a:off x="8934602" y="3770071"/>
            <a:ext cx="2542946" cy="323698"/>
          </a:xfrm>
          <a:prstGeom prst="roundRect">
            <a:avLst>
              <a:gd name="adj" fmla="val 33234"/>
            </a:avLst>
          </a:prstGeom>
          <a:solidFill>
            <a:srgbClr val="FFFBEB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10" name="Text 93"/>
          <p:cNvSpPr txBox="1"/>
          <p:nvPr/>
        </p:nvSpPr>
        <p:spPr>
          <a:xfrm>
            <a:off x="9871862" y="3845966"/>
            <a:ext cx="762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400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Analyst</a:t>
            </a:r>
            <a:endParaRPr lang="en-US" sz="900" dirty="0"/>
          </a:p>
        </p:txBody>
      </p:sp>
      <p:sp>
        <p:nvSpPr>
          <p:cNvPr id="111" name="Shape 94"/>
          <p:cNvSpPr/>
          <p:nvPr/>
        </p:nvSpPr>
        <p:spPr>
          <a:xfrm>
            <a:off x="4267505" y="1571854"/>
            <a:ext cx="3657600" cy="1067105"/>
          </a:xfrm>
          <a:prstGeom prst="roundRect">
            <a:avLst>
              <a:gd name="adj" fmla="val 6121"/>
            </a:avLst>
          </a:prstGeom>
          <a:solidFill>
            <a:srgbClr val="FFFFFF"/>
          </a:solidFill>
          <a:ln w="25400">
            <a:solidFill>
              <a:srgbClr val="8B1538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sp>
        <p:nvSpPr>
          <p:cNvPr id="112" name="Shape 95"/>
          <p:cNvSpPr/>
          <p:nvPr/>
        </p:nvSpPr>
        <p:spPr>
          <a:xfrm>
            <a:off x="4286707" y="1591056"/>
            <a:ext cx="3619195" cy="314554"/>
          </a:xfrm>
          <a:prstGeom prst="roundRect">
            <a:avLst>
              <a:gd name="adj" fmla="val 52854"/>
            </a:avLst>
          </a:prstGeom>
          <a:solidFill>
            <a:srgbClr val="8B1538"/>
          </a:solidFill>
          <a:ln/>
        </p:spPr>
      </p:sp>
      <p:pic>
        <p:nvPicPr>
          <p:cNvPr id="113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-2644" b="-2644"/>
          <a:stretch/>
        </p:blipFill>
        <p:spPr>
          <a:xfrm>
            <a:off x="5000854" y="1673352"/>
            <a:ext cx="142646" cy="133502"/>
          </a:xfrm>
          <a:prstGeom prst="rect">
            <a:avLst/>
          </a:prstGeom>
        </p:spPr>
      </p:pic>
      <p:sp>
        <p:nvSpPr>
          <p:cNvPr id="114" name="Text 96"/>
          <p:cNvSpPr txBox="1"/>
          <p:nvPr/>
        </p:nvSpPr>
        <p:spPr>
          <a:xfrm>
            <a:off x="5219395" y="1647749"/>
            <a:ext cx="206928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DIRECTION GÉNÉRALE GROUPE</a:t>
            </a:r>
            <a:endParaRPr lang="en-US" sz="1000" dirty="0"/>
          </a:p>
        </p:txBody>
      </p:sp>
      <p:sp>
        <p:nvSpPr>
          <p:cNvPr id="115" name="Text 97"/>
          <p:cNvSpPr txBox="1"/>
          <p:nvPr/>
        </p:nvSpPr>
        <p:spPr>
          <a:xfrm>
            <a:off x="5221224" y="1994306"/>
            <a:ext cx="185348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Gérant / Président Groupe</a:t>
            </a:r>
            <a:endParaRPr lang="en-US" sz="1000" dirty="0"/>
          </a:p>
        </p:txBody>
      </p:sp>
      <p:sp>
        <p:nvSpPr>
          <p:cNvPr id="116" name="Shape 98"/>
          <p:cNvSpPr/>
          <p:nvPr/>
        </p:nvSpPr>
        <p:spPr>
          <a:xfrm>
            <a:off x="4809744" y="2222906"/>
            <a:ext cx="2572207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7" name="Shape 99"/>
          <p:cNvSpPr/>
          <p:nvPr/>
        </p:nvSpPr>
        <p:spPr>
          <a:xfrm>
            <a:off x="4856378" y="2270455"/>
            <a:ext cx="1133856" cy="247802"/>
          </a:xfrm>
          <a:prstGeom prst="roundRect">
            <a:avLst>
              <a:gd name="adj" fmla="val 56770"/>
            </a:avLst>
          </a:prstGeom>
          <a:solidFill>
            <a:srgbClr val="FEF2F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18" name="Text 100"/>
          <p:cNvSpPr txBox="1"/>
          <p:nvPr/>
        </p:nvSpPr>
        <p:spPr>
          <a:xfrm>
            <a:off x="4942332" y="2308860"/>
            <a:ext cx="10479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153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DG Groupe (DGG)</a:t>
            </a:r>
            <a:endParaRPr lang="en-US" sz="900" dirty="0"/>
          </a:p>
        </p:txBody>
      </p:sp>
      <p:sp>
        <p:nvSpPr>
          <p:cNvPr id="119" name="Shape 101"/>
          <p:cNvSpPr/>
          <p:nvPr/>
        </p:nvSpPr>
        <p:spPr>
          <a:xfrm>
            <a:off x="6140196" y="2270455"/>
            <a:ext cx="1200607" cy="247802"/>
          </a:xfrm>
          <a:prstGeom prst="roundRect">
            <a:avLst>
              <a:gd name="adj" fmla="val 5677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0" name="Text 102"/>
          <p:cNvSpPr txBox="1"/>
          <p:nvPr/>
        </p:nvSpPr>
        <p:spPr>
          <a:xfrm>
            <a:off x="6226150" y="2308860"/>
            <a:ext cx="11146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Secrétaire Général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591349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59134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980115" y="105156"/>
            <a:ext cx="1410005" cy="924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8B15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8B1538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34110"/>
            <a:ext cx="1127729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629107"/>
            <a:ext cx="75895" cy="304495"/>
          </a:xfrm>
          <a:prstGeom prst="roundRect">
            <a:avLst>
              <a:gd name="adj" fmla="val 301206"/>
            </a:avLst>
          </a:prstGeom>
          <a:solidFill>
            <a:srgbClr val="8B153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213702" y="1686154"/>
            <a:ext cx="142646" cy="19019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470648" y="1647749"/>
            <a:ext cx="24579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Exemples de Synergies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213702" y="2143354"/>
            <a:ext cx="4448556" cy="138074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1" name="Shape 8"/>
          <p:cNvSpPr/>
          <p:nvPr/>
        </p:nvSpPr>
        <p:spPr>
          <a:xfrm>
            <a:off x="7213702" y="2143354"/>
            <a:ext cx="28346" cy="1380744"/>
          </a:xfrm>
          <a:prstGeom prst="rect">
            <a:avLst/>
          </a:prstGeom>
          <a:solidFill>
            <a:srgbClr val="8B1538"/>
          </a:solidFill>
          <a:ln/>
        </p:spPr>
      </p:sp>
      <p:sp>
        <p:nvSpPr>
          <p:cNvPr id="12" name="Shape 9"/>
          <p:cNvSpPr/>
          <p:nvPr/>
        </p:nvSpPr>
        <p:spPr>
          <a:xfrm>
            <a:off x="7394753" y="2295144"/>
            <a:ext cx="1343254" cy="190195"/>
          </a:xfrm>
          <a:prstGeom prst="roundRect">
            <a:avLst>
              <a:gd name="adj" fmla="val 240385"/>
            </a:avLst>
          </a:prstGeom>
          <a:solidFill>
            <a:srgbClr val="8B153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-33" r="-33" t="0" b="0"/>
          <a:stretch/>
        </p:blipFill>
        <p:spPr>
          <a:xfrm>
            <a:off x="11334902" y="2295144"/>
            <a:ext cx="171907" cy="152705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213702" y="3673145"/>
            <a:ext cx="4448556" cy="138074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5" name="Shape 11"/>
          <p:cNvSpPr/>
          <p:nvPr/>
        </p:nvSpPr>
        <p:spPr>
          <a:xfrm>
            <a:off x="7213702" y="3673145"/>
            <a:ext cx="28346" cy="1380744"/>
          </a:xfrm>
          <a:prstGeom prst="rect">
            <a:avLst/>
          </a:prstGeom>
          <a:solidFill>
            <a:srgbClr val="8B1538"/>
          </a:solidFill>
          <a:ln/>
        </p:spPr>
      </p:sp>
      <p:sp>
        <p:nvSpPr>
          <p:cNvPr id="16" name="Shape 12"/>
          <p:cNvSpPr/>
          <p:nvPr/>
        </p:nvSpPr>
        <p:spPr>
          <a:xfrm>
            <a:off x="7394753" y="3824935"/>
            <a:ext cx="1429207" cy="190195"/>
          </a:xfrm>
          <a:prstGeom prst="roundRect">
            <a:avLst>
              <a:gd name="adj" fmla="val 240385"/>
            </a:avLst>
          </a:prstGeom>
          <a:solidFill>
            <a:srgbClr val="8B1538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180" b="-180"/>
          <a:stretch/>
        </p:blipFill>
        <p:spPr>
          <a:xfrm>
            <a:off x="11315700" y="3824935"/>
            <a:ext cx="190195" cy="152705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7213702" y="5202936"/>
            <a:ext cx="4448556" cy="138074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9" name="Shape 14"/>
          <p:cNvSpPr/>
          <p:nvPr/>
        </p:nvSpPr>
        <p:spPr>
          <a:xfrm>
            <a:off x="7213702" y="5202936"/>
            <a:ext cx="28346" cy="1380744"/>
          </a:xfrm>
          <a:prstGeom prst="rect">
            <a:avLst/>
          </a:prstGeom>
          <a:solidFill>
            <a:srgbClr val="8B1538"/>
          </a:solidFill>
          <a:ln/>
        </p:spPr>
      </p:sp>
      <p:sp>
        <p:nvSpPr>
          <p:cNvPr id="20" name="Shape 15"/>
          <p:cNvSpPr/>
          <p:nvPr/>
        </p:nvSpPr>
        <p:spPr>
          <a:xfrm>
            <a:off x="7394753" y="5354726"/>
            <a:ext cx="990295" cy="190195"/>
          </a:xfrm>
          <a:prstGeom prst="roundRect">
            <a:avLst>
              <a:gd name="adj" fmla="val 240385"/>
            </a:avLst>
          </a:prstGeom>
          <a:solidFill>
            <a:srgbClr val="8B153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80" b="-180"/>
          <a:stretch/>
        </p:blipFill>
        <p:spPr>
          <a:xfrm>
            <a:off x="11315700" y="5354726"/>
            <a:ext cx="190195" cy="152705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7213702" y="6884518"/>
            <a:ext cx="4524451" cy="400507"/>
          </a:xfrm>
          <a:prstGeom prst="roundRect">
            <a:avLst>
              <a:gd name="adj" fmla="val 21744"/>
            </a:avLst>
          </a:prstGeom>
          <a:solidFill>
            <a:srgbClr val="8B1538"/>
          </a:solidFill>
          <a:ln w="12700">
            <a:solidFill>
              <a:srgbClr val="8B1538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685800" y="599846"/>
            <a:ext cx="4187038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SYNERGIES &amp; INTÉGRATION</a:t>
            </a:r>
            <a:endParaRPr lang="en-US" sz="2200" dirty="0"/>
          </a:p>
        </p:txBody>
      </p:sp>
      <p:sp>
        <p:nvSpPr>
          <p:cNvPr id="24" name="Text 18"/>
          <p:cNvSpPr txBox="1"/>
          <p:nvPr/>
        </p:nvSpPr>
        <p:spPr>
          <a:xfrm>
            <a:off x="685800" y="1009498"/>
            <a:ext cx="44339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Création de valeur par la complémentarité des entités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7470648" y="2314346"/>
            <a:ext cx="126735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OFFRE 360° CLÉ EN MAIN</a:t>
            </a:r>
            <a:endParaRPr lang="en-US" sz="800" dirty="0"/>
          </a:p>
        </p:txBody>
      </p:sp>
      <p:sp>
        <p:nvSpPr>
          <p:cNvPr id="26" name="Text 20"/>
          <p:cNvSpPr txBox="1"/>
          <p:nvPr/>
        </p:nvSpPr>
        <p:spPr>
          <a:xfrm>
            <a:off x="7394753" y="2606040"/>
            <a:ext cx="173918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 Minier Complexe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7394753" y="2815438"/>
            <a:ext cx="20574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Entités : RISHOM BF + RIC + Academy</a:t>
            </a:r>
            <a:endParaRPr lang="en-US" sz="900" dirty="0"/>
          </a:p>
        </p:txBody>
      </p:sp>
      <p:sp>
        <p:nvSpPr>
          <p:cNvPr id="28" name="Text 22"/>
          <p:cNvSpPr txBox="1"/>
          <p:nvPr/>
        </p:nvSpPr>
        <p:spPr>
          <a:xfrm>
            <a:off x="7394753" y="3044038"/>
            <a:ext cx="41056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RISHOM BF : Fourniture d'engins et maintenance. • RIC : Audit de conformité et RH. • Academy : Formation technique des opérateurs sur site.</a:t>
            </a:r>
            <a:endParaRPr lang="en-US" sz="900" dirty="0"/>
          </a:p>
        </p:txBody>
      </p:sp>
      <p:sp>
        <p:nvSpPr>
          <p:cNvPr id="29" name="Text 23"/>
          <p:cNvSpPr txBox="1"/>
          <p:nvPr/>
        </p:nvSpPr>
        <p:spPr>
          <a:xfrm>
            <a:off x="7470648" y="3844138"/>
            <a:ext cx="13533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DÉVELOPPEMENT INTÉGRÉ</a:t>
            </a:r>
            <a:endParaRPr lang="en-US" sz="800" dirty="0"/>
          </a:p>
        </p:txBody>
      </p:sp>
      <p:sp>
        <p:nvSpPr>
          <p:cNvPr id="30" name="Text 24"/>
          <p:cNvSpPr txBox="1"/>
          <p:nvPr/>
        </p:nvSpPr>
        <p:spPr>
          <a:xfrm>
            <a:off x="7394753" y="4135831"/>
            <a:ext cx="223387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Exploitation Agricole Moderne</a:t>
            </a:r>
            <a:endParaRPr lang="en-US" sz="1000" dirty="0"/>
          </a:p>
        </p:txBody>
      </p:sp>
      <p:sp>
        <p:nvSpPr>
          <p:cNvPr id="31" name="Text 25"/>
          <p:cNvSpPr txBox="1"/>
          <p:nvPr/>
        </p:nvSpPr>
        <p:spPr>
          <a:xfrm>
            <a:off x="7394753" y="4345229"/>
            <a:ext cx="18288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Entités : REV'I + RISHOM BF + RIC</a:t>
            </a:r>
            <a:endParaRPr lang="en-US" sz="900" dirty="0"/>
          </a:p>
        </p:txBody>
      </p:sp>
      <p:sp>
        <p:nvSpPr>
          <p:cNvPr id="32" name="Text 26"/>
          <p:cNvSpPr txBox="1"/>
          <p:nvPr/>
        </p:nvSpPr>
        <p:spPr>
          <a:xfrm>
            <a:off x="7394753" y="4573829"/>
            <a:ext cx="41916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REV'I : Expertise agronomique. • RISHOM BF : Matériel solaire et logistique. • RIC : Étude de faisabilité et montage financier.</a:t>
            </a:r>
            <a:endParaRPr lang="en-US" sz="900" dirty="0"/>
          </a:p>
        </p:txBody>
      </p:sp>
      <p:sp>
        <p:nvSpPr>
          <p:cNvPr id="33" name="Text 27"/>
          <p:cNvSpPr txBox="1"/>
          <p:nvPr/>
        </p:nvSpPr>
        <p:spPr>
          <a:xfrm>
            <a:off x="7470648" y="5373929"/>
            <a:ext cx="9144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CAPITAL HUMAIN</a:t>
            </a:r>
            <a:endParaRPr lang="en-US" sz="800" dirty="0"/>
          </a:p>
        </p:txBody>
      </p:sp>
      <p:sp>
        <p:nvSpPr>
          <p:cNvPr id="34" name="Text 28"/>
          <p:cNvSpPr txBox="1"/>
          <p:nvPr/>
        </p:nvSpPr>
        <p:spPr>
          <a:xfrm>
            <a:off x="7394753" y="5665622"/>
            <a:ext cx="214792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Maintenance &amp; Compétences</a:t>
            </a:r>
            <a:endParaRPr lang="en-US" sz="1000" dirty="0"/>
          </a:p>
        </p:txBody>
      </p:sp>
      <p:sp>
        <p:nvSpPr>
          <p:cNvPr id="35" name="Text 29"/>
          <p:cNvSpPr txBox="1"/>
          <p:nvPr/>
        </p:nvSpPr>
        <p:spPr>
          <a:xfrm>
            <a:off x="7394753" y="5875020"/>
            <a:ext cx="17629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Entités : Academy + RISHOM BF</a:t>
            </a:r>
            <a:endParaRPr lang="en-US" sz="900" dirty="0"/>
          </a:p>
        </p:txBody>
      </p:sp>
      <p:sp>
        <p:nvSpPr>
          <p:cNvPr id="36" name="Text 30"/>
          <p:cNvSpPr txBox="1"/>
          <p:nvPr/>
        </p:nvSpPr>
        <p:spPr>
          <a:xfrm>
            <a:off x="7394753" y="6103620"/>
            <a:ext cx="390540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Formation continue des techniciens SAV par l'Academy pour garantir un service premium aux clients de RISHOM BF.</a:t>
            </a:r>
            <a:endParaRPr lang="en-US" sz="900" dirty="0"/>
          </a:p>
        </p:txBody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969910" y="7023506"/>
            <a:ext cx="114300" cy="114300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8122615" y="6998818"/>
            <a:ext cx="29434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153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 force du Groupe : Un écosystème intégré unique.</a:t>
            </a:r>
            <a:endParaRPr lang="en-US" sz="900" dirty="0"/>
          </a:p>
        </p:txBody>
      </p:sp>
      <p:sp>
        <p:nvSpPr>
          <p:cNvPr id="39" name="Shape 32"/>
          <p:cNvSpPr/>
          <p:nvPr/>
        </p:nvSpPr>
        <p:spPr>
          <a:xfrm>
            <a:off x="457200" y="1647749"/>
            <a:ext cx="6458407" cy="5639105"/>
          </a:xfrm>
          <a:prstGeom prst="roundRect">
            <a:avLst>
              <a:gd name="adj" fmla="val 329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rcRect l="-1282" r="-1282" t="0" b="0"/>
          <a:stretch/>
        </p:blipFill>
        <p:spPr>
          <a:xfrm>
            <a:off x="694944" y="1923898"/>
            <a:ext cx="219456" cy="190195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1028700" y="1886407"/>
            <a:ext cx="33439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Flux Opérationnels Inter-Entités</a:t>
            </a:r>
            <a:endParaRPr lang="en-US" sz="1500" dirty="0"/>
          </a:p>
        </p:txBody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rcRect l="-8151" r="-8151" t="0" b="0"/>
          <a:stretch/>
        </p:blipFill>
        <p:spPr>
          <a:xfrm>
            <a:off x="694944" y="2381098"/>
            <a:ext cx="5982005" cy="3429000"/>
          </a:xfrm>
          <a:prstGeom prst="rect">
            <a:avLst/>
          </a:prstGeom>
        </p:spPr>
      </p:pic>
      <p:sp>
        <p:nvSpPr>
          <p:cNvPr id="43" name="Shape 34"/>
          <p:cNvSpPr/>
          <p:nvPr/>
        </p:nvSpPr>
        <p:spPr>
          <a:xfrm>
            <a:off x="886054" y="2572207"/>
            <a:ext cx="1524305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9700" dist="38100" dir="5400000">
              <a:srgbClr val="000000">
                <a:alpha val="8000"/>
              </a:srgbClr>
            </a:outerShdw>
          </a:effectLst>
        </p:spPr>
      </p:sp>
      <p:sp>
        <p:nvSpPr>
          <p:cNvPr id="44" name="Shape 35"/>
          <p:cNvSpPr/>
          <p:nvPr/>
        </p:nvSpPr>
        <p:spPr>
          <a:xfrm>
            <a:off x="886054" y="2572207"/>
            <a:ext cx="1524305" cy="38405"/>
          </a:xfrm>
          <a:prstGeom prst="rect">
            <a:avLst/>
          </a:prstGeom>
          <a:solidFill>
            <a:srgbClr val="8B1538"/>
          </a:solidFill>
          <a:ln/>
        </p:spPr>
      </p:sp>
      <p:sp>
        <p:nvSpPr>
          <p:cNvPr id="45" name="Shape 36"/>
          <p:cNvSpPr/>
          <p:nvPr/>
        </p:nvSpPr>
        <p:spPr>
          <a:xfrm>
            <a:off x="1457554" y="2691079"/>
            <a:ext cx="381305" cy="181051"/>
          </a:xfrm>
          <a:prstGeom prst="ellipse">
            <a:avLst/>
          </a:prstGeom>
          <a:solidFill>
            <a:srgbClr val="8B1538">
              <a:alpha val="10000"/>
            </a:srgbClr>
          </a:solidFill>
          <a:ln/>
        </p:spPr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557223" y="2691079"/>
            <a:ext cx="181051" cy="181051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1326794" y="2957170"/>
            <a:ext cx="74797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RIC SARL</a:t>
            </a:r>
            <a:endParaRPr lang="en-US" sz="1000" dirty="0"/>
          </a:p>
        </p:txBody>
      </p:sp>
      <p:sp>
        <p:nvSpPr>
          <p:cNvPr id="48" name="Text 38"/>
          <p:cNvSpPr txBox="1"/>
          <p:nvPr/>
        </p:nvSpPr>
        <p:spPr>
          <a:xfrm>
            <a:off x="1142086" y="3185770"/>
            <a:ext cx="11338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Audit, Conseil, RH</a:t>
            </a:r>
            <a:endParaRPr lang="en-US" sz="1200" dirty="0"/>
          </a:p>
        </p:txBody>
      </p:sp>
      <p:sp>
        <p:nvSpPr>
          <p:cNvPr id="49" name="Shape 39"/>
          <p:cNvSpPr/>
          <p:nvPr/>
        </p:nvSpPr>
        <p:spPr>
          <a:xfrm>
            <a:off x="504749" y="3715207"/>
            <a:ext cx="1524305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9700" dist="38100" dir="5400000">
              <a:srgbClr val="000000">
                <a:alpha val="8000"/>
              </a:srgbClr>
            </a:outerShdw>
          </a:effectLst>
        </p:spPr>
      </p:sp>
      <p:sp>
        <p:nvSpPr>
          <p:cNvPr id="50" name="Shape 40"/>
          <p:cNvSpPr/>
          <p:nvPr/>
        </p:nvSpPr>
        <p:spPr>
          <a:xfrm>
            <a:off x="504749" y="3715207"/>
            <a:ext cx="1524305" cy="38405"/>
          </a:xfrm>
          <a:prstGeom prst="rect">
            <a:avLst/>
          </a:prstGeom>
          <a:solidFill>
            <a:srgbClr val="8B1538"/>
          </a:solidFill>
          <a:ln/>
        </p:spPr>
      </p:sp>
      <p:sp>
        <p:nvSpPr>
          <p:cNvPr id="51" name="Shape 41"/>
          <p:cNvSpPr/>
          <p:nvPr/>
        </p:nvSpPr>
        <p:spPr>
          <a:xfrm>
            <a:off x="1076249" y="3834079"/>
            <a:ext cx="381305" cy="181051"/>
          </a:xfrm>
          <a:prstGeom prst="ellipse">
            <a:avLst/>
          </a:prstGeom>
          <a:solidFill>
            <a:srgbClr val="8B1538">
              <a:alpha val="10000"/>
            </a:srgbClr>
          </a:solidFill>
          <a:ln/>
        </p:spPr>
      </p:sp>
      <p:pic>
        <p:nvPicPr>
          <p:cNvPr id="52" name="Image 8" descr="preencoded.png">    </p:cNvPr>
          <p:cNvPicPr>
            <a:picLocks noChangeAspect="1"/>
          </p:cNvPicPr>
          <p:nvPr/>
        </p:nvPicPr>
        <p:blipFill>
          <a:blip r:embed="rId9"/>
          <a:srcRect l="-505" r="-505" t="0" b="0"/>
          <a:stretch/>
        </p:blipFill>
        <p:spPr>
          <a:xfrm>
            <a:off x="1152144" y="3834079"/>
            <a:ext cx="228600" cy="181051"/>
          </a:xfrm>
          <a:prstGeom prst="rect">
            <a:avLst/>
          </a:prstGeom>
        </p:spPr>
      </p:pic>
      <p:sp>
        <p:nvSpPr>
          <p:cNvPr id="53" name="Text 42"/>
          <p:cNvSpPr txBox="1"/>
          <p:nvPr/>
        </p:nvSpPr>
        <p:spPr>
          <a:xfrm>
            <a:off x="866851" y="4100170"/>
            <a:ext cx="90068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RISHOM BF</a:t>
            </a:r>
            <a:endParaRPr lang="en-US" sz="1000" dirty="0"/>
          </a:p>
        </p:txBody>
      </p:sp>
      <p:sp>
        <p:nvSpPr>
          <p:cNvPr id="54" name="Text 43"/>
          <p:cNvSpPr txBox="1"/>
          <p:nvPr/>
        </p:nvSpPr>
        <p:spPr>
          <a:xfrm>
            <a:off x="803758" y="4328770"/>
            <a:ext cx="10479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Commerce &amp; BTP</a:t>
            </a:r>
            <a:endParaRPr lang="en-US" sz="1200" dirty="0"/>
          </a:p>
        </p:txBody>
      </p:sp>
      <p:sp>
        <p:nvSpPr>
          <p:cNvPr id="55" name="Shape 44"/>
          <p:cNvSpPr/>
          <p:nvPr/>
        </p:nvSpPr>
        <p:spPr>
          <a:xfrm>
            <a:off x="504749" y="4476902"/>
            <a:ext cx="1524305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9700" dist="38100" dir="5400000">
              <a:srgbClr val="000000">
                <a:alpha val="8000"/>
              </a:srgbClr>
            </a:outerShdw>
          </a:effectLst>
        </p:spPr>
      </p:sp>
      <p:sp>
        <p:nvSpPr>
          <p:cNvPr id="56" name="Shape 45"/>
          <p:cNvSpPr/>
          <p:nvPr/>
        </p:nvSpPr>
        <p:spPr>
          <a:xfrm>
            <a:off x="504749" y="4476902"/>
            <a:ext cx="1524305" cy="38405"/>
          </a:xfrm>
          <a:prstGeom prst="rect">
            <a:avLst/>
          </a:prstGeom>
          <a:solidFill>
            <a:srgbClr val="8B1538"/>
          </a:solidFill>
          <a:ln/>
        </p:spPr>
      </p:sp>
      <p:sp>
        <p:nvSpPr>
          <p:cNvPr id="57" name="Shape 46"/>
          <p:cNvSpPr/>
          <p:nvPr/>
        </p:nvSpPr>
        <p:spPr>
          <a:xfrm>
            <a:off x="1076249" y="4657954"/>
            <a:ext cx="381305" cy="286207"/>
          </a:xfrm>
          <a:prstGeom prst="ellipse">
            <a:avLst/>
          </a:prstGeom>
          <a:solidFill>
            <a:srgbClr val="8B1538">
              <a:alpha val="10000"/>
            </a:srgbClr>
          </a:solidFill>
          <a:ln/>
        </p:spPr>
      </p:sp>
      <p:pic>
        <p:nvPicPr>
          <p:cNvPr id="58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1175918" y="4710074"/>
            <a:ext cx="181051" cy="181051"/>
          </a:xfrm>
          <a:prstGeom prst="rect">
            <a:avLst/>
          </a:prstGeom>
        </p:spPr>
      </p:pic>
      <p:sp>
        <p:nvSpPr>
          <p:cNvPr id="59" name="Text 47"/>
          <p:cNvSpPr txBox="1"/>
          <p:nvPr/>
        </p:nvSpPr>
        <p:spPr>
          <a:xfrm>
            <a:off x="1086307" y="5029200"/>
            <a:ext cx="46268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REV'I</a:t>
            </a:r>
            <a:endParaRPr lang="en-US" sz="1000" dirty="0"/>
          </a:p>
        </p:txBody>
      </p:sp>
      <p:sp>
        <p:nvSpPr>
          <p:cNvPr id="60" name="Text 48"/>
          <p:cNvSpPr txBox="1"/>
          <p:nvPr/>
        </p:nvSpPr>
        <p:spPr>
          <a:xfrm>
            <a:off x="789127" y="5257800"/>
            <a:ext cx="10771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Agrobusiness</a:t>
            </a:r>
            <a:endParaRPr lang="en-US" sz="1200" dirty="0"/>
          </a:p>
        </p:txBody>
      </p:sp>
      <p:sp>
        <p:nvSpPr>
          <p:cNvPr id="61" name="Shape 49"/>
          <p:cNvSpPr/>
          <p:nvPr/>
        </p:nvSpPr>
        <p:spPr>
          <a:xfrm>
            <a:off x="886054" y="4343400"/>
            <a:ext cx="1828800" cy="1276502"/>
          </a:xfrm>
          <a:prstGeom prst="roundRect">
            <a:avLst>
              <a:gd name="adj" fmla="val 4277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2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1009498" y="4481474"/>
            <a:ext cx="114300" cy="114300"/>
          </a:xfrm>
          <a:prstGeom prst="rect">
            <a:avLst/>
          </a:prstGeom>
        </p:spPr>
      </p:pic>
      <p:sp>
        <p:nvSpPr>
          <p:cNvPr id="63" name="Text 50"/>
          <p:cNvSpPr txBox="1"/>
          <p:nvPr/>
        </p:nvSpPr>
        <p:spPr>
          <a:xfrm>
            <a:off x="1162202" y="4466844"/>
            <a:ext cx="9720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15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Valeur Ajoutée</a:t>
            </a:r>
            <a:endParaRPr lang="en-US" sz="900" dirty="0"/>
          </a:p>
        </p:txBody>
      </p:sp>
      <p:sp>
        <p:nvSpPr>
          <p:cNvPr id="64" name="Text 51"/>
          <p:cNvSpPr txBox="1"/>
          <p:nvPr/>
        </p:nvSpPr>
        <p:spPr>
          <a:xfrm>
            <a:off x="1009498" y="4657954"/>
            <a:ext cx="1485900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Réduction des risques, économies d'échelle et innovation croisée.</a:t>
            </a:r>
            <a:endParaRPr lang="en-US" sz="1200" dirty="0"/>
          </a:p>
        </p:txBody>
      </p:sp>
      <p:sp>
        <p:nvSpPr>
          <p:cNvPr id="65" name="Shape 52"/>
          <p:cNvSpPr/>
          <p:nvPr/>
        </p:nvSpPr>
        <p:spPr>
          <a:xfrm>
            <a:off x="3073298" y="3486607"/>
            <a:ext cx="1218895" cy="1218895"/>
          </a:xfrm>
          <a:prstGeom prst="roundRect">
            <a:avLst>
              <a:gd name="adj" fmla="val 75019"/>
            </a:avLst>
          </a:prstGeom>
          <a:solidFill>
            <a:srgbClr val="FFFFFF"/>
          </a:solidFill>
          <a:ln w="25400">
            <a:solidFill>
              <a:srgbClr val="8B1538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66" name="Image 11" descr="preencoded.png">    </p:cNvPr>
          <p:cNvPicPr>
            <a:picLocks noChangeAspect="1"/>
          </p:cNvPicPr>
          <p:nvPr/>
        </p:nvPicPr>
        <p:blipFill>
          <a:blip r:embed="rId12"/>
          <a:srcRect l="-80" r="-80" t="0" b="0"/>
          <a:stretch/>
        </p:blipFill>
        <p:spPr>
          <a:xfrm>
            <a:off x="3539642" y="3696005"/>
            <a:ext cx="286207" cy="228600"/>
          </a:xfrm>
          <a:prstGeom prst="rect">
            <a:avLst/>
          </a:prstGeom>
        </p:spPr>
      </p:pic>
      <p:sp>
        <p:nvSpPr>
          <p:cNvPr id="67" name="Text 53"/>
          <p:cNvSpPr txBox="1"/>
          <p:nvPr/>
        </p:nvSpPr>
        <p:spPr>
          <a:xfrm>
            <a:off x="3376879" y="4000500"/>
            <a:ext cx="7050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ACADEMY</a:t>
            </a:r>
            <a:endParaRPr lang="en-US" sz="900" dirty="0"/>
          </a:p>
        </p:txBody>
      </p:sp>
      <p:sp>
        <p:nvSpPr>
          <p:cNvPr id="68" name="Text 54"/>
          <p:cNvSpPr txBox="1"/>
          <p:nvPr/>
        </p:nvSpPr>
        <p:spPr>
          <a:xfrm>
            <a:off x="3231490" y="4143146"/>
            <a:ext cx="1019556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Formation Transversale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1153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8115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194085" y="105156"/>
            <a:ext cx="1191463" cy="924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8B15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8B1538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34110"/>
            <a:ext cx="1127729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629107"/>
            <a:ext cx="75895" cy="304495"/>
          </a:xfrm>
          <a:prstGeom prst="roundRect">
            <a:avLst>
              <a:gd name="adj" fmla="val 301206"/>
            </a:avLst>
          </a:prstGeom>
          <a:solidFill>
            <a:srgbClr val="8B1538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571854"/>
            <a:ext cx="6458407" cy="4390949"/>
          </a:xfrm>
          <a:prstGeom prst="roundRect">
            <a:avLst>
              <a:gd name="adj" fmla="val 361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" y="1580998"/>
            <a:ext cx="2581351" cy="362102"/>
          </a:xfrm>
          <a:prstGeom prst="roundRect">
            <a:avLst>
              <a:gd name="adj" fmla="val 53163"/>
            </a:avLst>
          </a:prstGeom>
          <a:solidFill>
            <a:srgbClr val="8B1538"/>
          </a:solidFill>
          <a:ln/>
        </p:spPr>
      </p:sp>
      <p:sp>
        <p:nvSpPr>
          <p:cNvPr id="10" name="Shape 8"/>
          <p:cNvSpPr/>
          <p:nvPr/>
        </p:nvSpPr>
        <p:spPr>
          <a:xfrm>
            <a:off x="3039466" y="1580998"/>
            <a:ext cx="1933956" cy="362102"/>
          </a:xfrm>
          <a:prstGeom prst="rect">
            <a:avLst/>
          </a:prstGeom>
          <a:solidFill>
            <a:srgbClr val="8B1538"/>
          </a:solidFill>
          <a:ln/>
        </p:spPr>
      </p:sp>
      <p:sp>
        <p:nvSpPr>
          <p:cNvPr id="11" name="Shape 9"/>
          <p:cNvSpPr/>
          <p:nvPr/>
        </p:nvSpPr>
        <p:spPr>
          <a:xfrm>
            <a:off x="4969764" y="1580998"/>
            <a:ext cx="972007" cy="362102"/>
          </a:xfrm>
          <a:prstGeom prst="rect">
            <a:avLst/>
          </a:prstGeom>
          <a:solidFill>
            <a:srgbClr val="8B1538"/>
          </a:solidFill>
          <a:ln/>
        </p:spPr>
      </p:sp>
      <p:sp>
        <p:nvSpPr>
          <p:cNvPr id="12" name="Shape 10"/>
          <p:cNvSpPr/>
          <p:nvPr/>
        </p:nvSpPr>
        <p:spPr>
          <a:xfrm>
            <a:off x="5934456" y="1580998"/>
            <a:ext cx="972007" cy="362102"/>
          </a:xfrm>
          <a:prstGeom prst="rect">
            <a:avLst/>
          </a:prstGeom>
          <a:solidFill>
            <a:srgbClr val="8B1538"/>
          </a:solidFill>
          <a:ln/>
        </p:spPr>
      </p:sp>
      <p:sp>
        <p:nvSpPr>
          <p:cNvPr id="13" name="Shape 11"/>
          <p:cNvSpPr/>
          <p:nvPr/>
        </p:nvSpPr>
        <p:spPr>
          <a:xfrm>
            <a:off x="466344" y="1943100"/>
            <a:ext cx="6439205" cy="400507"/>
          </a:xfrm>
          <a:prstGeom prst="rect">
            <a:avLst/>
          </a:prstGeom>
          <a:solidFill>
            <a:srgbClr val="FFF1F2"/>
          </a:solidFill>
          <a:ln/>
        </p:spPr>
      </p:sp>
      <p:sp>
        <p:nvSpPr>
          <p:cNvPr id="14" name="Shape 12"/>
          <p:cNvSpPr/>
          <p:nvPr/>
        </p:nvSpPr>
        <p:spPr>
          <a:xfrm>
            <a:off x="466344" y="2334463"/>
            <a:ext cx="643920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Shape 13"/>
          <p:cNvSpPr/>
          <p:nvPr/>
        </p:nvSpPr>
        <p:spPr>
          <a:xfrm>
            <a:off x="466344" y="2337206"/>
            <a:ext cx="6439205" cy="400507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6" name="Shape 14"/>
          <p:cNvSpPr/>
          <p:nvPr/>
        </p:nvSpPr>
        <p:spPr>
          <a:xfrm>
            <a:off x="466344" y="2728570"/>
            <a:ext cx="2581351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Shape 15"/>
          <p:cNvSpPr/>
          <p:nvPr/>
        </p:nvSpPr>
        <p:spPr>
          <a:xfrm>
            <a:off x="3039466" y="2728570"/>
            <a:ext cx="1933956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Shape 16"/>
          <p:cNvSpPr/>
          <p:nvPr/>
        </p:nvSpPr>
        <p:spPr>
          <a:xfrm>
            <a:off x="4969764" y="2728570"/>
            <a:ext cx="972007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9" name="Shape 17"/>
          <p:cNvSpPr/>
          <p:nvPr/>
        </p:nvSpPr>
        <p:spPr>
          <a:xfrm>
            <a:off x="5934456" y="2728570"/>
            <a:ext cx="972007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Shape 18"/>
          <p:cNvSpPr/>
          <p:nvPr/>
        </p:nvSpPr>
        <p:spPr>
          <a:xfrm>
            <a:off x="466344" y="3123590"/>
            <a:ext cx="2581351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Shape 19"/>
          <p:cNvSpPr/>
          <p:nvPr/>
        </p:nvSpPr>
        <p:spPr>
          <a:xfrm>
            <a:off x="3039466" y="3123590"/>
            <a:ext cx="1933956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Shape 20"/>
          <p:cNvSpPr/>
          <p:nvPr/>
        </p:nvSpPr>
        <p:spPr>
          <a:xfrm>
            <a:off x="4969764" y="3123590"/>
            <a:ext cx="972007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Shape 21"/>
          <p:cNvSpPr/>
          <p:nvPr/>
        </p:nvSpPr>
        <p:spPr>
          <a:xfrm>
            <a:off x="5934456" y="3123590"/>
            <a:ext cx="972007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Shape 22"/>
          <p:cNvSpPr/>
          <p:nvPr/>
        </p:nvSpPr>
        <p:spPr>
          <a:xfrm>
            <a:off x="466344" y="3126334"/>
            <a:ext cx="6439205" cy="400507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5" name="Shape 23"/>
          <p:cNvSpPr/>
          <p:nvPr/>
        </p:nvSpPr>
        <p:spPr>
          <a:xfrm>
            <a:off x="466344" y="3517697"/>
            <a:ext cx="2581351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Shape 24"/>
          <p:cNvSpPr/>
          <p:nvPr/>
        </p:nvSpPr>
        <p:spPr>
          <a:xfrm>
            <a:off x="3039466" y="3517697"/>
            <a:ext cx="1933956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7" name="Shape 25"/>
          <p:cNvSpPr/>
          <p:nvPr/>
        </p:nvSpPr>
        <p:spPr>
          <a:xfrm>
            <a:off x="4969764" y="3517697"/>
            <a:ext cx="972007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Shape 26"/>
          <p:cNvSpPr/>
          <p:nvPr/>
        </p:nvSpPr>
        <p:spPr>
          <a:xfrm>
            <a:off x="5934456" y="3517697"/>
            <a:ext cx="972007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9" name="Shape 27"/>
          <p:cNvSpPr/>
          <p:nvPr/>
        </p:nvSpPr>
        <p:spPr>
          <a:xfrm>
            <a:off x="466344" y="3520440"/>
            <a:ext cx="6439205" cy="400507"/>
          </a:xfrm>
          <a:prstGeom prst="rect">
            <a:avLst/>
          </a:prstGeom>
          <a:solidFill>
            <a:srgbClr val="FFF1F2"/>
          </a:solidFill>
          <a:ln/>
        </p:spPr>
      </p:sp>
      <p:sp>
        <p:nvSpPr>
          <p:cNvPr id="30" name="Shape 28"/>
          <p:cNvSpPr/>
          <p:nvPr/>
        </p:nvSpPr>
        <p:spPr>
          <a:xfrm>
            <a:off x="466344" y="3911803"/>
            <a:ext cx="643920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1" name="Shape 29"/>
          <p:cNvSpPr/>
          <p:nvPr/>
        </p:nvSpPr>
        <p:spPr>
          <a:xfrm>
            <a:off x="466344" y="3915461"/>
            <a:ext cx="6439205" cy="400507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2" name="Shape 30"/>
          <p:cNvSpPr/>
          <p:nvPr/>
        </p:nvSpPr>
        <p:spPr>
          <a:xfrm>
            <a:off x="466344" y="4306824"/>
            <a:ext cx="2581351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3" name="Shape 31"/>
          <p:cNvSpPr/>
          <p:nvPr/>
        </p:nvSpPr>
        <p:spPr>
          <a:xfrm>
            <a:off x="3039466" y="4306824"/>
            <a:ext cx="1933956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Shape 32"/>
          <p:cNvSpPr/>
          <p:nvPr/>
        </p:nvSpPr>
        <p:spPr>
          <a:xfrm>
            <a:off x="4969764" y="4306824"/>
            <a:ext cx="972007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5" name="Shape 33"/>
          <p:cNvSpPr/>
          <p:nvPr/>
        </p:nvSpPr>
        <p:spPr>
          <a:xfrm>
            <a:off x="5934456" y="4306824"/>
            <a:ext cx="972007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Shape 34"/>
          <p:cNvSpPr/>
          <p:nvPr/>
        </p:nvSpPr>
        <p:spPr>
          <a:xfrm>
            <a:off x="466344" y="4700930"/>
            <a:ext cx="2581351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7" name="Shape 35"/>
          <p:cNvSpPr/>
          <p:nvPr/>
        </p:nvSpPr>
        <p:spPr>
          <a:xfrm>
            <a:off x="3039466" y="4700930"/>
            <a:ext cx="1933956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8" name="Shape 36"/>
          <p:cNvSpPr/>
          <p:nvPr/>
        </p:nvSpPr>
        <p:spPr>
          <a:xfrm>
            <a:off x="4969764" y="4700930"/>
            <a:ext cx="972007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9" name="Shape 37"/>
          <p:cNvSpPr/>
          <p:nvPr/>
        </p:nvSpPr>
        <p:spPr>
          <a:xfrm>
            <a:off x="5934456" y="4700930"/>
            <a:ext cx="972007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0" name="Shape 38"/>
          <p:cNvSpPr/>
          <p:nvPr/>
        </p:nvSpPr>
        <p:spPr>
          <a:xfrm>
            <a:off x="466344" y="4703674"/>
            <a:ext cx="6439205" cy="400507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1" name="Shape 39"/>
          <p:cNvSpPr/>
          <p:nvPr/>
        </p:nvSpPr>
        <p:spPr>
          <a:xfrm>
            <a:off x="466344" y="5095037"/>
            <a:ext cx="2581351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Shape 40"/>
          <p:cNvSpPr/>
          <p:nvPr/>
        </p:nvSpPr>
        <p:spPr>
          <a:xfrm>
            <a:off x="3039466" y="5095037"/>
            <a:ext cx="1933956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3" name="Shape 41"/>
          <p:cNvSpPr/>
          <p:nvPr/>
        </p:nvSpPr>
        <p:spPr>
          <a:xfrm>
            <a:off x="4969764" y="5095037"/>
            <a:ext cx="972007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4" name="Shape 42"/>
          <p:cNvSpPr/>
          <p:nvPr/>
        </p:nvSpPr>
        <p:spPr>
          <a:xfrm>
            <a:off x="5934456" y="5095037"/>
            <a:ext cx="972007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5" name="Shape 43"/>
          <p:cNvSpPr/>
          <p:nvPr/>
        </p:nvSpPr>
        <p:spPr>
          <a:xfrm>
            <a:off x="466344" y="5490058"/>
            <a:ext cx="2581351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6" name="Shape 44"/>
          <p:cNvSpPr/>
          <p:nvPr/>
        </p:nvSpPr>
        <p:spPr>
          <a:xfrm>
            <a:off x="3039466" y="5490058"/>
            <a:ext cx="1933956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7" name="Shape 45"/>
          <p:cNvSpPr/>
          <p:nvPr/>
        </p:nvSpPr>
        <p:spPr>
          <a:xfrm>
            <a:off x="4969764" y="5490058"/>
            <a:ext cx="972007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8" name="Shape 46"/>
          <p:cNvSpPr/>
          <p:nvPr/>
        </p:nvSpPr>
        <p:spPr>
          <a:xfrm>
            <a:off x="5934456" y="5490058"/>
            <a:ext cx="972007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9" name="Shape 47"/>
          <p:cNvSpPr/>
          <p:nvPr/>
        </p:nvSpPr>
        <p:spPr>
          <a:xfrm>
            <a:off x="466344" y="5492801"/>
            <a:ext cx="6439205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0" name="Shape 48"/>
          <p:cNvSpPr/>
          <p:nvPr/>
        </p:nvSpPr>
        <p:spPr>
          <a:xfrm>
            <a:off x="457200" y="6695237"/>
            <a:ext cx="6458407" cy="1114654"/>
          </a:xfrm>
          <a:prstGeom prst="roundRect">
            <a:avLst>
              <a:gd name="adj" fmla="val 5609"/>
            </a:avLst>
          </a:prstGeom>
          <a:solidFill>
            <a:srgbClr val="8B1538">
              <a:alpha val="5000"/>
            </a:srgbClr>
          </a:solidFill>
          <a:ln w="12700">
            <a:solidFill>
              <a:srgbClr val="8B1538"/>
            </a:solidFill>
            <a:prstDash val="solid"/>
          </a:ln>
        </p:spPr>
      </p:sp>
      <p:pic>
        <p:nvPicPr>
          <p:cNvPr id="5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9049" y="6894576"/>
            <a:ext cx="171907" cy="171907"/>
          </a:xfrm>
          <a:prstGeom prst="rect">
            <a:avLst/>
          </a:prstGeom>
        </p:spPr>
      </p:pic>
      <p:sp>
        <p:nvSpPr>
          <p:cNvPr id="52" name="Shape 49"/>
          <p:cNvSpPr/>
          <p:nvPr/>
        </p:nvSpPr>
        <p:spPr>
          <a:xfrm>
            <a:off x="7213702" y="1571854"/>
            <a:ext cx="2190902" cy="819302"/>
          </a:xfrm>
          <a:prstGeom prst="roundRect">
            <a:avLst>
              <a:gd name="adj" fmla="val 103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53" name="Shape 50"/>
          <p:cNvSpPr/>
          <p:nvPr/>
        </p:nvSpPr>
        <p:spPr>
          <a:xfrm>
            <a:off x="7213702" y="1571854"/>
            <a:ext cx="38405" cy="819302"/>
          </a:xfrm>
          <a:prstGeom prst="rect">
            <a:avLst/>
          </a:prstGeom>
          <a:solidFill>
            <a:srgbClr val="8B1538"/>
          </a:solidFill>
          <a:ln/>
        </p:spPr>
      </p:sp>
      <p:sp>
        <p:nvSpPr>
          <p:cNvPr id="54" name="Shape 51"/>
          <p:cNvSpPr/>
          <p:nvPr/>
        </p:nvSpPr>
        <p:spPr>
          <a:xfrm>
            <a:off x="7960766" y="2048256"/>
            <a:ext cx="647395" cy="190195"/>
          </a:xfrm>
          <a:prstGeom prst="roundRect">
            <a:avLst>
              <a:gd name="adj" fmla="val 480770"/>
            </a:avLst>
          </a:prstGeom>
          <a:solidFill>
            <a:srgbClr val="D1FAE5"/>
          </a:solidFill>
          <a:ln/>
        </p:spPr>
      </p:sp>
      <p:sp>
        <p:nvSpPr>
          <p:cNvPr id="55" name="Shape 52"/>
          <p:cNvSpPr/>
          <p:nvPr/>
        </p:nvSpPr>
        <p:spPr>
          <a:xfrm>
            <a:off x="9549994" y="1571854"/>
            <a:ext cx="2190902" cy="819302"/>
          </a:xfrm>
          <a:prstGeom prst="roundRect">
            <a:avLst>
              <a:gd name="adj" fmla="val 103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56" name="Shape 53"/>
          <p:cNvSpPr/>
          <p:nvPr/>
        </p:nvSpPr>
        <p:spPr>
          <a:xfrm>
            <a:off x="9549994" y="1571854"/>
            <a:ext cx="38405" cy="819302"/>
          </a:xfrm>
          <a:prstGeom prst="rect">
            <a:avLst/>
          </a:prstGeom>
          <a:solidFill>
            <a:srgbClr val="8B1538"/>
          </a:solidFill>
          <a:ln/>
        </p:spPr>
      </p:sp>
      <p:sp>
        <p:nvSpPr>
          <p:cNvPr id="57" name="Shape 54"/>
          <p:cNvSpPr/>
          <p:nvPr/>
        </p:nvSpPr>
        <p:spPr>
          <a:xfrm>
            <a:off x="7213702" y="5429707"/>
            <a:ext cx="4524451" cy="2381098"/>
          </a:xfrm>
          <a:prstGeom prst="roundRect">
            <a:avLst>
              <a:gd name="adj" fmla="val 1229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58" name="Image 1" descr="preencoded.png">    </p:cNvPr>
          <p:cNvPicPr>
            <a:picLocks noChangeAspect="1"/>
          </p:cNvPicPr>
          <p:nvPr/>
        </p:nvPicPr>
        <p:blipFill>
          <a:blip r:embed="rId2"/>
          <a:srcRect l="-1507" r="-1507" t="0" b="0"/>
          <a:stretch/>
        </p:blipFill>
        <p:spPr>
          <a:xfrm>
            <a:off x="7413955" y="5658307"/>
            <a:ext cx="171907" cy="133502"/>
          </a:xfrm>
          <a:prstGeom prst="rect">
            <a:avLst/>
          </a:prstGeom>
        </p:spPr>
      </p:pic>
      <p:sp>
        <p:nvSpPr>
          <p:cNvPr id="59" name="Text 55"/>
          <p:cNvSpPr txBox="1"/>
          <p:nvPr/>
        </p:nvSpPr>
        <p:spPr>
          <a:xfrm>
            <a:off x="7660843" y="5629046"/>
            <a:ext cx="19385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Principes de Gouvernance</a:t>
            </a:r>
            <a:endParaRPr lang="en-US" sz="1000" dirty="0"/>
          </a:p>
        </p:txBody>
      </p:sp>
      <p:sp>
        <p:nvSpPr>
          <p:cNvPr id="60" name="Text 56"/>
          <p:cNvSpPr txBox="1"/>
          <p:nvPr/>
        </p:nvSpPr>
        <p:spPr>
          <a:xfrm>
            <a:off x="685800" y="599846"/>
            <a:ext cx="3995928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SYNTHÈSE DES EFFECTIFS</a:t>
            </a:r>
            <a:endParaRPr lang="en-US" sz="2200" dirty="0"/>
          </a:p>
        </p:txBody>
      </p:sp>
      <p:sp>
        <p:nvSpPr>
          <p:cNvPr id="61" name="Text 57"/>
          <p:cNvSpPr txBox="1"/>
          <p:nvPr/>
        </p:nvSpPr>
        <p:spPr>
          <a:xfrm>
            <a:off x="685800" y="1009498"/>
            <a:ext cx="42912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Répartition Consolidée et Principes de Gouvernance</a:t>
            </a:r>
            <a:endParaRPr lang="en-US" sz="1300" dirty="0"/>
          </a:p>
        </p:txBody>
      </p:sp>
      <p:sp>
        <p:nvSpPr>
          <p:cNvPr id="62" name="Text 58"/>
          <p:cNvSpPr txBox="1"/>
          <p:nvPr/>
        </p:nvSpPr>
        <p:spPr>
          <a:xfrm>
            <a:off x="609905" y="1676095"/>
            <a:ext cx="7909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STRUCTURE</a:t>
            </a:r>
            <a:endParaRPr lang="en-US" sz="900" dirty="0"/>
          </a:p>
        </p:txBody>
      </p:sp>
      <p:sp>
        <p:nvSpPr>
          <p:cNvPr id="63" name="Text 59"/>
          <p:cNvSpPr txBox="1"/>
          <p:nvPr/>
        </p:nvSpPr>
        <p:spPr>
          <a:xfrm>
            <a:off x="3182112" y="1676095"/>
            <a:ext cx="571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NATURE</a:t>
            </a:r>
            <a:endParaRPr lang="en-US" sz="900" dirty="0"/>
          </a:p>
        </p:txBody>
      </p:sp>
      <p:sp>
        <p:nvSpPr>
          <p:cNvPr id="64" name="Text 60"/>
          <p:cNvSpPr txBox="1"/>
          <p:nvPr/>
        </p:nvSpPr>
        <p:spPr>
          <a:xfrm>
            <a:off x="5112410" y="1676095"/>
            <a:ext cx="5532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CADRES</a:t>
            </a:r>
            <a:endParaRPr lang="en-US" sz="900" dirty="0"/>
          </a:p>
        </p:txBody>
      </p:sp>
      <p:sp>
        <p:nvSpPr>
          <p:cNvPr id="65" name="Text 61"/>
          <p:cNvSpPr txBox="1"/>
          <p:nvPr/>
        </p:nvSpPr>
        <p:spPr>
          <a:xfrm>
            <a:off x="6077102" y="1676095"/>
            <a:ext cx="4764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</a:t>
            </a:r>
            <a:endParaRPr lang="en-US" sz="900" dirty="0"/>
          </a:p>
        </p:txBody>
      </p:sp>
      <p:pic>
        <p:nvPicPr>
          <p:cNvPr id="6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2644" b="-2644"/>
          <a:stretch/>
        </p:blipFill>
        <p:spPr>
          <a:xfrm>
            <a:off x="609905" y="2063801"/>
            <a:ext cx="95098" cy="133502"/>
          </a:xfrm>
          <a:prstGeom prst="rect">
            <a:avLst/>
          </a:prstGeom>
        </p:spPr>
      </p:pic>
      <p:sp>
        <p:nvSpPr>
          <p:cNvPr id="67" name="Text 62"/>
          <p:cNvSpPr txBox="1"/>
          <p:nvPr/>
        </p:nvSpPr>
        <p:spPr>
          <a:xfrm>
            <a:off x="780898" y="2038198"/>
            <a:ext cx="189738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NIVEAU GROUPE (HOLDING)</a:t>
            </a:r>
            <a:endParaRPr lang="en-US" sz="1000" dirty="0"/>
          </a:p>
        </p:txBody>
      </p:sp>
      <p:sp>
        <p:nvSpPr>
          <p:cNvPr id="68" name="Text 63"/>
          <p:cNvSpPr txBox="1"/>
          <p:nvPr/>
        </p:nvSpPr>
        <p:spPr>
          <a:xfrm>
            <a:off x="609905" y="2432304"/>
            <a:ext cx="114574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Direction Groupe</a:t>
            </a:r>
            <a:endParaRPr lang="en-US" sz="1000" dirty="0"/>
          </a:p>
        </p:txBody>
      </p:sp>
      <p:sp>
        <p:nvSpPr>
          <p:cNvPr id="69" name="Text 64"/>
          <p:cNvSpPr txBox="1"/>
          <p:nvPr/>
        </p:nvSpPr>
        <p:spPr>
          <a:xfrm>
            <a:off x="3182112" y="2432304"/>
            <a:ext cx="90708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Gouvernance</a:t>
            </a:r>
            <a:endParaRPr lang="en-US" sz="1000" dirty="0"/>
          </a:p>
        </p:txBody>
      </p:sp>
      <p:sp>
        <p:nvSpPr>
          <p:cNvPr id="70" name="Text 65"/>
          <p:cNvSpPr txBox="1"/>
          <p:nvPr/>
        </p:nvSpPr>
        <p:spPr>
          <a:xfrm>
            <a:off x="5415077" y="2432304"/>
            <a:ext cx="17373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000" dirty="0"/>
          </a:p>
        </p:txBody>
      </p:sp>
      <p:sp>
        <p:nvSpPr>
          <p:cNvPr id="71" name="Text 66"/>
          <p:cNvSpPr txBox="1"/>
          <p:nvPr/>
        </p:nvSpPr>
        <p:spPr>
          <a:xfrm>
            <a:off x="6379769" y="2432304"/>
            <a:ext cx="17373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000" dirty="0"/>
          </a:p>
        </p:txBody>
      </p:sp>
      <p:sp>
        <p:nvSpPr>
          <p:cNvPr id="72" name="Text 67"/>
          <p:cNvSpPr txBox="1"/>
          <p:nvPr/>
        </p:nvSpPr>
        <p:spPr>
          <a:xfrm>
            <a:off x="609905" y="2827325"/>
            <a:ext cx="120243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Fonctions Support</a:t>
            </a:r>
            <a:endParaRPr lang="en-US" sz="1000" dirty="0"/>
          </a:p>
        </p:txBody>
      </p:sp>
      <p:sp>
        <p:nvSpPr>
          <p:cNvPr id="73" name="Text 68"/>
          <p:cNvSpPr txBox="1"/>
          <p:nvPr/>
        </p:nvSpPr>
        <p:spPr>
          <a:xfrm>
            <a:off x="3182112" y="2827325"/>
            <a:ext cx="114574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Admin &amp; Support</a:t>
            </a:r>
            <a:endParaRPr lang="en-US" sz="1000" dirty="0"/>
          </a:p>
        </p:txBody>
      </p:sp>
      <p:sp>
        <p:nvSpPr>
          <p:cNvPr id="74" name="Text 69"/>
          <p:cNvSpPr txBox="1"/>
          <p:nvPr/>
        </p:nvSpPr>
        <p:spPr>
          <a:xfrm>
            <a:off x="5415077" y="2827325"/>
            <a:ext cx="17373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</a:t>
            </a:r>
            <a:endParaRPr lang="en-US" sz="1000" dirty="0"/>
          </a:p>
        </p:txBody>
      </p:sp>
      <p:sp>
        <p:nvSpPr>
          <p:cNvPr id="75" name="Text 70"/>
          <p:cNvSpPr txBox="1"/>
          <p:nvPr/>
        </p:nvSpPr>
        <p:spPr>
          <a:xfrm>
            <a:off x="6379769" y="2827325"/>
            <a:ext cx="17373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</a:t>
            </a:r>
            <a:endParaRPr lang="en-US" sz="1000" dirty="0"/>
          </a:p>
        </p:txBody>
      </p:sp>
      <p:sp>
        <p:nvSpPr>
          <p:cNvPr id="76" name="Text 71"/>
          <p:cNvSpPr txBox="1"/>
          <p:nvPr/>
        </p:nvSpPr>
        <p:spPr>
          <a:xfrm>
            <a:off x="609905" y="3221431"/>
            <a:ext cx="106893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Dév. &amp; Stratégie</a:t>
            </a:r>
            <a:endParaRPr lang="en-US" sz="1000" dirty="0"/>
          </a:p>
        </p:txBody>
      </p:sp>
      <p:sp>
        <p:nvSpPr>
          <p:cNvPr id="77" name="Text 72"/>
          <p:cNvSpPr txBox="1"/>
          <p:nvPr/>
        </p:nvSpPr>
        <p:spPr>
          <a:xfrm>
            <a:off x="3182112" y="3221431"/>
            <a:ext cx="64099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Stratégie</a:t>
            </a:r>
            <a:endParaRPr lang="en-US" sz="1000" dirty="0"/>
          </a:p>
        </p:txBody>
      </p:sp>
      <p:sp>
        <p:nvSpPr>
          <p:cNvPr id="78" name="Text 73"/>
          <p:cNvSpPr txBox="1"/>
          <p:nvPr/>
        </p:nvSpPr>
        <p:spPr>
          <a:xfrm>
            <a:off x="5415077" y="3221431"/>
            <a:ext cx="17373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1000" dirty="0"/>
          </a:p>
        </p:txBody>
      </p:sp>
      <p:sp>
        <p:nvSpPr>
          <p:cNvPr id="79" name="Text 74"/>
          <p:cNvSpPr txBox="1"/>
          <p:nvPr/>
        </p:nvSpPr>
        <p:spPr>
          <a:xfrm>
            <a:off x="6379769" y="3221431"/>
            <a:ext cx="17373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1000" dirty="0"/>
          </a:p>
        </p:txBody>
      </p:sp>
      <p:pic>
        <p:nvPicPr>
          <p:cNvPr id="8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2644" b="-2644"/>
          <a:stretch/>
        </p:blipFill>
        <p:spPr>
          <a:xfrm>
            <a:off x="609905" y="3641141"/>
            <a:ext cx="142646" cy="133502"/>
          </a:xfrm>
          <a:prstGeom prst="rect">
            <a:avLst/>
          </a:prstGeom>
        </p:spPr>
      </p:pic>
      <p:sp>
        <p:nvSpPr>
          <p:cNvPr id="81" name="Text 75"/>
          <p:cNvSpPr txBox="1"/>
          <p:nvPr/>
        </p:nvSpPr>
        <p:spPr>
          <a:xfrm>
            <a:off x="828446" y="3615538"/>
            <a:ext cx="187909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ENTITÉS OPÉRATIONNELLES</a:t>
            </a:r>
            <a:endParaRPr lang="en-US" sz="1000" dirty="0"/>
          </a:p>
        </p:txBody>
      </p:sp>
      <p:sp>
        <p:nvSpPr>
          <p:cNvPr id="82" name="Text 76"/>
          <p:cNvSpPr txBox="1"/>
          <p:nvPr/>
        </p:nvSpPr>
        <p:spPr>
          <a:xfrm>
            <a:off x="609905" y="4010558"/>
            <a:ext cx="63093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RIC SARL</a:t>
            </a:r>
            <a:endParaRPr lang="en-US" sz="1000" dirty="0"/>
          </a:p>
        </p:txBody>
      </p:sp>
      <p:sp>
        <p:nvSpPr>
          <p:cNvPr id="83" name="Text 77"/>
          <p:cNvSpPr txBox="1"/>
          <p:nvPr/>
        </p:nvSpPr>
        <p:spPr>
          <a:xfrm>
            <a:off x="3182112" y="4010558"/>
            <a:ext cx="5449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Conseil</a:t>
            </a:r>
            <a:endParaRPr lang="en-US" sz="1000" dirty="0"/>
          </a:p>
        </p:txBody>
      </p:sp>
      <p:sp>
        <p:nvSpPr>
          <p:cNvPr id="84" name="Text 78"/>
          <p:cNvSpPr txBox="1"/>
          <p:nvPr/>
        </p:nvSpPr>
        <p:spPr>
          <a:xfrm>
            <a:off x="5377586" y="4010558"/>
            <a:ext cx="24963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37</a:t>
            </a:r>
            <a:endParaRPr lang="en-US" sz="1000" dirty="0"/>
          </a:p>
        </p:txBody>
      </p:sp>
      <p:sp>
        <p:nvSpPr>
          <p:cNvPr id="85" name="Text 79"/>
          <p:cNvSpPr txBox="1"/>
          <p:nvPr/>
        </p:nvSpPr>
        <p:spPr>
          <a:xfrm>
            <a:off x="6342278" y="4010558"/>
            <a:ext cx="24963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37</a:t>
            </a:r>
            <a:endParaRPr lang="en-US" sz="1000" dirty="0"/>
          </a:p>
        </p:txBody>
      </p:sp>
      <p:sp>
        <p:nvSpPr>
          <p:cNvPr id="86" name="Text 80"/>
          <p:cNvSpPr txBox="1"/>
          <p:nvPr/>
        </p:nvSpPr>
        <p:spPr>
          <a:xfrm>
            <a:off x="609905" y="4404665"/>
            <a:ext cx="78364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RISHOM BF</a:t>
            </a:r>
            <a:endParaRPr lang="en-US" sz="1000" dirty="0"/>
          </a:p>
        </p:txBody>
      </p:sp>
      <p:sp>
        <p:nvSpPr>
          <p:cNvPr id="87" name="Text 81"/>
          <p:cNvSpPr txBox="1"/>
          <p:nvPr/>
        </p:nvSpPr>
        <p:spPr>
          <a:xfrm>
            <a:off x="3182112" y="4404665"/>
            <a:ext cx="7644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Commerce</a:t>
            </a:r>
            <a:endParaRPr lang="en-US" sz="1000" dirty="0"/>
          </a:p>
        </p:txBody>
      </p:sp>
      <p:sp>
        <p:nvSpPr>
          <p:cNvPr id="88" name="Text 82"/>
          <p:cNvSpPr txBox="1"/>
          <p:nvPr/>
        </p:nvSpPr>
        <p:spPr>
          <a:xfrm>
            <a:off x="5377586" y="4404665"/>
            <a:ext cx="24963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40</a:t>
            </a:r>
            <a:endParaRPr lang="en-US" sz="1000" dirty="0"/>
          </a:p>
        </p:txBody>
      </p:sp>
      <p:sp>
        <p:nvSpPr>
          <p:cNvPr id="89" name="Text 83"/>
          <p:cNvSpPr txBox="1"/>
          <p:nvPr/>
        </p:nvSpPr>
        <p:spPr>
          <a:xfrm>
            <a:off x="6305702" y="4404665"/>
            <a:ext cx="32644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110</a:t>
            </a:r>
            <a:endParaRPr lang="en-US" sz="1000" dirty="0"/>
          </a:p>
        </p:txBody>
      </p:sp>
      <p:sp>
        <p:nvSpPr>
          <p:cNvPr id="90" name="Text 84"/>
          <p:cNvSpPr txBox="1"/>
          <p:nvPr/>
        </p:nvSpPr>
        <p:spPr>
          <a:xfrm>
            <a:off x="609905" y="4798771"/>
            <a:ext cx="86959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Société REV'I</a:t>
            </a:r>
            <a:endParaRPr lang="en-US" sz="1000" dirty="0"/>
          </a:p>
        </p:txBody>
      </p:sp>
      <p:sp>
        <p:nvSpPr>
          <p:cNvPr id="91" name="Text 85"/>
          <p:cNvSpPr txBox="1"/>
          <p:nvPr/>
        </p:nvSpPr>
        <p:spPr>
          <a:xfrm>
            <a:off x="3182112" y="4798771"/>
            <a:ext cx="91714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Agrobusiness</a:t>
            </a:r>
            <a:endParaRPr lang="en-US" sz="1000" dirty="0"/>
          </a:p>
        </p:txBody>
      </p:sp>
      <p:sp>
        <p:nvSpPr>
          <p:cNvPr id="92" name="Text 86"/>
          <p:cNvSpPr txBox="1"/>
          <p:nvPr/>
        </p:nvSpPr>
        <p:spPr>
          <a:xfrm>
            <a:off x="5415077" y="4798771"/>
            <a:ext cx="17373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</a:t>
            </a:r>
            <a:endParaRPr lang="en-US" sz="1000" dirty="0"/>
          </a:p>
        </p:txBody>
      </p:sp>
      <p:sp>
        <p:nvSpPr>
          <p:cNvPr id="93" name="Text 87"/>
          <p:cNvSpPr txBox="1"/>
          <p:nvPr/>
        </p:nvSpPr>
        <p:spPr>
          <a:xfrm>
            <a:off x="6342278" y="4798771"/>
            <a:ext cx="24963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22</a:t>
            </a:r>
            <a:endParaRPr lang="en-US" sz="1000" dirty="0"/>
          </a:p>
        </p:txBody>
      </p:sp>
      <p:sp>
        <p:nvSpPr>
          <p:cNvPr id="94" name="Text 88"/>
          <p:cNvSpPr txBox="1"/>
          <p:nvPr/>
        </p:nvSpPr>
        <p:spPr>
          <a:xfrm>
            <a:off x="609905" y="5193792"/>
            <a:ext cx="12216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Business Academy</a:t>
            </a:r>
            <a:endParaRPr lang="en-US" sz="1000" dirty="0"/>
          </a:p>
        </p:txBody>
      </p:sp>
      <p:sp>
        <p:nvSpPr>
          <p:cNvPr id="95" name="Text 89"/>
          <p:cNvSpPr txBox="1"/>
          <p:nvPr/>
        </p:nvSpPr>
        <p:spPr>
          <a:xfrm>
            <a:off x="3182112" y="5193792"/>
            <a:ext cx="72603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Formation</a:t>
            </a:r>
            <a:endParaRPr lang="en-US" sz="1000" dirty="0"/>
          </a:p>
        </p:txBody>
      </p:sp>
      <p:sp>
        <p:nvSpPr>
          <p:cNvPr id="96" name="Text 90"/>
          <p:cNvSpPr txBox="1"/>
          <p:nvPr/>
        </p:nvSpPr>
        <p:spPr>
          <a:xfrm>
            <a:off x="5377586" y="5193792"/>
            <a:ext cx="24963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</a:t>
            </a:r>
            <a:endParaRPr lang="en-US" sz="1000" dirty="0"/>
          </a:p>
        </p:txBody>
      </p:sp>
      <p:sp>
        <p:nvSpPr>
          <p:cNvPr id="97" name="Text 91"/>
          <p:cNvSpPr txBox="1"/>
          <p:nvPr/>
        </p:nvSpPr>
        <p:spPr>
          <a:xfrm>
            <a:off x="6342278" y="5193792"/>
            <a:ext cx="24963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17</a:t>
            </a:r>
            <a:endParaRPr lang="en-US" sz="1000" dirty="0"/>
          </a:p>
        </p:txBody>
      </p:sp>
      <p:sp>
        <p:nvSpPr>
          <p:cNvPr id="98" name="Text 92"/>
          <p:cNvSpPr txBox="1"/>
          <p:nvPr/>
        </p:nvSpPr>
        <p:spPr>
          <a:xfrm>
            <a:off x="609905" y="5607101"/>
            <a:ext cx="23390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GROUPE RISHOM</a:t>
            </a:r>
            <a:endParaRPr lang="en-US" sz="1300" dirty="0"/>
          </a:p>
        </p:txBody>
      </p:sp>
      <p:sp>
        <p:nvSpPr>
          <p:cNvPr id="99" name="Text 93"/>
          <p:cNvSpPr txBox="1"/>
          <p:nvPr/>
        </p:nvSpPr>
        <p:spPr>
          <a:xfrm>
            <a:off x="5304434" y="5607101"/>
            <a:ext cx="4242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110</a:t>
            </a:r>
            <a:endParaRPr lang="en-US" sz="1300" dirty="0"/>
          </a:p>
        </p:txBody>
      </p:sp>
      <p:sp>
        <p:nvSpPr>
          <p:cNvPr id="100" name="Text 94"/>
          <p:cNvSpPr txBox="1"/>
          <p:nvPr/>
        </p:nvSpPr>
        <p:spPr>
          <a:xfrm>
            <a:off x="6220663" y="5607101"/>
            <a:ext cx="5294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~200</a:t>
            </a:r>
            <a:endParaRPr lang="en-US" sz="1300" dirty="0"/>
          </a:p>
        </p:txBody>
      </p:sp>
      <p:sp>
        <p:nvSpPr>
          <p:cNvPr id="101" name="Text 95"/>
          <p:cNvSpPr txBox="1"/>
          <p:nvPr/>
        </p:nvSpPr>
        <p:spPr>
          <a:xfrm>
            <a:off x="905256" y="6866230"/>
            <a:ext cx="153893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B15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Note sur les effectifs</a:t>
            </a:r>
            <a:endParaRPr lang="en-US" sz="1000" dirty="0"/>
          </a:p>
        </p:txBody>
      </p:sp>
      <p:sp>
        <p:nvSpPr>
          <p:cNvPr id="102" name="Text 96"/>
          <p:cNvSpPr txBox="1"/>
          <p:nvPr/>
        </p:nvSpPr>
        <p:spPr>
          <a:xfrm>
            <a:off x="905256" y="7094830"/>
            <a:ext cx="5800954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Les effectifs de RISHOM Burkina Faso incluent une estimation des équipes opérationnelles terrain (techniciens, chauffeurs, etc.). L'effectif global oscille entre 187 et 213 collaborateurs selon la saisonnalité et les projets.</a:t>
            </a:r>
            <a:endParaRPr lang="en-US" sz="900" dirty="0"/>
          </a:p>
        </p:txBody>
      </p:sp>
      <p:sp>
        <p:nvSpPr>
          <p:cNvPr id="103" name="Text 97"/>
          <p:cNvSpPr txBox="1"/>
          <p:nvPr/>
        </p:nvSpPr>
        <p:spPr>
          <a:xfrm>
            <a:off x="7394753" y="1705356"/>
            <a:ext cx="9052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CADRES</a:t>
            </a:r>
            <a:endParaRPr lang="en-US" sz="900" dirty="0"/>
          </a:p>
        </p:txBody>
      </p:sp>
      <p:sp>
        <p:nvSpPr>
          <p:cNvPr id="104" name="Text 98"/>
          <p:cNvSpPr txBox="1"/>
          <p:nvPr/>
        </p:nvSpPr>
        <p:spPr>
          <a:xfrm>
            <a:off x="7394753" y="1876349"/>
            <a:ext cx="710489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8B153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110</a:t>
            </a:r>
            <a:endParaRPr lang="en-US" sz="2200" dirty="0"/>
          </a:p>
        </p:txBody>
      </p:sp>
      <p:sp>
        <p:nvSpPr>
          <p:cNvPr id="105" name="Text 99"/>
          <p:cNvSpPr txBox="1"/>
          <p:nvPr/>
        </p:nvSpPr>
        <p:spPr>
          <a:xfrm>
            <a:off x="8037576" y="2057400"/>
            <a:ext cx="5815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Experts</a:t>
            </a:r>
            <a:endParaRPr lang="en-US" sz="900" dirty="0"/>
          </a:p>
        </p:txBody>
      </p:sp>
      <p:sp>
        <p:nvSpPr>
          <p:cNvPr id="106" name="Text 100"/>
          <p:cNvSpPr txBox="1"/>
          <p:nvPr/>
        </p:nvSpPr>
        <p:spPr>
          <a:xfrm>
            <a:off x="9731045" y="1705356"/>
            <a:ext cx="11146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COLLABORATEURS</a:t>
            </a:r>
            <a:endParaRPr lang="en-US" sz="900" dirty="0"/>
          </a:p>
        </p:txBody>
      </p:sp>
      <p:sp>
        <p:nvSpPr>
          <p:cNvPr id="107" name="Text 101"/>
          <p:cNvSpPr txBox="1"/>
          <p:nvPr/>
        </p:nvSpPr>
        <p:spPr>
          <a:xfrm>
            <a:off x="9731045" y="1876349"/>
            <a:ext cx="872338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~200</a:t>
            </a:r>
            <a:endParaRPr lang="en-US" sz="2200" dirty="0"/>
          </a:p>
        </p:txBody>
      </p:sp>
      <p:sp>
        <p:nvSpPr>
          <p:cNvPr id="108" name="Text 102"/>
          <p:cNvSpPr txBox="1"/>
          <p:nvPr/>
        </p:nvSpPr>
        <p:spPr>
          <a:xfrm>
            <a:off x="10460736" y="2057400"/>
            <a:ext cx="571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Est. 2025</a:t>
            </a:r>
            <a:endParaRPr lang="en-US" sz="900" dirty="0"/>
          </a:p>
        </p:txBody>
      </p:sp>
      <p:sp>
        <p:nvSpPr>
          <p:cNvPr id="109" name="Shape 103"/>
          <p:cNvSpPr/>
          <p:nvPr/>
        </p:nvSpPr>
        <p:spPr>
          <a:xfrm>
            <a:off x="7213702" y="2619756"/>
            <a:ext cx="4524451" cy="2581351"/>
          </a:xfrm>
          <a:prstGeom prst="roundRect">
            <a:avLst>
              <a:gd name="adj" fmla="val 104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110" name="Shape 104"/>
          <p:cNvSpPr/>
          <p:nvPr/>
        </p:nvSpPr>
        <p:spPr>
          <a:xfrm>
            <a:off x="7375550" y="3048610"/>
            <a:ext cx="4200754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11" name="Text 105"/>
          <p:cNvSpPr txBox="1"/>
          <p:nvPr/>
        </p:nvSpPr>
        <p:spPr>
          <a:xfrm>
            <a:off x="7375550" y="2790749"/>
            <a:ext cx="162488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Répartition par Entité</a:t>
            </a:r>
            <a:endParaRPr lang="en-US" sz="1000" dirty="0"/>
          </a:p>
        </p:txBody>
      </p:sp>
      <p:pic>
        <p:nvPicPr>
          <p:cNvPr id="112" name="Image 4" descr="preencoded.png">    </p:cNvPr>
          <p:cNvPicPr>
            <a:picLocks noChangeAspect="1"/>
          </p:cNvPicPr>
          <p:nvPr/>
        </p:nvPicPr>
        <p:blipFill>
          <a:blip r:embed="rId5"/>
          <a:srcRect l="-11" r="-11" t="0" b="0"/>
          <a:stretch/>
        </p:blipFill>
        <p:spPr>
          <a:xfrm>
            <a:off x="7375550" y="3133649"/>
            <a:ext cx="4200754" cy="1904695"/>
          </a:xfrm>
          <a:prstGeom prst="rect">
            <a:avLst/>
          </a:prstGeom>
        </p:spPr>
      </p:pic>
      <p:sp>
        <p:nvSpPr>
          <p:cNvPr id="113" name="Text 106"/>
          <p:cNvSpPr txBox="1"/>
          <p:nvPr/>
        </p:nvSpPr>
        <p:spPr>
          <a:xfrm>
            <a:off x="7604150" y="5924398"/>
            <a:ext cx="401604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Autonomie Opérationnelle : Chaque entité dispose de son propre DG pour la gestion quotidienne.</a:t>
            </a:r>
            <a:endParaRPr lang="en-US" sz="900" dirty="0"/>
          </a:p>
        </p:txBody>
      </p:sp>
      <p:sp>
        <p:nvSpPr>
          <p:cNvPr id="114" name="Text 107"/>
          <p:cNvSpPr txBox="1"/>
          <p:nvPr/>
        </p:nvSpPr>
        <p:spPr>
          <a:xfrm>
            <a:off x="7604150" y="6342278"/>
            <a:ext cx="390174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Coordination Stratégique : La Direction Groupe assure l'alignement et les arbitrages majeurs.</a:t>
            </a:r>
            <a:endParaRPr lang="en-US" sz="900" dirty="0"/>
          </a:p>
        </p:txBody>
      </p:sp>
      <p:sp>
        <p:nvSpPr>
          <p:cNvPr id="115" name="Text 108"/>
          <p:cNvSpPr txBox="1"/>
          <p:nvPr/>
        </p:nvSpPr>
        <p:spPr>
          <a:xfrm>
            <a:off x="7604150" y="6760159"/>
            <a:ext cx="394929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Mutualisation : Fonctions support (RH, IT, Finance) centralisées pour optimiser les coûts.</a:t>
            </a:r>
            <a:endParaRPr lang="en-US" sz="900" dirty="0"/>
          </a:p>
        </p:txBody>
      </p:sp>
      <p:sp>
        <p:nvSpPr>
          <p:cNvPr id="116" name="Text 109"/>
          <p:cNvSpPr txBox="1"/>
          <p:nvPr/>
        </p:nvSpPr>
        <p:spPr>
          <a:xfrm>
            <a:off x="7604150" y="7177126"/>
            <a:ext cx="39684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Reporting Consolidé : Remontée mensuelle des KPIs vers le Contrôle de Gestion Groupe.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15707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1570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8B1538"/>
          </a:solidFill>
          <a:ln/>
        </p:spPr>
      </p:sp>
      <p:sp>
        <p:nvSpPr>
          <p:cNvPr id="5" name="Shape 3"/>
          <p:cNvSpPr/>
          <p:nvPr/>
        </p:nvSpPr>
        <p:spPr>
          <a:xfrm>
            <a:off x="5639105" y="1429207"/>
            <a:ext cx="914400" cy="38405"/>
          </a:xfrm>
          <a:prstGeom prst="roundRect">
            <a:avLst>
              <a:gd name="adj" fmla="val 2380940"/>
            </a:avLst>
          </a:prstGeom>
          <a:solidFill>
            <a:srgbClr val="8B1538"/>
          </a:solidFill>
          <a:ln/>
        </p:spPr>
      </p:sp>
      <p:sp>
        <p:nvSpPr>
          <p:cNvPr id="6" name="Shape 4"/>
          <p:cNvSpPr/>
          <p:nvPr/>
        </p:nvSpPr>
        <p:spPr>
          <a:xfrm>
            <a:off x="5289804" y="488290"/>
            <a:ext cx="1638605" cy="228600"/>
          </a:xfrm>
          <a:prstGeom prst="roundRect">
            <a:avLst>
              <a:gd name="adj" fmla="val 400000"/>
            </a:avLst>
          </a:prstGeom>
          <a:solidFill>
            <a:srgbClr val="8B1538">
              <a:alpha val="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04104" y="517550"/>
            <a:ext cx="14959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153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VISION STRATÉGIQUE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2745943" y="859536"/>
            <a:ext cx="696315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PROJECTIONS 2026-2030 &amp; CONTACTS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609905" y="1848002"/>
            <a:ext cx="3457346" cy="2628900"/>
          </a:xfrm>
          <a:prstGeom prst="roundRect">
            <a:avLst>
              <a:gd name="adj" fmla="val 15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09905" y="1848002"/>
            <a:ext cx="3457346" cy="38405"/>
          </a:xfrm>
          <a:prstGeom prst="rect">
            <a:avLst/>
          </a:prstGeom>
          <a:solidFill>
            <a:srgbClr val="8B1538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alphaModFix amt="5000"/>
          </a:blip>
          <a:srcRect l="-47" r="-47" t="0" b="0"/>
          <a:stretch/>
        </p:blipFill>
        <p:spPr>
          <a:xfrm>
            <a:off x="3301898" y="1790395"/>
            <a:ext cx="857707" cy="761695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838505" y="2115007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8B1538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52805" y="2229307"/>
            <a:ext cx="152705" cy="15270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333195" y="2200046"/>
            <a:ext cx="126278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RIC (Conseil)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8505" y="2648102"/>
            <a:ext cx="105156" cy="114300"/>
          </a:xfrm>
          <a:prstGeom prst="ellipse">
            <a:avLst/>
          </a:prstGeom>
          <a:solidFill>
            <a:srgbClr val="8B1538"/>
          </a:solidFill>
          <a:ln/>
        </p:spPr>
      </p:sp>
      <p:sp>
        <p:nvSpPr>
          <p:cNvPr id="16" name="Shape 12"/>
          <p:cNvSpPr/>
          <p:nvPr/>
        </p:nvSpPr>
        <p:spPr>
          <a:xfrm>
            <a:off x="886054" y="2762402"/>
            <a:ext cx="19202" cy="286207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1055218" y="2648102"/>
            <a:ext cx="17675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Spécialisation Sectorielle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1055218" y="2866644"/>
            <a:ext cx="266730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Développement de pôles dédiés : Mines, ONG et Bancaire.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838505" y="3333902"/>
            <a:ext cx="114300" cy="114300"/>
          </a:xfrm>
          <a:prstGeom prst="ellipse">
            <a:avLst/>
          </a:prstGeom>
          <a:solidFill>
            <a:srgbClr val="8B1538"/>
          </a:solidFill>
          <a:ln/>
        </p:spPr>
      </p:sp>
      <p:sp>
        <p:nvSpPr>
          <p:cNvPr id="20" name="Shape 16"/>
          <p:cNvSpPr/>
          <p:nvPr/>
        </p:nvSpPr>
        <p:spPr>
          <a:xfrm>
            <a:off x="886054" y="3448202"/>
            <a:ext cx="19202" cy="286207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1067105" y="3333902"/>
            <a:ext cx="147218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Expansion Régionale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1067105" y="3552444"/>
            <a:ext cx="2857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Implantation de bureaux au Mali et en Côte d'Ivoire.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838505" y="3866998"/>
            <a:ext cx="114300" cy="114300"/>
          </a:xfrm>
          <a:prstGeom prst="ellipse">
            <a:avLst/>
          </a:prstGeom>
          <a:solidFill>
            <a:srgbClr val="8B1538"/>
          </a:solidFill>
          <a:ln/>
        </p:spPr>
      </p:sp>
      <p:sp>
        <p:nvSpPr>
          <p:cNvPr id="24" name="Shape 20"/>
          <p:cNvSpPr/>
          <p:nvPr/>
        </p:nvSpPr>
        <p:spPr>
          <a:xfrm>
            <a:off x="886054" y="3981298"/>
            <a:ext cx="19202" cy="286207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1067105" y="3866998"/>
            <a:ext cx="9957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Digitalisation</a:t>
            </a:r>
            <a:endParaRPr lang="en-US" sz="1000" dirty="0"/>
          </a:p>
        </p:txBody>
      </p:sp>
      <p:sp>
        <p:nvSpPr>
          <p:cNvPr id="26" name="Text 22"/>
          <p:cNvSpPr txBox="1"/>
          <p:nvPr/>
        </p:nvSpPr>
        <p:spPr>
          <a:xfrm>
            <a:off x="1067105" y="4086454"/>
            <a:ext cx="18955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Lancement plateforme E-learning.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4369003" y="1848002"/>
            <a:ext cx="3457346" cy="2628900"/>
          </a:xfrm>
          <a:prstGeom prst="roundRect">
            <a:avLst>
              <a:gd name="adj" fmla="val 15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5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4369003" y="1848002"/>
            <a:ext cx="3457346" cy="38405"/>
          </a:xfrm>
          <a:prstGeom prst="rect">
            <a:avLst/>
          </a:prstGeom>
          <a:solidFill>
            <a:srgbClr val="2C3E50"/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>
            <a:alphaModFix amt="5000"/>
          </a:blip>
          <a:srcRect l="-36" r="-36" t="0" b="0"/>
          <a:stretch/>
        </p:blipFill>
        <p:spPr>
          <a:xfrm>
            <a:off x="6965899" y="1790395"/>
            <a:ext cx="952805" cy="761695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4597603" y="2115007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1F2937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711903" y="2229307"/>
            <a:ext cx="152705" cy="152705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5092294" y="2200046"/>
            <a:ext cx="115763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RISHOM BF</a:t>
            </a:r>
            <a:endParaRPr lang="en-US" sz="1300" dirty="0"/>
          </a:p>
        </p:txBody>
      </p:sp>
      <p:sp>
        <p:nvSpPr>
          <p:cNvPr id="33" name="Shape 27"/>
          <p:cNvSpPr/>
          <p:nvPr/>
        </p:nvSpPr>
        <p:spPr>
          <a:xfrm>
            <a:off x="4597603" y="2648102"/>
            <a:ext cx="114300" cy="114300"/>
          </a:xfrm>
          <a:prstGeom prst="ellipse">
            <a:avLst/>
          </a:prstGeom>
          <a:solidFill>
            <a:srgbClr val="8B1538"/>
          </a:solidFill>
          <a:ln/>
        </p:spPr>
      </p:sp>
      <p:sp>
        <p:nvSpPr>
          <p:cNvPr id="34" name="Shape 28"/>
          <p:cNvSpPr/>
          <p:nvPr/>
        </p:nvSpPr>
        <p:spPr>
          <a:xfrm>
            <a:off x="4645152" y="2762402"/>
            <a:ext cx="19202" cy="286207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5" name="Text 29"/>
          <p:cNvSpPr txBox="1"/>
          <p:nvPr/>
        </p:nvSpPr>
        <p:spPr>
          <a:xfrm>
            <a:off x="4826203" y="2648102"/>
            <a:ext cx="8531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Vision 2030</a:t>
            </a:r>
            <a:endParaRPr lang="en-US" sz="1000" dirty="0"/>
          </a:p>
        </p:txBody>
      </p:sp>
      <p:sp>
        <p:nvSpPr>
          <p:cNvPr id="36" name="Text 30"/>
          <p:cNvSpPr txBox="1"/>
          <p:nvPr/>
        </p:nvSpPr>
        <p:spPr>
          <a:xfrm>
            <a:off x="4826203" y="2866644"/>
            <a:ext cx="22768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Devenir un conglomérat régional intégré.</a:t>
            </a:r>
            <a:endParaRPr lang="en-US" sz="900" dirty="0"/>
          </a:p>
        </p:txBody>
      </p:sp>
      <p:sp>
        <p:nvSpPr>
          <p:cNvPr id="37" name="Shape 31"/>
          <p:cNvSpPr/>
          <p:nvPr/>
        </p:nvSpPr>
        <p:spPr>
          <a:xfrm>
            <a:off x="4597603" y="3181198"/>
            <a:ext cx="114300" cy="114300"/>
          </a:xfrm>
          <a:prstGeom prst="ellipse">
            <a:avLst/>
          </a:prstGeom>
          <a:solidFill>
            <a:srgbClr val="8B1538"/>
          </a:solidFill>
          <a:ln/>
        </p:spPr>
      </p:sp>
      <p:sp>
        <p:nvSpPr>
          <p:cNvPr id="38" name="Shape 32"/>
          <p:cNvSpPr/>
          <p:nvPr/>
        </p:nvSpPr>
        <p:spPr>
          <a:xfrm>
            <a:off x="4645152" y="3295498"/>
            <a:ext cx="19202" cy="286207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9" name="Text 33"/>
          <p:cNvSpPr txBox="1"/>
          <p:nvPr/>
        </p:nvSpPr>
        <p:spPr>
          <a:xfrm>
            <a:off x="4826203" y="3181198"/>
            <a:ext cx="18434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Excellence Opérationnelle</a:t>
            </a:r>
            <a:endParaRPr lang="en-US" sz="1000" dirty="0"/>
          </a:p>
        </p:txBody>
      </p:sp>
      <p:sp>
        <p:nvSpPr>
          <p:cNvPr id="40" name="Text 34"/>
          <p:cNvSpPr txBox="1"/>
          <p:nvPr/>
        </p:nvSpPr>
        <p:spPr>
          <a:xfrm>
            <a:off x="4826203" y="3400654"/>
            <a:ext cx="23436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Digitalisation complète de la Supply Chain.</a:t>
            </a:r>
            <a:endParaRPr lang="en-US" sz="900" dirty="0"/>
          </a:p>
        </p:txBody>
      </p:sp>
      <p:sp>
        <p:nvSpPr>
          <p:cNvPr id="41" name="Shape 35"/>
          <p:cNvSpPr/>
          <p:nvPr/>
        </p:nvSpPr>
        <p:spPr>
          <a:xfrm>
            <a:off x="4597603" y="3715207"/>
            <a:ext cx="114300" cy="114300"/>
          </a:xfrm>
          <a:prstGeom prst="ellipse">
            <a:avLst/>
          </a:prstGeom>
          <a:solidFill>
            <a:srgbClr val="8B1538"/>
          </a:solidFill>
          <a:ln/>
        </p:spPr>
      </p:sp>
      <p:sp>
        <p:nvSpPr>
          <p:cNvPr id="42" name="Shape 36"/>
          <p:cNvSpPr/>
          <p:nvPr/>
        </p:nvSpPr>
        <p:spPr>
          <a:xfrm>
            <a:off x="4645152" y="3829507"/>
            <a:ext cx="19202" cy="286207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3" name="Text 37"/>
          <p:cNvSpPr txBox="1"/>
          <p:nvPr/>
        </p:nvSpPr>
        <p:spPr>
          <a:xfrm>
            <a:off x="4826203" y="3715207"/>
            <a:ext cx="13478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Expansion CEDEAO</a:t>
            </a:r>
            <a:endParaRPr lang="en-US" sz="1000" dirty="0"/>
          </a:p>
        </p:txBody>
      </p:sp>
      <p:sp>
        <p:nvSpPr>
          <p:cNvPr id="44" name="Text 38"/>
          <p:cNvSpPr txBox="1"/>
          <p:nvPr/>
        </p:nvSpPr>
        <p:spPr>
          <a:xfrm>
            <a:off x="4826203" y="3933749"/>
            <a:ext cx="26865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Ouverture de nouveaux marchés ouest-africains.</a:t>
            </a:r>
            <a:endParaRPr lang="en-US" sz="900" dirty="0"/>
          </a:p>
        </p:txBody>
      </p:sp>
      <p:sp>
        <p:nvSpPr>
          <p:cNvPr id="45" name="Shape 39"/>
          <p:cNvSpPr/>
          <p:nvPr/>
        </p:nvSpPr>
        <p:spPr>
          <a:xfrm>
            <a:off x="8128102" y="1848002"/>
            <a:ext cx="3457346" cy="2628900"/>
          </a:xfrm>
          <a:prstGeom prst="roundRect">
            <a:avLst>
              <a:gd name="adj" fmla="val 15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5000"/>
              </a:srgbClr>
            </a:outerShdw>
          </a:effectLst>
        </p:spPr>
      </p:sp>
      <p:sp>
        <p:nvSpPr>
          <p:cNvPr id="46" name="Shape 40"/>
          <p:cNvSpPr/>
          <p:nvPr/>
        </p:nvSpPr>
        <p:spPr>
          <a:xfrm>
            <a:off x="8128102" y="1848002"/>
            <a:ext cx="3457346" cy="38405"/>
          </a:xfrm>
          <a:prstGeom prst="rect">
            <a:avLst/>
          </a:prstGeom>
          <a:solidFill>
            <a:srgbClr val="E67E22"/>
          </a:solidFill>
          <a:ln/>
        </p:spPr>
      </p:sp>
      <p:pic>
        <p:nvPicPr>
          <p:cNvPr id="47" name="Image 4" descr="preencoded.png">    </p:cNvPr>
          <p:cNvPicPr>
            <a:picLocks noChangeAspect="1"/>
          </p:cNvPicPr>
          <p:nvPr/>
        </p:nvPicPr>
        <p:blipFill>
          <a:blip r:embed="rId5">
            <a:alphaModFix amt="5000"/>
          </a:blip>
          <a:srcRect l="-20" r="-20" t="0" b="0"/>
          <a:stretch/>
        </p:blipFill>
        <p:spPr>
          <a:xfrm>
            <a:off x="11106302" y="1790395"/>
            <a:ext cx="571500" cy="761695"/>
          </a:xfrm>
          <a:prstGeom prst="rect">
            <a:avLst/>
          </a:prstGeom>
        </p:spPr>
      </p:pic>
      <p:sp>
        <p:nvSpPr>
          <p:cNvPr id="48" name="Shape 41"/>
          <p:cNvSpPr/>
          <p:nvPr/>
        </p:nvSpPr>
        <p:spPr>
          <a:xfrm>
            <a:off x="8356702" y="2115007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D97706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49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471002" y="2229307"/>
            <a:ext cx="152705" cy="152705"/>
          </a:xfrm>
          <a:prstGeom prst="rect">
            <a:avLst/>
          </a:prstGeom>
        </p:spPr>
      </p:pic>
      <p:sp>
        <p:nvSpPr>
          <p:cNvPr id="50" name="Text 42"/>
          <p:cNvSpPr txBox="1"/>
          <p:nvPr/>
        </p:nvSpPr>
        <p:spPr>
          <a:xfrm>
            <a:off x="8852306" y="2200046"/>
            <a:ext cx="168158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Groupe (Holding)</a:t>
            </a:r>
            <a:endParaRPr lang="en-US" sz="1300" dirty="0"/>
          </a:p>
        </p:txBody>
      </p:sp>
      <p:sp>
        <p:nvSpPr>
          <p:cNvPr id="51" name="Shape 43"/>
          <p:cNvSpPr/>
          <p:nvPr/>
        </p:nvSpPr>
        <p:spPr>
          <a:xfrm>
            <a:off x="8356702" y="2648102"/>
            <a:ext cx="114300" cy="114300"/>
          </a:xfrm>
          <a:prstGeom prst="ellipse">
            <a:avLst/>
          </a:prstGeom>
          <a:solidFill>
            <a:srgbClr val="8B1538"/>
          </a:solidFill>
          <a:ln/>
        </p:spPr>
      </p:sp>
      <p:sp>
        <p:nvSpPr>
          <p:cNvPr id="52" name="Shape 44"/>
          <p:cNvSpPr/>
          <p:nvPr/>
        </p:nvSpPr>
        <p:spPr>
          <a:xfrm>
            <a:off x="8404250" y="2762402"/>
            <a:ext cx="19202" cy="286207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3" name="Text 45"/>
          <p:cNvSpPr txBox="1"/>
          <p:nvPr/>
        </p:nvSpPr>
        <p:spPr>
          <a:xfrm>
            <a:off x="8585302" y="2648102"/>
            <a:ext cx="170078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Gouvernance Renforcée</a:t>
            </a:r>
            <a:endParaRPr lang="en-US" sz="1000" dirty="0"/>
          </a:p>
        </p:txBody>
      </p:sp>
      <p:sp>
        <p:nvSpPr>
          <p:cNvPr id="54" name="Text 46"/>
          <p:cNvSpPr txBox="1"/>
          <p:nvPr/>
        </p:nvSpPr>
        <p:spPr>
          <a:xfrm>
            <a:off x="8585302" y="2866644"/>
            <a:ext cx="27148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Pilotage centralisé et mutualisation des supports.</a:t>
            </a:r>
            <a:endParaRPr lang="en-US" sz="900" dirty="0"/>
          </a:p>
        </p:txBody>
      </p:sp>
      <p:sp>
        <p:nvSpPr>
          <p:cNvPr id="55" name="Shape 47"/>
          <p:cNvSpPr/>
          <p:nvPr/>
        </p:nvSpPr>
        <p:spPr>
          <a:xfrm>
            <a:off x="8356702" y="3181198"/>
            <a:ext cx="105156" cy="114300"/>
          </a:xfrm>
          <a:prstGeom prst="ellipse">
            <a:avLst/>
          </a:prstGeom>
          <a:solidFill>
            <a:srgbClr val="8B1538"/>
          </a:solidFill>
          <a:ln/>
        </p:spPr>
      </p:sp>
      <p:sp>
        <p:nvSpPr>
          <p:cNvPr id="56" name="Shape 48"/>
          <p:cNvSpPr/>
          <p:nvPr/>
        </p:nvSpPr>
        <p:spPr>
          <a:xfrm>
            <a:off x="8404250" y="3295498"/>
            <a:ext cx="19202" cy="286207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7" name="Text 49"/>
          <p:cNvSpPr txBox="1"/>
          <p:nvPr/>
        </p:nvSpPr>
        <p:spPr>
          <a:xfrm>
            <a:off x="8575243" y="3181198"/>
            <a:ext cx="72877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&amp; BI</a:t>
            </a:r>
            <a:endParaRPr lang="en-US" sz="1000" dirty="0"/>
          </a:p>
        </p:txBody>
      </p:sp>
      <p:sp>
        <p:nvSpPr>
          <p:cNvPr id="58" name="Text 50"/>
          <p:cNvSpPr txBox="1"/>
          <p:nvPr/>
        </p:nvSpPr>
        <p:spPr>
          <a:xfrm>
            <a:off x="8575243" y="3400654"/>
            <a:ext cx="236281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Aide à la décision par l'analyse de données transversales.</a:t>
            </a:r>
            <a:endParaRPr lang="en-US" sz="900" dirty="0"/>
          </a:p>
        </p:txBody>
      </p:sp>
      <p:sp>
        <p:nvSpPr>
          <p:cNvPr id="59" name="Shape 51"/>
          <p:cNvSpPr/>
          <p:nvPr/>
        </p:nvSpPr>
        <p:spPr>
          <a:xfrm>
            <a:off x="8356702" y="3866998"/>
            <a:ext cx="114300" cy="114300"/>
          </a:xfrm>
          <a:prstGeom prst="ellipse">
            <a:avLst/>
          </a:prstGeom>
          <a:solidFill>
            <a:srgbClr val="8B1538"/>
          </a:solidFill>
          <a:ln/>
        </p:spPr>
      </p:sp>
      <p:sp>
        <p:nvSpPr>
          <p:cNvPr id="60" name="Shape 52"/>
          <p:cNvSpPr/>
          <p:nvPr/>
        </p:nvSpPr>
        <p:spPr>
          <a:xfrm>
            <a:off x="8404250" y="3981298"/>
            <a:ext cx="19202" cy="286207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1" name="Text 53"/>
          <p:cNvSpPr txBox="1"/>
          <p:nvPr/>
        </p:nvSpPr>
        <p:spPr>
          <a:xfrm>
            <a:off x="8585302" y="3866998"/>
            <a:ext cx="9765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RSE &amp; Impact</a:t>
            </a:r>
            <a:endParaRPr lang="en-US" sz="1000" dirty="0"/>
          </a:p>
        </p:txBody>
      </p:sp>
      <p:sp>
        <p:nvSpPr>
          <p:cNvPr id="62" name="Text 54"/>
          <p:cNvSpPr txBox="1"/>
          <p:nvPr/>
        </p:nvSpPr>
        <p:spPr>
          <a:xfrm>
            <a:off x="8585302" y="4086454"/>
            <a:ext cx="24771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Projets durables et engagement sociétal fort.</a:t>
            </a:r>
            <a:endParaRPr lang="en-US" sz="900" dirty="0"/>
          </a:p>
        </p:txBody>
      </p:sp>
      <p:sp>
        <p:nvSpPr>
          <p:cNvPr id="63" name="Shape 55"/>
          <p:cNvSpPr/>
          <p:nvPr/>
        </p:nvSpPr>
        <p:spPr>
          <a:xfrm>
            <a:off x="574243" y="4642409"/>
            <a:ext cx="10972800" cy="2324405"/>
          </a:xfrm>
          <a:prstGeom prst="roundRect">
            <a:avLst>
              <a:gd name="adj" fmla="val 2580"/>
            </a:avLst>
          </a:prstGeom>
          <a:solidFill>
            <a:srgbClr val="2C3E50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64" name="Shape 56"/>
          <p:cNvSpPr/>
          <p:nvPr/>
        </p:nvSpPr>
        <p:spPr>
          <a:xfrm>
            <a:off x="8689543" y="4642409"/>
            <a:ext cx="2857500" cy="2324405"/>
          </a:xfrm>
          <a:prstGeom prst="rect">
            <a:avLst/>
          </a:prstGeom>
          <a:solidFill>
            <a:srgbClr val="8B1538">
              <a:alpha val="90000"/>
            </a:srgbClr>
          </a:solidFill>
          <a:ln/>
        </p:spPr>
      </p:sp>
      <p:pic>
        <p:nvPicPr>
          <p:cNvPr id="65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45" b="-45"/>
          <a:stretch/>
        </p:blipFill>
        <p:spPr>
          <a:xfrm>
            <a:off x="879653" y="4985309"/>
            <a:ext cx="256946" cy="228600"/>
          </a:xfrm>
          <a:prstGeom prst="rect">
            <a:avLst/>
          </a:prstGeom>
        </p:spPr>
      </p:pic>
      <p:sp>
        <p:nvSpPr>
          <p:cNvPr id="66" name="Text 57"/>
          <p:cNvSpPr txBox="1"/>
          <p:nvPr/>
        </p:nvSpPr>
        <p:spPr>
          <a:xfrm>
            <a:off x="1250899" y="4946904"/>
            <a:ext cx="3238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Contacts Groupe RISHOM</a:t>
            </a:r>
            <a:endParaRPr lang="en-US" sz="1800" dirty="0"/>
          </a:p>
        </p:txBody>
      </p:sp>
      <p:sp>
        <p:nvSpPr>
          <p:cNvPr id="67" name="Shape 58"/>
          <p:cNvSpPr/>
          <p:nvPr/>
        </p:nvSpPr>
        <p:spPr>
          <a:xfrm>
            <a:off x="879653" y="5595214"/>
            <a:ext cx="352044" cy="3429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pic>
        <p:nvPicPr>
          <p:cNvPr id="68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974750" y="5690311"/>
            <a:ext cx="152705" cy="152705"/>
          </a:xfrm>
          <a:prstGeom prst="rect">
            <a:avLst/>
          </a:prstGeom>
        </p:spPr>
      </p:pic>
      <p:sp>
        <p:nvSpPr>
          <p:cNvPr id="69" name="Shape 59"/>
          <p:cNvSpPr/>
          <p:nvPr/>
        </p:nvSpPr>
        <p:spPr>
          <a:xfrm>
            <a:off x="879653" y="6185002"/>
            <a:ext cx="352044" cy="3429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pic>
        <p:nvPicPr>
          <p:cNvPr id="70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974750" y="6281014"/>
            <a:ext cx="152705" cy="152705"/>
          </a:xfrm>
          <a:prstGeom prst="rect">
            <a:avLst/>
          </a:prstGeom>
        </p:spPr>
      </p:pic>
      <p:sp>
        <p:nvSpPr>
          <p:cNvPr id="71" name="Shape 60"/>
          <p:cNvSpPr/>
          <p:nvPr/>
        </p:nvSpPr>
        <p:spPr>
          <a:xfrm>
            <a:off x="4333342" y="5499202"/>
            <a:ext cx="342900" cy="3429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pic>
        <p:nvPicPr>
          <p:cNvPr id="72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4429354" y="5595214"/>
            <a:ext cx="152705" cy="152705"/>
          </a:xfrm>
          <a:prstGeom prst="rect">
            <a:avLst/>
          </a:prstGeom>
        </p:spPr>
      </p:pic>
      <p:sp>
        <p:nvSpPr>
          <p:cNvPr id="73" name="Shape 61"/>
          <p:cNvSpPr/>
          <p:nvPr/>
        </p:nvSpPr>
        <p:spPr>
          <a:xfrm>
            <a:off x="4333342" y="5994806"/>
            <a:ext cx="342900" cy="3429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pic>
        <p:nvPicPr>
          <p:cNvPr id="74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-180" b="-180"/>
          <a:stretch/>
        </p:blipFill>
        <p:spPr>
          <a:xfrm>
            <a:off x="4457700" y="6089904"/>
            <a:ext cx="95098" cy="152705"/>
          </a:xfrm>
          <a:prstGeom prst="rect">
            <a:avLst/>
          </a:prstGeom>
        </p:spPr>
      </p:pic>
      <p:sp>
        <p:nvSpPr>
          <p:cNvPr id="75" name="Text 62"/>
          <p:cNvSpPr txBox="1"/>
          <p:nvPr/>
        </p:nvSpPr>
        <p:spPr>
          <a:xfrm>
            <a:off x="1365199" y="5470855"/>
            <a:ext cx="9244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BURKINA FASO</a:t>
            </a:r>
            <a:endParaRPr lang="en-US" sz="900" dirty="0"/>
          </a:p>
        </p:txBody>
      </p:sp>
      <p:sp>
        <p:nvSpPr>
          <p:cNvPr id="76" name="Text 63"/>
          <p:cNvSpPr txBox="1"/>
          <p:nvPr/>
        </p:nvSpPr>
        <p:spPr>
          <a:xfrm>
            <a:off x="1365199" y="5671109"/>
            <a:ext cx="11576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+226 70 77 00 81</a:t>
            </a:r>
            <a:endParaRPr lang="en-US" sz="1000" dirty="0"/>
          </a:p>
        </p:txBody>
      </p:sp>
      <p:sp>
        <p:nvSpPr>
          <p:cNvPr id="77" name="Text 64"/>
          <p:cNvSpPr txBox="1"/>
          <p:nvPr/>
        </p:nvSpPr>
        <p:spPr>
          <a:xfrm>
            <a:off x="1365199" y="6156655"/>
            <a:ext cx="13341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INTERNATIONAL (USA)</a:t>
            </a:r>
            <a:endParaRPr lang="en-US" sz="900" dirty="0"/>
          </a:p>
        </p:txBody>
      </p:sp>
      <p:sp>
        <p:nvSpPr>
          <p:cNvPr id="78" name="Text 65"/>
          <p:cNvSpPr txBox="1"/>
          <p:nvPr/>
        </p:nvSpPr>
        <p:spPr>
          <a:xfrm>
            <a:off x="1365199" y="6356909"/>
            <a:ext cx="12243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+1 (205) 383-2115</a:t>
            </a:r>
            <a:endParaRPr lang="en-US" sz="1000" dirty="0"/>
          </a:p>
        </p:txBody>
      </p:sp>
      <p:sp>
        <p:nvSpPr>
          <p:cNvPr id="79" name="Text 66"/>
          <p:cNvSpPr txBox="1"/>
          <p:nvPr/>
        </p:nvSpPr>
        <p:spPr>
          <a:xfrm>
            <a:off x="4819802" y="5470855"/>
            <a:ext cx="4389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EMAIL</a:t>
            </a:r>
            <a:endParaRPr lang="en-US" sz="900" dirty="0"/>
          </a:p>
        </p:txBody>
      </p:sp>
      <p:sp>
        <p:nvSpPr>
          <p:cNvPr id="80" name="Text 67"/>
          <p:cNvSpPr txBox="1"/>
          <p:nvPr/>
        </p:nvSpPr>
        <p:spPr>
          <a:xfrm>
            <a:off x="4819802" y="5671109"/>
            <a:ext cx="16623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rishombf@outlook.com</a:t>
            </a:r>
            <a:endParaRPr lang="en-US" sz="1000" dirty="0"/>
          </a:p>
        </p:txBody>
      </p:sp>
      <p:sp>
        <p:nvSpPr>
          <p:cNvPr id="81" name="Text 68"/>
          <p:cNvSpPr txBox="1"/>
          <p:nvPr/>
        </p:nvSpPr>
        <p:spPr>
          <a:xfrm>
            <a:off x="4819802" y="5966460"/>
            <a:ext cx="6099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SITE WEB</a:t>
            </a:r>
            <a:endParaRPr lang="en-US" sz="900" dirty="0"/>
          </a:p>
        </p:txBody>
      </p:sp>
      <p:sp>
        <p:nvSpPr>
          <p:cNvPr id="82" name="Text 69"/>
          <p:cNvSpPr txBox="1"/>
          <p:nvPr/>
        </p:nvSpPr>
        <p:spPr>
          <a:xfrm>
            <a:off x="4819802" y="6166714"/>
            <a:ext cx="17099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www.rishom-group.com</a:t>
            </a:r>
            <a:endParaRPr lang="en-US" sz="1000" dirty="0"/>
          </a:p>
        </p:txBody>
      </p:sp>
      <p:sp>
        <p:nvSpPr>
          <p:cNvPr id="83" name="Text 70"/>
          <p:cNvSpPr txBox="1"/>
          <p:nvPr/>
        </p:nvSpPr>
        <p:spPr>
          <a:xfrm>
            <a:off x="1365199" y="5861304"/>
            <a:ext cx="16532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58 04 87 87 / 54 04 87 87</a:t>
            </a:r>
            <a:endParaRPr lang="en-US" sz="1000" dirty="0"/>
          </a:p>
        </p:txBody>
      </p:sp>
      <p:sp>
        <p:nvSpPr>
          <p:cNvPr id="84" name="Shape 71"/>
          <p:cNvSpPr/>
          <p:nvPr/>
        </p:nvSpPr>
        <p:spPr>
          <a:xfrm>
            <a:off x="7787945" y="4946904"/>
            <a:ext cx="9144" cy="171450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85" name="Text 72"/>
          <p:cNvSpPr txBox="1"/>
          <p:nvPr/>
        </p:nvSpPr>
        <p:spPr>
          <a:xfrm>
            <a:off x="8676742" y="5309006"/>
            <a:ext cx="27011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Begniamonne Christian BAMA</a:t>
            </a:r>
            <a:endParaRPr lang="en-US" sz="1300" dirty="0"/>
          </a:p>
        </p:txBody>
      </p:sp>
      <p:sp>
        <p:nvSpPr>
          <p:cNvPr id="86" name="Text 73"/>
          <p:cNvSpPr txBox="1"/>
          <p:nvPr/>
        </p:nvSpPr>
        <p:spPr>
          <a:xfrm>
            <a:off x="10220249" y="5699455"/>
            <a:ext cx="11146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IFU N° : 00135095R</a:t>
            </a:r>
            <a:endParaRPr lang="en-US" sz="900" dirty="0"/>
          </a:p>
        </p:txBody>
      </p:sp>
      <p:sp>
        <p:nvSpPr>
          <p:cNvPr id="87" name="Text 74"/>
          <p:cNvSpPr txBox="1"/>
          <p:nvPr/>
        </p:nvSpPr>
        <p:spPr>
          <a:xfrm>
            <a:off x="9578340" y="5890565"/>
            <a:ext cx="17529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RCCM N° : BF OUA 2020 B 3012</a:t>
            </a:r>
            <a:endParaRPr lang="en-US" sz="900" dirty="0"/>
          </a:p>
        </p:txBody>
      </p:sp>
      <p:sp>
        <p:nvSpPr>
          <p:cNvPr id="88" name="Text 75"/>
          <p:cNvSpPr txBox="1"/>
          <p:nvPr/>
        </p:nvSpPr>
        <p:spPr>
          <a:xfrm>
            <a:off x="10120579" y="5090465"/>
            <a:ext cx="12097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GÉRANT DU GROUPE</a:t>
            </a:r>
            <a:endParaRPr lang="en-US" sz="900" dirty="0"/>
          </a:p>
        </p:txBody>
      </p:sp>
      <p:sp>
        <p:nvSpPr>
          <p:cNvPr id="89" name="Text 76"/>
          <p:cNvSpPr txBox="1"/>
          <p:nvPr/>
        </p:nvSpPr>
        <p:spPr>
          <a:xfrm>
            <a:off x="9144000" y="6290158"/>
            <a:ext cx="22201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© 2025 GROUPE RISHOM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2025-12-10T23:55:59Z</dcterms:created>
  <dcterms:modified xsi:type="dcterms:W3CDTF">2025-12-10T23:55:59Z</dcterms:modified>
</cp:coreProperties>
</file>